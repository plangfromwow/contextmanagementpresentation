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7" r:id="rId11"/>
    <p:sldId id="268" r:id="rId12"/>
    <p:sldId id="269" r:id="rId13"/>
    <p:sldId id="265" r:id="rId14"/>
    <p:sldId id="266"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9" d="100"/>
          <a:sy n="169" d="100"/>
        </p:scale>
        <p:origin x="192"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8689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we're going to talk about Context Engineering for AI coding agents, and specifically how we can apply these techniques to get real, production-quality results in our microservice codebase.
This presentation is based on the work of Dex Horthy, founder of HumanLayer, who wrote the Advanced Context Engineering guide that has become one of the most influential resources in this space.
The key insight we'll explore is that AI coding tools aren't failing because the models are too dumb. They're failing because we're not managing context properly. With the right workflow, teams have shipped 35,000 lines of code in 7 hours on 300k LOC Rust codebases.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problem. A Stanford study of nearly 100,000 developers across 600+ companies found that AI coding tools create a productivity paradox. Initial output increases by 30-40%, but rework and bug fixes reduce net gains to just 15-20%.
The key finding: in high-complexity brownfield codebases, like ours, AI can actually decrease productivity. The median improvement drops to just 0-10%, and a material share of teams see a net negative impact.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fundamental insight: LLMs are stateless functions. They have no memory between calls. The context window is literally the only lever you have to affect output quality.
Horthy introduces the concept of the 'dumb zone.' Once you exceed about 40% context utilization, you start seeing diminishing returns. Context Engineering is about optimizing four dimensions: Correctness, Completeness, Size, and Trajectory.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how most of us started with AI coding tools. You start a conversation, ask the AI to make a change, and before you know it, the context window is full of glob, grep, and read output with almost no room left for actual problem-solving.
The second approach is better but still reactive. You're fixing mistakes after they happen instead of building a workflow that prevents them.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breakthrough concept: Frequent Intentional Compaction, or FIC. Instead of letting context accumulate until it overflows, you deliberately pause and distill your work into structured artifacts before the context fills up.
The target is to keep context utilization in the 40-60% range. This ensures the model always has enough room to reason effectively.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framework. The entire development workflow is designed around context management using three distinct phases.
Phase 1, Research: Use subagents to explore the codebase, find relevant files, understand data flow. Output is a structured research document.
Phase 2, Plan: Working from the research artifact, outline exact implementation steps with specific filenames, line numbers, and testing procedures.
Phase 3, Implement: Step through the plan phase by phase. After each phase is verified, compact status back into the plan file.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Sub-agents are a critical technical mechanism for context pollution prevention. The fundamental problem: operations like codebase search can generate 5,000+ lines of output. Sub-agents solve this by executing in isolated context windows and returning only distilled results, typically 50-200 lines.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important concepts. The earlier you catch a mistake, the more leverage your review has. A bad line of code is just a bad line. But a bad line in a plan leads to hundreds of bad lines, and a bad line of research leads to thousands of lines of wasted effort. The visual here shows the 'blast radius' of each type of error — research errors ripple outward massively, while code errors stay contained.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bring this home to our specific situation. We run a microservice architecture, and that creates unique challenges that make context engineering even more critical. Cross-service context, shared contracts, complex data flows, and team alignment all benefit from the structured research-plan-implement workflow.</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from real teams. 35,000 lines of code shipped in 7 hours on a 300k LOC Rust codebase. 6 PRs per day as sustained output. And perhaps most impressive: 10 PRs in 8 days by an intern in their first week.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upfront: this is not a magic solution. It requires real engagement and expertise. You must engage deeply. Research can be wrong. You need at least one domain expert. But it works in brownfield codebases and produces merge-worthy code.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three concrete steps we can take. Step 1: Add instruction files to our key repos. Step 2: Create specialized subagents for our architecture. Step 3: Pick the next complex ticket and run it through the full Research, Plan, Implement cycle as a pilot.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Copilot CLI can be installed via npm and works directly in your terminal. The key commands are /model, /init, and @file. The instruction file hierarchy means we can set global conventions at the org level, project-specific context at the repo level, and personal preferences in the home directory.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.github folder is where all the magic lives. Think of it as your AI configuration directory. The agents/ folder contains subagent definitions, commands/ defines slash commands, prompts/ holds reusable templates, and skills/ extends capabilities.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55DD"/>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731520" y="1097280"/>
            <a:ext cx="640080" cy="640080"/>
          </a:xfrm>
          <a:prstGeom prst="rect">
            <a:avLst/>
          </a:prstGeom>
        </p:spPr>
      </p:pic>
      <p:sp>
        <p:nvSpPr>
          <p:cNvPr id="4" name="Text 1"/>
          <p:cNvSpPr/>
          <p:nvPr/>
        </p:nvSpPr>
        <p:spPr>
          <a:xfrm>
            <a:off x="731520" y="1828800"/>
            <a:ext cx="7680960" cy="91440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Context Engineering</a:t>
            </a:r>
            <a:endParaRPr lang="en-US" sz="4400" dirty="0"/>
          </a:p>
        </p:txBody>
      </p:sp>
      <p:sp>
        <p:nvSpPr>
          <p:cNvPr id="5" name="Text 2"/>
          <p:cNvSpPr/>
          <p:nvPr/>
        </p:nvSpPr>
        <p:spPr>
          <a:xfrm>
            <a:off x="731520" y="2651760"/>
            <a:ext cx="7680960" cy="548640"/>
          </a:xfrm>
          <a:prstGeom prst="rect">
            <a:avLst/>
          </a:prstGeom>
          <a:noFill/>
          <a:ln/>
        </p:spPr>
        <p:txBody>
          <a:bodyPr wrap="square" lIns="0" tIns="0" rIns="0" bIns="0" rtlCol="0" anchor="ctr"/>
          <a:lstStyle/>
          <a:p>
            <a:pPr marL="0" indent="0">
              <a:buNone/>
            </a:pPr>
            <a:r>
              <a:rPr lang="en-US" sz="2600" dirty="0">
                <a:solidFill>
                  <a:srgbClr val="00BBDD"/>
                </a:solidFill>
                <a:latin typeface="Calibri" pitchFamily="34" charset="0"/>
                <a:ea typeface="Calibri" pitchFamily="34" charset="-122"/>
                <a:cs typeface="Calibri" pitchFamily="34" charset="-120"/>
              </a:rPr>
              <a:t>for AI Coding Agents</a:t>
            </a:r>
            <a:endParaRPr lang="en-US" sz="2600" dirty="0"/>
          </a:p>
        </p:txBody>
      </p:sp>
      <p:sp>
        <p:nvSpPr>
          <p:cNvPr id="6" name="Text 3"/>
          <p:cNvSpPr/>
          <p:nvPr/>
        </p:nvSpPr>
        <p:spPr>
          <a:xfrm>
            <a:off x="731520" y="3383280"/>
            <a:ext cx="5486400" cy="457200"/>
          </a:xfrm>
          <a:prstGeom prst="rect">
            <a:avLst/>
          </a:prstGeom>
          <a:noFill/>
          <a:ln/>
        </p:spPr>
        <p:txBody>
          <a:bodyPr wrap="square" lIns="0" tIns="0" rIns="0" bIns="0" rtlCol="0" anchor="ctr"/>
          <a:lstStyle/>
          <a:p>
            <a:pPr marL="0" indent="0">
              <a:buNone/>
            </a:pPr>
            <a:r>
              <a:rPr lang="en-US" sz="1400" dirty="0">
                <a:solidFill>
                  <a:srgbClr val="C8D6E5"/>
                </a:solidFill>
                <a:latin typeface="Calibri" pitchFamily="34" charset="0"/>
                <a:ea typeface="Calibri" pitchFamily="34" charset="-122"/>
                <a:cs typeface="Calibri" pitchFamily="34" charset="-120"/>
              </a:rPr>
              <a:t>Getting AI to Deliver Real Results in Our Microservice Codebase</a:t>
            </a:r>
            <a:endParaRPr lang="en-US" sz="1400" dirty="0"/>
          </a:p>
        </p:txBody>
      </p:sp>
      <p:sp>
        <p:nvSpPr>
          <p:cNvPr id="7" name="Text 4"/>
          <p:cNvSpPr/>
          <p:nvPr/>
        </p:nvSpPr>
        <p:spPr>
          <a:xfrm>
            <a:off x="731520" y="4206240"/>
            <a:ext cx="2743200" cy="365760"/>
          </a:xfrm>
          <a:prstGeom prst="rect">
            <a:avLst/>
          </a:prstGeom>
          <a:noFill/>
          <a:ln/>
        </p:spPr>
        <p:txBody>
          <a:bodyPr wrap="square" lIns="0" tIns="0" rIns="0" bIns="0" rtlCol="0" anchor="ctr"/>
          <a:lstStyle/>
          <a:p>
            <a:pPr marL="0" indent="0">
              <a:buNone/>
            </a:pPr>
            <a:r>
              <a:rPr lang="en-US" sz="1200" dirty="0">
                <a:solidFill>
                  <a:srgbClr val="6B7C93"/>
                </a:solidFill>
                <a:latin typeface="Calibri" pitchFamily="34" charset="0"/>
                <a:ea typeface="Calibri" pitchFamily="34" charset="-122"/>
                <a:cs typeface="Calibri" pitchFamily="34" charset="-120"/>
              </a:rPr>
              <a:t>February 2026</a:t>
            </a:r>
            <a:endParaRPr lang="en-US" sz="1200" dirty="0"/>
          </a:p>
        </p:txBody>
      </p:sp>
      <p:sp>
        <p:nvSpPr>
          <p:cNvPr id="8" name="Shape 5"/>
          <p:cNvSpPr/>
          <p:nvPr/>
        </p:nvSpPr>
        <p:spPr>
          <a:xfrm>
            <a:off x="731520" y="3977640"/>
            <a:ext cx="1097280" cy="36576"/>
          </a:xfrm>
          <a:prstGeom prst="rect">
            <a:avLst/>
          </a:prstGeom>
          <a:solidFill>
            <a:srgbClr val="00BBDD"/>
          </a:solidFill>
          <a:ln/>
        </p:spPr>
        <p:txBody>
          <a:bodyPr/>
          <a:lstStyle/>
          <a:p>
            <a:endParaRPr lang="en-US"/>
          </a:p>
        </p:txBody>
      </p:sp>
      <p:sp>
        <p:nvSpPr>
          <p:cNvPr id="9" name="Text 6"/>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8899AA"/>
                </a:solidFill>
                <a:latin typeface="Calibri" pitchFamily="34" charset="0"/>
                <a:ea typeface="Calibri" pitchFamily="34" charset="-122"/>
                <a:cs typeface="Calibri" pitchFamily="34" charset="-120"/>
              </a:rPr>
              <a:t>1 / 14</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55DD"/>
          </a:solidFill>
          <a:ln/>
        </p:spPr>
        <p:txBody>
          <a:bodyPr/>
          <a:lstStyle/>
          <a:p>
            <a:endParaRPr lang="en-US"/>
          </a:p>
        </p:txBody>
      </p:sp>
      <p:sp>
        <p:nvSpPr>
          <p:cNvPr id="3" name="Text 1"/>
          <p:cNvSpPr/>
          <p:nvPr/>
        </p:nvSpPr>
        <p:spPr>
          <a:xfrm>
            <a:off x="731520" y="365760"/>
            <a:ext cx="7680960" cy="548640"/>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The Problem: AI in Complex Codebases</a:t>
            </a:r>
            <a:endParaRPr lang="en-US" sz="2800" dirty="0"/>
          </a:p>
        </p:txBody>
      </p:sp>
      <p:sp>
        <p:nvSpPr>
          <p:cNvPr id="4" name="Text 2"/>
          <p:cNvSpPr/>
          <p:nvPr/>
        </p:nvSpPr>
        <p:spPr>
          <a:xfrm>
            <a:off x="731520" y="1097280"/>
            <a:ext cx="3657600" cy="365760"/>
          </a:xfrm>
          <a:prstGeom prst="rect">
            <a:avLst/>
          </a:prstGeom>
          <a:noFill/>
          <a:ln/>
        </p:spPr>
        <p:txBody>
          <a:bodyPr wrap="square" lIns="0" tIns="0" rIns="0" bIns="0" rtlCol="0" anchor="ctr"/>
          <a:lstStyle/>
          <a:p>
            <a:pPr marL="0" indent="0">
              <a:buNone/>
            </a:pPr>
            <a:r>
              <a:rPr lang="en-US" sz="1600" b="1" dirty="0">
                <a:solidFill>
                  <a:srgbClr val="0055DD"/>
                </a:solidFill>
                <a:latin typeface="Calibri" pitchFamily="34" charset="0"/>
                <a:ea typeface="Calibri" pitchFamily="34" charset="-122"/>
                <a:cs typeface="Calibri" pitchFamily="34" charset="-120"/>
              </a:rPr>
              <a:t>Stanford Study Findings</a:t>
            </a:r>
            <a:endParaRPr lang="en-US" sz="1600" dirty="0"/>
          </a:p>
        </p:txBody>
      </p:sp>
      <p:sp>
        <p:nvSpPr>
          <p:cNvPr id="5" name="Shape 3"/>
          <p:cNvSpPr/>
          <p:nvPr/>
        </p:nvSpPr>
        <p:spPr>
          <a:xfrm>
            <a:off x="731520" y="1600200"/>
            <a:ext cx="3657600" cy="68580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6" name="Shape 4"/>
          <p:cNvSpPr/>
          <p:nvPr/>
        </p:nvSpPr>
        <p:spPr>
          <a:xfrm>
            <a:off x="731520" y="1600200"/>
            <a:ext cx="54864" cy="685800"/>
          </a:xfrm>
          <a:prstGeom prst="rect">
            <a:avLst/>
          </a:prstGeom>
          <a:solidFill>
            <a:srgbClr val="0055DD"/>
          </a:solidFill>
          <a:ln/>
        </p:spPr>
        <p:txBody>
          <a:bodyPr/>
          <a:lstStyle/>
          <a:p>
            <a:endParaRPr lang="en-US"/>
          </a:p>
        </p:txBody>
      </p:sp>
      <p:sp>
        <p:nvSpPr>
          <p:cNvPr id="7" name="Text 5"/>
          <p:cNvSpPr/>
          <p:nvPr/>
        </p:nvSpPr>
        <p:spPr>
          <a:xfrm>
            <a:off x="1005840" y="1600200"/>
            <a:ext cx="3200400" cy="68580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AI-generated code often results in rework — diminishing perceived productivity gains</a:t>
            </a:r>
            <a:endParaRPr lang="en-US" sz="1100" dirty="0"/>
          </a:p>
        </p:txBody>
      </p:sp>
      <p:sp>
        <p:nvSpPr>
          <p:cNvPr id="8" name="Shape 6"/>
          <p:cNvSpPr/>
          <p:nvPr/>
        </p:nvSpPr>
        <p:spPr>
          <a:xfrm>
            <a:off x="731520" y="2468880"/>
            <a:ext cx="3657600" cy="68580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9" name="Shape 7"/>
          <p:cNvSpPr/>
          <p:nvPr/>
        </p:nvSpPr>
        <p:spPr>
          <a:xfrm>
            <a:off x="731520" y="2468880"/>
            <a:ext cx="54864" cy="685800"/>
          </a:xfrm>
          <a:prstGeom prst="rect">
            <a:avLst/>
          </a:prstGeom>
          <a:solidFill>
            <a:srgbClr val="0055DD"/>
          </a:solidFill>
          <a:ln/>
        </p:spPr>
        <p:txBody>
          <a:bodyPr/>
          <a:lstStyle/>
          <a:p>
            <a:endParaRPr lang="en-US"/>
          </a:p>
        </p:txBody>
      </p:sp>
      <p:sp>
        <p:nvSpPr>
          <p:cNvPr id="10" name="Text 8"/>
          <p:cNvSpPr/>
          <p:nvPr/>
        </p:nvSpPr>
        <p:spPr>
          <a:xfrm>
            <a:off x="1005840" y="2468880"/>
            <a:ext cx="3200400" cy="68580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AI tools are counter-productive in large established codebases and complex tasks</a:t>
            </a:r>
            <a:endParaRPr lang="en-US" sz="1100" dirty="0"/>
          </a:p>
        </p:txBody>
      </p:sp>
      <p:sp>
        <p:nvSpPr>
          <p:cNvPr id="11" name="Shape 9"/>
          <p:cNvSpPr/>
          <p:nvPr/>
        </p:nvSpPr>
        <p:spPr>
          <a:xfrm>
            <a:off x="731520" y="3337560"/>
            <a:ext cx="3657600" cy="68580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12" name="Shape 10"/>
          <p:cNvSpPr/>
          <p:nvPr/>
        </p:nvSpPr>
        <p:spPr>
          <a:xfrm>
            <a:off x="731520" y="3337560"/>
            <a:ext cx="54864" cy="685800"/>
          </a:xfrm>
          <a:prstGeom prst="rect">
            <a:avLst/>
          </a:prstGeom>
          <a:solidFill>
            <a:srgbClr val="0055DD"/>
          </a:solidFill>
          <a:ln/>
        </p:spPr>
        <p:txBody>
          <a:bodyPr/>
          <a:lstStyle/>
          <a:p>
            <a:endParaRPr lang="en-US"/>
          </a:p>
        </p:txBody>
      </p:sp>
      <p:sp>
        <p:nvSpPr>
          <p:cNvPr id="13" name="Text 11"/>
          <p:cNvSpPr/>
          <p:nvPr/>
        </p:nvSpPr>
        <p:spPr>
          <a:xfrm>
            <a:off x="1005840" y="3337560"/>
            <a:ext cx="3200400" cy="68580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Great for greenfield. Struggles with brownfield.</a:t>
            </a:r>
            <a:endParaRPr lang="en-US" sz="1100" dirty="0"/>
          </a:p>
        </p:txBody>
      </p:sp>
      <p:sp>
        <p:nvSpPr>
          <p:cNvPr id="14" name="Text 12"/>
          <p:cNvSpPr/>
          <p:nvPr/>
        </p:nvSpPr>
        <p:spPr>
          <a:xfrm>
            <a:off x="4937760" y="1097280"/>
            <a:ext cx="3657600" cy="365760"/>
          </a:xfrm>
          <a:prstGeom prst="rect">
            <a:avLst/>
          </a:prstGeom>
          <a:noFill/>
          <a:ln/>
        </p:spPr>
        <p:txBody>
          <a:bodyPr wrap="square" lIns="0" tIns="0" rIns="0" bIns="0" rtlCol="0" anchor="ctr"/>
          <a:lstStyle/>
          <a:p>
            <a:pPr marL="0" indent="0">
              <a:buNone/>
            </a:pPr>
            <a:r>
              <a:rPr lang="en-US" sz="1600" b="1" dirty="0">
                <a:solidFill>
                  <a:srgbClr val="0055DD"/>
                </a:solidFill>
                <a:latin typeface="Calibri" pitchFamily="34" charset="0"/>
                <a:ea typeface="Calibri" pitchFamily="34" charset="-122"/>
                <a:cs typeface="Calibri" pitchFamily="34" charset="-120"/>
              </a:rPr>
              <a:t>What Teams Say</a:t>
            </a:r>
            <a:endParaRPr lang="en-US" sz="1600" dirty="0"/>
          </a:p>
        </p:txBody>
      </p:sp>
      <p:sp>
        <p:nvSpPr>
          <p:cNvPr id="15" name="Shape 13"/>
          <p:cNvSpPr/>
          <p:nvPr/>
        </p:nvSpPr>
        <p:spPr>
          <a:xfrm>
            <a:off x="4937760" y="1600200"/>
            <a:ext cx="3474720" cy="621792"/>
          </a:xfrm>
          <a:prstGeom prst="rect">
            <a:avLst/>
          </a:prstGeom>
          <a:solidFill>
            <a:srgbClr val="1C2541"/>
          </a:solidFill>
          <a:ln/>
          <a:effectLst>
            <a:outerShdw blurRad="101600" dist="25400" dir="8100000" algn="bl" rotWithShape="0">
              <a:srgbClr val="000000">
                <a:alpha val="8000"/>
              </a:srgbClr>
            </a:outerShdw>
          </a:effectLst>
        </p:spPr>
        <p:txBody>
          <a:bodyPr/>
          <a:lstStyle/>
          <a:p>
            <a:endParaRPr lang="en-US"/>
          </a:p>
        </p:txBody>
      </p:sp>
      <p:sp>
        <p:nvSpPr>
          <p:cNvPr id="16" name="Text 14"/>
          <p:cNvSpPr/>
          <p:nvPr/>
        </p:nvSpPr>
        <p:spPr>
          <a:xfrm>
            <a:off x="5166360" y="1600200"/>
            <a:ext cx="3017520" cy="347472"/>
          </a:xfrm>
          <a:prstGeom prst="rect">
            <a:avLst/>
          </a:prstGeom>
          <a:noFill/>
          <a:ln/>
        </p:spPr>
        <p:txBody>
          <a:bodyPr wrap="square" lIns="0" tIns="0" rIns="0" bIns="0" rtlCol="0" anchor="b"/>
          <a:lstStyle/>
          <a:p>
            <a:pPr marL="0" indent="0">
              <a:buNone/>
            </a:pPr>
            <a:r>
              <a:rPr lang="en-US" sz="1300" b="1" i="1" dirty="0">
                <a:solidFill>
                  <a:srgbClr val="FFFFFF"/>
                </a:solidFill>
                <a:latin typeface="Calibri" pitchFamily="34" charset="0"/>
                <a:ea typeface="Calibri" pitchFamily="34" charset="-122"/>
                <a:cs typeface="Calibri" pitchFamily="34" charset="-120"/>
              </a:rPr>
              <a:t>"Too much slop."</a:t>
            </a:r>
            <a:endParaRPr lang="en-US" sz="1300" dirty="0"/>
          </a:p>
        </p:txBody>
      </p:sp>
      <p:sp>
        <p:nvSpPr>
          <p:cNvPr id="17" name="Text 15"/>
          <p:cNvSpPr/>
          <p:nvPr/>
        </p:nvSpPr>
        <p:spPr>
          <a:xfrm>
            <a:off x="5166360" y="1938528"/>
            <a:ext cx="3017520" cy="256032"/>
          </a:xfrm>
          <a:prstGeom prst="rect">
            <a:avLst/>
          </a:prstGeom>
          <a:noFill/>
          <a:ln/>
        </p:spPr>
        <p:txBody>
          <a:bodyPr wrap="square" lIns="0" tIns="0" rIns="0" bIns="0" rtlCol="0" anchor="t"/>
          <a:lstStyle/>
          <a:p>
            <a:pPr marL="0" indent="0">
              <a:buNone/>
            </a:pPr>
            <a:r>
              <a:rPr lang="en-US" sz="900" dirty="0">
                <a:solidFill>
                  <a:srgbClr val="C8D6E5"/>
                </a:solidFill>
                <a:latin typeface="Calibri" pitchFamily="34" charset="0"/>
                <a:ea typeface="Calibri" pitchFamily="34" charset="-122"/>
                <a:cs typeface="Calibri" pitchFamily="34" charset="-120"/>
              </a:rPr>
              <a:t>Rework cancels AI speedup</a:t>
            </a:r>
            <a:endParaRPr lang="en-US" sz="900" dirty="0"/>
          </a:p>
        </p:txBody>
      </p:sp>
      <p:sp>
        <p:nvSpPr>
          <p:cNvPr id="18" name="Shape 16"/>
          <p:cNvSpPr/>
          <p:nvPr/>
        </p:nvSpPr>
        <p:spPr>
          <a:xfrm>
            <a:off x="4937760" y="2377440"/>
            <a:ext cx="3474720" cy="621792"/>
          </a:xfrm>
          <a:prstGeom prst="rect">
            <a:avLst/>
          </a:prstGeom>
          <a:solidFill>
            <a:srgbClr val="1C2541"/>
          </a:solidFill>
          <a:ln/>
          <a:effectLst>
            <a:outerShdw blurRad="101600" dist="25400" dir="8100000" algn="bl" rotWithShape="0">
              <a:srgbClr val="000000">
                <a:alpha val="8000"/>
              </a:srgbClr>
            </a:outerShdw>
          </a:effectLst>
        </p:spPr>
        <p:txBody>
          <a:bodyPr/>
          <a:lstStyle/>
          <a:p>
            <a:endParaRPr lang="en-US"/>
          </a:p>
        </p:txBody>
      </p:sp>
      <p:sp>
        <p:nvSpPr>
          <p:cNvPr id="19" name="Text 17"/>
          <p:cNvSpPr/>
          <p:nvPr/>
        </p:nvSpPr>
        <p:spPr>
          <a:xfrm>
            <a:off x="5166360" y="2377440"/>
            <a:ext cx="3017520" cy="347472"/>
          </a:xfrm>
          <a:prstGeom prst="rect">
            <a:avLst/>
          </a:prstGeom>
          <a:noFill/>
          <a:ln/>
        </p:spPr>
        <p:txBody>
          <a:bodyPr wrap="square" lIns="0" tIns="0" rIns="0" bIns="0" rtlCol="0" anchor="b"/>
          <a:lstStyle/>
          <a:p>
            <a:pPr marL="0" indent="0">
              <a:buNone/>
            </a:pPr>
            <a:r>
              <a:rPr lang="en-US" sz="1300" b="1" i="1" dirty="0">
                <a:solidFill>
                  <a:srgbClr val="FFFFFF"/>
                </a:solidFill>
                <a:latin typeface="Calibri" pitchFamily="34" charset="0"/>
                <a:ea typeface="Calibri" pitchFamily="34" charset="-122"/>
                <a:cs typeface="Calibri" pitchFamily="34" charset="-120"/>
              </a:rPr>
              <a:t>"Tech debt factory."</a:t>
            </a:r>
            <a:endParaRPr lang="en-US" sz="1300" dirty="0"/>
          </a:p>
        </p:txBody>
      </p:sp>
      <p:sp>
        <p:nvSpPr>
          <p:cNvPr id="20" name="Text 18"/>
          <p:cNvSpPr/>
          <p:nvPr/>
        </p:nvSpPr>
        <p:spPr>
          <a:xfrm>
            <a:off x="5166360" y="2715768"/>
            <a:ext cx="3017520" cy="256032"/>
          </a:xfrm>
          <a:prstGeom prst="rect">
            <a:avLst/>
          </a:prstGeom>
          <a:noFill/>
          <a:ln/>
        </p:spPr>
        <p:txBody>
          <a:bodyPr wrap="square" lIns="0" tIns="0" rIns="0" bIns="0" rtlCol="0" anchor="t"/>
          <a:lstStyle/>
          <a:p>
            <a:pPr marL="0" indent="0">
              <a:buNone/>
            </a:pPr>
            <a:r>
              <a:rPr lang="en-US" sz="900" dirty="0">
                <a:solidFill>
                  <a:srgbClr val="C8D6E5"/>
                </a:solidFill>
                <a:latin typeface="Calibri" pitchFamily="34" charset="0"/>
                <a:ea typeface="Calibri" pitchFamily="34" charset="-122"/>
                <a:cs typeface="Calibri" pitchFamily="34" charset="-120"/>
              </a:rPr>
              <a:t>AI generates fragile code</a:t>
            </a:r>
            <a:endParaRPr lang="en-US" sz="900" dirty="0"/>
          </a:p>
        </p:txBody>
      </p:sp>
      <p:sp>
        <p:nvSpPr>
          <p:cNvPr id="21" name="Shape 19"/>
          <p:cNvSpPr/>
          <p:nvPr/>
        </p:nvSpPr>
        <p:spPr>
          <a:xfrm>
            <a:off x="4937760" y="3154680"/>
            <a:ext cx="3474720" cy="621792"/>
          </a:xfrm>
          <a:prstGeom prst="rect">
            <a:avLst/>
          </a:prstGeom>
          <a:solidFill>
            <a:srgbClr val="1C2541"/>
          </a:solidFill>
          <a:ln/>
          <a:effectLst>
            <a:outerShdw blurRad="101600" dist="25400" dir="8100000" algn="bl" rotWithShape="0">
              <a:srgbClr val="000000">
                <a:alpha val="8000"/>
              </a:srgbClr>
            </a:outerShdw>
          </a:effectLst>
        </p:spPr>
        <p:txBody>
          <a:bodyPr/>
          <a:lstStyle/>
          <a:p>
            <a:endParaRPr lang="en-US"/>
          </a:p>
        </p:txBody>
      </p:sp>
      <p:sp>
        <p:nvSpPr>
          <p:cNvPr id="22" name="Text 20"/>
          <p:cNvSpPr/>
          <p:nvPr/>
        </p:nvSpPr>
        <p:spPr>
          <a:xfrm>
            <a:off x="5166360" y="3154680"/>
            <a:ext cx="3017520" cy="347472"/>
          </a:xfrm>
          <a:prstGeom prst="rect">
            <a:avLst/>
          </a:prstGeom>
          <a:noFill/>
          <a:ln/>
        </p:spPr>
        <p:txBody>
          <a:bodyPr wrap="square" lIns="0" tIns="0" rIns="0" bIns="0" rtlCol="0" anchor="b"/>
          <a:lstStyle/>
          <a:p>
            <a:pPr marL="0" indent="0">
              <a:buNone/>
            </a:pPr>
            <a:r>
              <a:rPr lang="en-US" sz="1300" b="1" i="1" dirty="0">
                <a:solidFill>
                  <a:srgbClr val="FFFFFF"/>
                </a:solidFill>
                <a:latin typeface="Calibri" pitchFamily="34" charset="0"/>
                <a:ea typeface="Calibri" pitchFamily="34" charset="-122"/>
                <a:cs typeface="Calibri" pitchFamily="34" charset="-120"/>
              </a:rPr>
              <a:t>"Doesn't work in big repos."</a:t>
            </a:r>
            <a:endParaRPr lang="en-US" sz="1300" dirty="0"/>
          </a:p>
        </p:txBody>
      </p:sp>
      <p:sp>
        <p:nvSpPr>
          <p:cNvPr id="23" name="Text 21"/>
          <p:cNvSpPr/>
          <p:nvPr/>
        </p:nvSpPr>
        <p:spPr>
          <a:xfrm>
            <a:off x="5166360" y="3493008"/>
            <a:ext cx="3017520" cy="256032"/>
          </a:xfrm>
          <a:prstGeom prst="rect">
            <a:avLst/>
          </a:prstGeom>
          <a:noFill/>
          <a:ln/>
        </p:spPr>
        <p:txBody>
          <a:bodyPr wrap="square" lIns="0" tIns="0" rIns="0" bIns="0" rtlCol="0" anchor="t"/>
          <a:lstStyle/>
          <a:p>
            <a:pPr marL="0" indent="0">
              <a:buNone/>
            </a:pPr>
            <a:r>
              <a:rPr lang="en-US" sz="900" dirty="0">
                <a:solidFill>
                  <a:srgbClr val="C8D6E5"/>
                </a:solidFill>
                <a:latin typeface="Calibri" pitchFamily="34" charset="0"/>
                <a:ea typeface="Calibri" pitchFamily="34" charset="-122"/>
                <a:cs typeface="Calibri" pitchFamily="34" charset="-120"/>
              </a:rPr>
              <a:t>Complexity overwhelms agents</a:t>
            </a:r>
            <a:endParaRPr lang="en-US" sz="900" dirty="0"/>
          </a:p>
        </p:txBody>
      </p:sp>
      <p:sp>
        <p:nvSpPr>
          <p:cNvPr id="24" name="Shape 22"/>
          <p:cNvSpPr/>
          <p:nvPr/>
        </p:nvSpPr>
        <p:spPr>
          <a:xfrm>
            <a:off x="4937760" y="3931920"/>
            <a:ext cx="3474720" cy="621792"/>
          </a:xfrm>
          <a:prstGeom prst="rect">
            <a:avLst/>
          </a:prstGeom>
          <a:solidFill>
            <a:srgbClr val="1C2541"/>
          </a:solidFill>
          <a:ln/>
          <a:effectLst>
            <a:outerShdw blurRad="101600" dist="25400" dir="8100000" algn="bl" rotWithShape="0">
              <a:srgbClr val="000000">
                <a:alpha val="8000"/>
              </a:srgbClr>
            </a:outerShdw>
          </a:effectLst>
        </p:spPr>
        <p:txBody>
          <a:bodyPr/>
          <a:lstStyle/>
          <a:p>
            <a:endParaRPr lang="en-US"/>
          </a:p>
        </p:txBody>
      </p:sp>
      <p:sp>
        <p:nvSpPr>
          <p:cNvPr id="25" name="Text 23"/>
          <p:cNvSpPr/>
          <p:nvPr/>
        </p:nvSpPr>
        <p:spPr>
          <a:xfrm>
            <a:off x="5166360" y="3931920"/>
            <a:ext cx="3017520" cy="347472"/>
          </a:xfrm>
          <a:prstGeom prst="rect">
            <a:avLst/>
          </a:prstGeom>
          <a:noFill/>
          <a:ln/>
        </p:spPr>
        <p:txBody>
          <a:bodyPr wrap="square" lIns="0" tIns="0" rIns="0" bIns="0" rtlCol="0" anchor="b"/>
          <a:lstStyle/>
          <a:p>
            <a:pPr marL="0" indent="0">
              <a:buNone/>
            </a:pPr>
            <a:r>
              <a:rPr lang="en-US" sz="1300" b="1" i="1" dirty="0">
                <a:solidFill>
                  <a:srgbClr val="FFFFFF"/>
                </a:solidFill>
                <a:latin typeface="Calibri" pitchFamily="34" charset="0"/>
                <a:ea typeface="Calibri" pitchFamily="34" charset="-122"/>
                <a:cs typeface="Calibri" pitchFamily="34" charset="-120"/>
              </a:rPr>
              <a:t>"Doesn't work for complex systems."</a:t>
            </a:r>
            <a:endParaRPr lang="en-US" sz="1300" dirty="0"/>
          </a:p>
        </p:txBody>
      </p:sp>
      <p:sp>
        <p:nvSpPr>
          <p:cNvPr id="26" name="Text 24"/>
          <p:cNvSpPr/>
          <p:nvPr/>
        </p:nvSpPr>
        <p:spPr>
          <a:xfrm>
            <a:off x="5166360" y="4270248"/>
            <a:ext cx="3017520" cy="256032"/>
          </a:xfrm>
          <a:prstGeom prst="rect">
            <a:avLst/>
          </a:prstGeom>
          <a:noFill/>
          <a:ln/>
        </p:spPr>
        <p:txBody>
          <a:bodyPr wrap="square" lIns="0" tIns="0" rIns="0" bIns="0" rtlCol="0" anchor="t"/>
          <a:lstStyle/>
          <a:p>
            <a:pPr marL="0" indent="0">
              <a:buNone/>
            </a:pPr>
            <a:r>
              <a:rPr lang="en-US" sz="900" dirty="0">
                <a:solidFill>
                  <a:srgbClr val="C8D6E5"/>
                </a:solidFill>
                <a:latin typeface="Calibri" pitchFamily="34" charset="0"/>
                <a:ea typeface="Calibri" pitchFamily="34" charset="-122"/>
                <a:cs typeface="Calibri" pitchFamily="34" charset="-120"/>
              </a:rPr>
              <a:t>Multi-service reasoning fails</a:t>
            </a:r>
            <a:endParaRPr lang="en-US" sz="900" dirty="0"/>
          </a:p>
        </p:txBody>
      </p:sp>
      <p:sp>
        <p:nvSpPr>
          <p:cNvPr id="27" name="Text 25"/>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B7C93"/>
                </a:solidFill>
                <a:latin typeface="Calibri" pitchFamily="34" charset="0"/>
                <a:ea typeface="Calibri" pitchFamily="34" charset="-122"/>
                <a:cs typeface="Calibri" pitchFamily="34" charset="-120"/>
              </a:rPr>
              <a:t>2 / 14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BDD"/>
          </a:solidFill>
          <a:ln/>
        </p:spPr>
        <p:txBody>
          <a:bodyPr/>
          <a:lstStyle/>
          <a:p>
            <a:endParaRPr lang="en-US"/>
          </a:p>
        </p:txBody>
      </p:sp>
      <p:sp>
        <p:nvSpPr>
          <p:cNvPr id="3" name="Text 1"/>
          <p:cNvSpPr/>
          <p:nvPr/>
        </p:nvSpPr>
        <p:spPr>
          <a:xfrm>
            <a:off x="731520" y="365760"/>
            <a:ext cx="768096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The Root Cause</a:t>
            </a:r>
            <a:endParaRPr lang="en-US" sz="2800" dirty="0"/>
          </a:p>
        </p:txBody>
      </p:sp>
      <p:sp>
        <p:nvSpPr>
          <p:cNvPr id="4" name="Shape 2"/>
          <p:cNvSpPr/>
          <p:nvPr/>
        </p:nvSpPr>
        <p:spPr>
          <a:xfrm>
            <a:off x="731520" y="1097280"/>
            <a:ext cx="7680960" cy="822960"/>
          </a:xfrm>
          <a:prstGeom prst="rect">
            <a:avLst/>
          </a:prstGeom>
          <a:solidFill>
            <a:srgbClr val="1C2541"/>
          </a:solidFill>
          <a:ln/>
        </p:spPr>
        <p:txBody>
          <a:bodyPr/>
          <a:lstStyle/>
          <a:p>
            <a:endParaRPr lang="en-US"/>
          </a:p>
        </p:txBody>
      </p:sp>
      <p:sp>
        <p:nvSpPr>
          <p:cNvPr id="5" name="Shape 3"/>
          <p:cNvSpPr/>
          <p:nvPr/>
        </p:nvSpPr>
        <p:spPr>
          <a:xfrm>
            <a:off x="731520" y="1097280"/>
            <a:ext cx="54864" cy="822960"/>
          </a:xfrm>
          <a:prstGeom prst="rect">
            <a:avLst/>
          </a:prstGeom>
          <a:solidFill>
            <a:srgbClr val="00BBDD"/>
          </a:solidFill>
          <a:ln/>
        </p:spPr>
        <p:txBody>
          <a:bodyPr/>
          <a:lstStyle/>
          <a:p>
            <a:endParaRPr lang="en-US"/>
          </a:p>
        </p:txBody>
      </p:sp>
      <p:sp>
        <p:nvSpPr>
          <p:cNvPr id="6" name="Text 4"/>
          <p:cNvSpPr/>
          <p:nvPr/>
        </p:nvSpPr>
        <p:spPr>
          <a:xfrm>
            <a:off x="1005840" y="1097280"/>
            <a:ext cx="7223760" cy="822960"/>
          </a:xfrm>
          <a:prstGeom prst="rect">
            <a:avLst/>
          </a:prstGeom>
          <a:noFill/>
          <a:ln/>
        </p:spPr>
        <p:txBody>
          <a:bodyPr wrap="square" lIns="0" tIns="0" rIns="0" bIns="0" rtlCol="0" anchor="ctr"/>
          <a:lstStyle/>
          <a:p>
            <a:pPr marL="0" indent="0">
              <a:buNone/>
            </a:pPr>
            <a:r>
              <a:rPr lang="en-US" sz="1500" i="1" dirty="0">
                <a:solidFill>
                  <a:srgbClr val="FFFFFF"/>
                </a:solidFill>
                <a:latin typeface="Calibri" pitchFamily="34" charset="0"/>
                <a:ea typeface="Calibri" pitchFamily="34" charset="-122"/>
                <a:cs typeface="Calibri" pitchFamily="34" charset="-120"/>
              </a:rPr>
              <a:t>LLMs are stateless functions. The context window is the ONLY lever you have to affect output quality.</a:t>
            </a:r>
            <a:endParaRPr lang="en-US" sz="1500" dirty="0"/>
          </a:p>
        </p:txBody>
      </p:sp>
      <p:sp>
        <p:nvSpPr>
          <p:cNvPr id="7" name="Shape 5"/>
          <p:cNvSpPr/>
          <p:nvPr/>
        </p:nvSpPr>
        <p:spPr>
          <a:xfrm>
            <a:off x="731520" y="2331720"/>
            <a:ext cx="1783080" cy="2103120"/>
          </a:xfrm>
          <a:prstGeom prst="rect">
            <a:avLst/>
          </a:prstGeom>
          <a:solidFill>
            <a:srgbClr val="0055DD"/>
          </a:solidFill>
          <a:ln/>
          <a:effectLst>
            <a:outerShdw blurRad="101600" dist="25400" dir="8100000" algn="bl" rotWithShape="0">
              <a:srgbClr val="000000">
                <a:alpha val="8000"/>
              </a:srgbClr>
            </a:outerShdw>
          </a:effectLst>
        </p:spPr>
        <p:txBody>
          <a:bodyPr/>
          <a:lstStyle/>
          <a:p>
            <a:endParaRPr lang="en-US"/>
          </a:p>
        </p:txBody>
      </p:sp>
      <p:pic>
        <p:nvPicPr>
          <p:cNvPr id="8" name="Image 0" descr="preencoded.png"/>
          <p:cNvPicPr>
            <a:picLocks noChangeAspect="1"/>
          </p:cNvPicPr>
          <p:nvPr/>
        </p:nvPicPr>
        <p:blipFill>
          <a:blip r:embed="rId3"/>
          <a:stretch>
            <a:fillRect/>
          </a:stretch>
        </p:blipFill>
        <p:spPr>
          <a:xfrm>
            <a:off x="1371600" y="2514600"/>
            <a:ext cx="457200" cy="457200"/>
          </a:xfrm>
          <a:prstGeom prst="rect">
            <a:avLst/>
          </a:prstGeom>
        </p:spPr>
      </p:pic>
      <p:sp>
        <p:nvSpPr>
          <p:cNvPr id="9" name="Text 6"/>
          <p:cNvSpPr/>
          <p:nvPr/>
        </p:nvSpPr>
        <p:spPr>
          <a:xfrm>
            <a:off x="822960" y="3063240"/>
            <a:ext cx="160020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Correctness</a:t>
            </a:r>
            <a:endParaRPr lang="en-US" sz="1500" dirty="0"/>
          </a:p>
        </p:txBody>
      </p:sp>
      <p:sp>
        <p:nvSpPr>
          <p:cNvPr id="10" name="Text 7"/>
          <p:cNvSpPr/>
          <p:nvPr/>
        </p:nvSpPr>
        <p:spPr>
          <a:xfrm>
            <a:off x="822960" y="3474720"/>
            <a:ext cx="1600200" cy="640080"/>
          </a:xfrm>
          <a:prstGeom prst="rect">
            <a:avLst/>
          </a:prstGeom>
          <a:noFill/>
          <a:ln/>
        </p:spPr>
        <p:txBody>
          <a:bodyPr wrap="square" lIns="0" tIns="0" rIns="0" bIns="0" rtlCol="0" anchor="ctr"/>
          <a:lstStyle/>
          <a:p>
            <a:pPr marL="0" indent="0" algn="ctr">
              <a:buNone/>
            </a:pPr>
            <a:r>
              <a:rPr lang="en-US" sz="1100" dirty="0">
                <a:solidFill>
                  <a:srgbClr val="D0D8E8"/>
                </a:solidFill>
                <a:latin typeface="Calibri" pitchFamily="34" charset="0"/>
                <a:ea typeface="Calibri" pitchFamily="34" charset="-122"/>
                <a:cs typeface="Calibri" pitchFamily="34" charset="-120"/>
              </a:rPr>
              <a:t>No wrong</a:t>
            </a:r>
            <a:endParaRPr lang="en-US" sz="1100" dirty="0"/>
          </a:p>
          <a:p>
            <a:pPr marL="0" indent="0" algn="ctr">
              <a:buNone/>
            </a:pPr>
            <a:r>
              <a:rPr lang="en-US" sz="1100" dirty="0">
                <a:solidFill>
                  <a:srgbClr val="D0D8E8"/>
                </a:solidFill>
                <a:latin typeface="Calibri" pitchFamily="34" charset="0"/>
                <a:ea typeface="Calibri" pitchFamily="34" charset="-122"/>
                <a:cs typeface="Calibri" pitchFamily="34" charset="-120"/>
              </a:rPr>
              <a:t>information</a:t>
            </a:r>
            <a:endParaRPr lang="en-US" sz="1100" dirty="0"/>
          </a:p>
        </p:txBody>
      </p:sp>
      <p:sp>
        <p:nvSpPr>
          <p:cNvPr id="11" name="Shape 8"/>
          <p:cNvSpPr/>
          <p:nvPr/>
        </p:nvSpPr>
        <p:spPr>
          <a:xfrm>
            <a:off x="2743200" y="2331720"/>
            <a:ext cx="1783080" cy="2103120"/>
          </a:xfrm>
          <a:prstGeom prst="rect">
            <a:avLst/>
          </a:prstGeom>
          <a:solidFill>
            <a:srgbClr val="0E7490"/>
          </a:solidFill>
          <a:ln/>
          <a:effectLst>
            <a:outerShdw blurRad="101600" dist="25400" dir="8100000" algn="bl" rotWithShape="0">
              <a:srgbClr val="000000">
                <a:alpha val="8000"/>
              </a:srgbClr>
            </a:outerShdw>
          </a:effectLst>
        </p:spPr>
        <p:txBody>
          <a:bodyPr/>
          <a:lstStyle/>
          <a:p>
            <a:endParaRPr lang="en-US"/>
          </a:p>
        </p:txBody>
      </p:sp>
      <p:pic>
        <p:nvPicPr>
          <p:cNvPr id="12" name="Image 1" descr="preencoded.png"/>
          <p:cNvPicPr>
            <a:picLocks noChangeAspect="1"/>
          </p:cNvPicPr>
          <p:nvPr/>
        </p:nvPicPr>
        <p:blipFill>
          <a:blip r:embed="rId4"/>
          <a:stretch>
            <a:fillRect/>
          </a:stretch>
        </p:blipFill>
        <p:spPr>
          <a:xfrm>
            <a:off x="3383280" y="2514600"/>
            <a:ext cx="457200" cy="457200"/>
          </a:xfrm>
          <a:prstGeom prst="rect">
            <a:avLst/>
          </a:prstGeom>
        </p:spPr>
      </p:pic>
      <p:sp>
        <p:nvSpPr>
          <p:cNvPr id="13" name="Text 9"/>
          <p:cNvSpPr/>
          <p:nvPr/>
        </p:nvSpPr>
        <p:spPr>
          <a:xfrm>
            <a:off x="2834640" y="3063240"/>
            <a:ext cx="160020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Completeness</a:t>
            </a:r>
            <a:endParaRPr lang="en-US" sz="1500" dirty="0"/>
          </a:p>
        </p:txBody>
      </p:sp>
      <p:sp>
        <p:nvSpPr>
          <p:cNvPr id="14" name="Text 10"/>
          <p:cNvSpPr/>
          <p:nvPr/>
        </p:nvSpPr>
        <p:spPr>
          <a:xfrm>
            <a:off x="2834640" y="3474720"/>
            <a:ext cx="1600200" cy="640080"/>
          </a:xfrm>
          <a:prstGeom prst="rect">
            <a:avLst/>
          </a:prstGeom>
          <a:noFill/>
          <a:ln/>
        </p:spPr>
        <p:txBody>
          <a:bodyPr wrap="square" lIns="0" tIns="0" rIns="0" bIns="0" rtlCol="0" anchor="ctr"/>
          <a:lstStyle/>
          <a:p>
            <a:pPr marL="0" indent="0" algn="ctr">
              <a:buNone/>
            </a:pPr>
            <a:r>
              <a:rPr lang="en-US" sz="1100" dirty="0">
                <a:solidFill>
                  <a:srgbClr val="D0D8E8"/>
                </a:solidFill>
                <a:latin typeface="Calibri" pitchFamily="34" charset="0"/>
                <a:ea typeface="Calibri" pitchFamily="34" charset="-122"/>
                <a:cs typeface="Calibri" pitchFamily="34" charset="-120"/>
              </a:rPr>
              <a:t>No missing</a:t>
            </a:r>
            <a:endParaRPr lang="en-US" sz="1100" dirty="0"/>
          </a:p>
          <a:p>
            <a:pPr marL="0" indent="0" algn="ctr">
              <a:buNone/>
            </a:pPr>
            <a:r>
              <a:rPr lang="en-US" sz="1100" dirty="0">
                <a:solidFill>
                  <a:srgbClr val="D0D8E8"/>
                </a:solidFill>
                <a:latin typeface="Calibri" pitchFamily="34" charset="0"/>
                <a:ea typeface="Calibri" pitchFamily="34" charset="-122"/>
                <a:cs typeface="Calibri" pitchFamily="34" charset="-120"/>
              </a:rPr>
              <a:t>context</a:t>
            </a:r>
            <a:endParaRPr lang="en-US" sz="1100" dirty="0"/>
          </a:p>
        </p:txBody>
      </p:sp>
      <p:sp>
        <p:nvSpPr>
          <p:cNvPr id="15" name="Shape 11"/>
          <p:cNvSpPr/>
          <p:nvPr/>
        </p:nvSpPr>
        <p:spPr>
          <a:xfrm>
            <a:off x="4754880" y="2331720"/>
            <a:ext cx="1783080" cy="2103120"/>
          </a:xfrm>
          <a:prstGeom prst="rect">
            <a:avLst/>
          </a:prstGeom>
          <a:solidFill>
            <a:srgbClr val="3A506B"/>
          </a:solidFill>
          <a:ln/>
          <a:effectLst>
            <a:outerShdw blurRad="101600" dist="25400" dir="8100000" algn="bl" rotWithShape="0">
              <a:srgbClr val="000000">
                <a:alpha val="8000"/>
              </a:srgbClr>
            </a:outerShdw>
          </a:effectLst>
        </p:spPr>
        <p:txBody>
          <a:bodyPr/>
          <a:lstStyle/>
          <a:p>
            <a:endParaRPr lang="en-US"/>
          </a:p>
        </p:txBody>
      </p:sp>
      <p:pic>
        <p:nvPicPr>
          <p:cNvPr id="16" name="Image 2" descr="preencoded.png"/>
          <p:cNvPicPr>
            <a:picLocks noChangeAspect="1"/>
          </p:cNvPicPr>
          <p:nvPr/>
        </p:nvPicPr>
        <p:blipFill>
          <a:blip r:embed="rId5"/>
          <a:stretch>
            <a:fillRect/>
          </a:stretch>
        </p:blipFill>
        <p:spPr>
          <a:xfrm>
            <a:off x="5394960" y="2514600"/>
            <a:ext cx="457200" cy="457200"/>
          </a:xfrm>
          <a:prstGeom prst="rect">
            <a:avLst/>
          </a:prstGeom>
        </p:spPr>
      </p:pic>
      <p:sp>
        <p:nvSpPr>
          <p:cNvPr id="17" name="Text 12"/>
          <p:cNvSpPr/>
          <p:nvPr/>
        </p:nvSpPr>
        <p:spPr>
          <a:xfrm>
            <a:off x="4846320" y="3063240"/>
            <a:ext cx="160020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Size</a:t>
            </a:r>
            <a:endParaRPr lang="en-US" sz="1500" dirty="0"/>
          </a:p>
        </p:txBody>
      </p:sp>
      <p:sp>
        <p:nvSpPr>
          <p:cNvPr id="18" name="Text 13"/>
          <p:cNvSpPr/>
          <p:nvPr/>
        </p:nvSpPr>
        <p:spPr>
          <a:xfrm>
            <a:off x="4846320" y="3474720"/>
            <a:ext cx="1600200" cy="640080"/>
          </a:xfrm>
          <a:prstGeom prst="rect">
            <a:avLst/>
          </a:prstGeom>
          <a:noFill/>
          <a:ln/>
        </p:spPr>
        <p:txBody>
          <a:bodyPr wrap="square" lIns="0" tIns="0" rIns="0" bIns="0" rtlCol="0" anchor="ctr"/>
          <a:lstStyle/>
          <a:p>
            <a:pPr marL="0" indent="0" algn="ctr">
              <a:buNone/>
            </a:pPr>
            <a:r>
              <a:rPr lang="en-US" sz="1100" dirty="0">
                <a:solidFill>
                  <a:srgbClr val="D0D8E8"/>
                </a:solidFill>
                <a:latin typeface="Calibri" pitchFamily="34" charset="0"/>
                <a:ea typeface="Calibri" pitchFamily="34" charset="-122"/>
                <a:cs typeface="Calibri" pitchFamily="34" charset="-120"/>
              </a:rPr>
              <a:t>Minimal</a:t>
            </a:r>
            <a:endParaRPr lang="en-US" sz="1100" dirty="0"/>
          </a:p>
          <a:p>
            <a:pPr marL="0" indent="0" algn="ctr">
              <a:buNone/>
            </a:pPr>
            <a:r>
              <a:rPr lang="en-US" sz="1100" dirty="0">
                <a:solidFill>
                  <a:srgbClr val="D0D8E8"/>
                </a:solidFill>
                <a:latin typeface="Calibri" pitchFamily="34" charset="0"/>
                <a:ea typeface="Calibri" pitchFamily="34" charset="-122"/>
                <a:cs typeface="Calibri" pitchFamily="34" charset="-120"/>
              </a:rPr>
              <a:t>noise</a:t>
            </a:r>
            <a:endParaRPr lang="en-US" sz="1100" dirty="0"/>
          </a:p>
        </p:txBody>
      </p:sp>
      <p:sp>
        <p:nvSpPr>
          <p:cNvPr id="19" name="Shape 14"/>
          <p:cNvSpPr/>
          <p:nvPr/>
        </p:nvSpPr>
        <p:spPr>
          <a:xfrm>
            <a:off x="6766560" y="2331720"/>
            <a:ext cx="1783080" cy="2103120"/>
          </a:xfrm>
          <a:prstGeom prst="rect">
            <a:avLst/>
          </a:prstGeom>
          <a:solidFill>
            <a:srgbClr val="4338CA"/>
          </a:solidFill>
          <a:ln/>
          <a:effectLst>
            <a:outerShdw blurRad="101600" dist="25400" dir="8100000" algn="bl" rotWithShape="0">
              <a:srgbClr val="000000">
                <a:alpha val="8000"/>
              </a:srgbClr>
            </a:outerShdw>
          </a:effectLst>
        </p:spPr>
        <p:txBody>
          <a:bodyPr/>
          <a:lstStyle/>
          <a:p>
            <a:endParaRPr lang="en-US"/>
          </a:p>
        </p:txBody>
      </p:sp>
      <p:pic>
        <p:nvPicPr>
          <p:cNvPr id="20" name="Image 3" descr="preencoded.png"/>
          <p:cNvPicPr>
            <a:picLocks noChangeAspect="1"/>
          </p:cNvPicPr>
          <p:nvPr/>
        </p:nvPicPr>
        <p:blipFill>
          <a:blip r:embed="rId6"/>
          <a:stretch>
            <a:fillRect/>
          </a:stretch>
        </p:blipFill>
        <p:spPr>
          <a:xfrm>
            <a:off x="7406640" y="2514600"/>
            <a:ext cx="457200" cy="457200"/>
          </a:xfrm>
          <a:prstGeom prst="rect">
            <a:avLst/>
          </a:prstGeom>
        </p:spPr>
      </p:pic>
      <p:sp>
        <p:nvSpPr>
          <p:cNvPr id="21" name="Text 15"/>
          <p:cNvSpPr/>
          <p:nvPr/>
        </p:nvSpPr>
        <p:spPr>
          <a:xfrm>
            <a:off x="6858000" y="3063240"/>
            <a:ext cx="160020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Trajectory</a:t>
            </a:r>
            <a:endParaRPr lang="en-US" sz="1500" dirty="0"/>
          </a:p>
        </p:txBody>
      </p:sp>
      <p:sp>
        <p:nvSpPr>
          <p:cNvPr id="22" name="Text 16"/>
          <p:cNvSpPr/>
          <p:nvPr/>
        </p:nvSpPr>
        <p:spPr>
          <a:xfrm>
            <a:off x="6858000" y="3474720"/>
            <a:ext cx="1600200" cy="640080"/>
          </a:xfrm>
          <a:prstGeom prst="rect">
            <a:avLst/>
          </a:prstGeom>
          <a:noFill/>
          <a:ln/>
        </p:spPr>
        <p:txBody>
          <a:bodyPr wrap="square" lIns="0" tIns="0" rIns="0" bIns="0" rtlCol="0" anchor="ctr"/>
          <a:lstStyle/>
          <a:p>
            <a:pPr marL="0" indent="0" algn="ctr">
              <a:buNone/>
            </a:pPr>
            <a:r>
              <a:rPr lang="en-US" sz="1100" dirty="0">
                <a:solidFill>
                  <a:srgbClr val="D0D8E8"/>
                </a:solidFill>
                <a:latin typeface="Calibri" pitchFamily="34" charset="0"/>
                <a:ea typeface="Calibri" pitchFamily="34" charset="-122"/>
                <a:cs typeface="Calibri" pitchFamily="34" charset="-120"/>
              </a:rPr>
              <a:t>Stay on</a:t>
            </a:r>
            <a:endParaRPr lang="en-US" sz="1100" dirty="0"/>
          </a:p>
          <a:p>
            <a:pPr marL="0" indent="0" algn="ctr">
              <a:buNone/>
            </a:pPr>
            <a:r>
              <a:rPr lang="en-US" sz="1100" dirty="0">
                <a:solidFill>
                  <a:srgbClr val="D0D8E8"/>
                </a:solidFill>
                <a:latin typeface="Calibri" pitchFamily="34" charset="0"/>
                <a:ea typeface="Calibri" pitchFamily="34" charset="-122"/>
                <a:cs typeface="Calibri" pitchFamily="34" charset="-120"/>
              </a:rPr>
              <a:t>track</a:t>
            </a:r>
            <a:endParaRPr lang="en-US" sz="1100" dirty="0"/>
          </a:p>
        </p:txBody>
      </p:sp>
      <p:sp>
        <p:nvSpPr>
          <p:cNvPr id="23" name="Text 17"/>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8899AA"/>
                </a:solidFill>
                <a:latin typeface="Calibri" pitchFamily="34" charset="0"/>
                <a:ea typeface="Calibri" pitchFamily="34" charset="-122"/>
                <a:cs typeface="Calibri" pitchFamily="34" charset="-120"/>
              </a:rPr>
              <a:t>3 / 14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55DD"/>
          </a:solidFill>
          <a:ln/>
        </p:spPr>
        <p:txBody>
          <a:bodyPr/>
          <a:lstStyle/>
          <a:p>
            <a:endParaRPr lang="en-US"/>
          </a:p>
        </p:txBody>
      </p:sp>
      <p:sp>
        <p:nvSpPr>
          <p:cNvPr id="3" name="Text 1"/>
          <p:cNvSpPr/>
          <p:nvPr/>
        </p:nvSpPr>
        <p:spPr>
          <a:xfrm>
            <a:off x="731520" y="365760"/>
            <a:ext cx="7680960" cy="457200"/>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The Naive Approach</a:t>
            </a:r>
            <a:endParaRPr lang="en-US" sz="2800" dirty="0"/>
          </a:p>
        </p:txBody>
      </p:sp>
      <p:sp>
        <p:nvSpPr>
          <p:cNvPr id="4" name="Text 2"/>
          <p:cNvSpPr/>
          <p:nvPr/>
        </p:nvSpPr>
        <p:spPr>
          <a:xfrm>
            <a:off x="731520" y="822960"/>
            <a:ext cx="7680960" cy="274320"/>
          </a:xfrm>
          <a:prstGeom prst="rect">
            <a:avLst/>
          </a:prstGeom>
          <a:noFill/>
          <a:ln/>
        </p:spPr>
        <p:txBody>
          <a:bodyPr wrap="square" lIns="0" tIns="0" rIns="0" bIns="0" rtlCol="0" anchor="ctr"/>
          <a:lstStyle/>
          <a:p>
            <a:pPr marL="0" indent="0">
              <a:buNone/>
            </a:pPr>
            <a:r>
              <a:rPr lang="en-US" sz="1300" dirty="0">
                <a:solidFill>
                  <a:srgbClr val="6B7C93"/>
                </a:solidFill>
                <a:latin typeface="Calibri" pitchFamily="34" charset="0"/>
                <a:ea typeface="Calibri" pitchFamily="34" charset="-122"/>
                <a:cs typeface="Calibri" pitchFamily="34" charset="-120"/>
              </a:rPr>
              <a:t>How most of us start with AI coding agents</a:t>
            </a:r>
            <a:endParaRPr lang="en-US" sz="1300" dirty="0"/>
          </a:p>
        </p:txBody>
      </p:sp>
      <p:sp>
        <p:nvSpPr>
          <p:cNvPr id="5" name="Shape 3"/>
          <p:cNvSpPr/>
          <p:nvPr/>
        </p:nvSpPr>
        <p:spPr>
          <a:xfrm>
            <a:off x="731520" y="1371600"/>
            <a:ext cx="3657600" cy="301752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6" name="Shape 4"/>
          <p:cNvSpPr/>
          <p:nvPr/>
        </p:nvSpPr>
        <p:spPr>
          <a:xfrm>
            <a:off x="731520" y="1371600"/>
            <a:ext cx="3657600" cy="54864"/>
          </a:xfrm>
          <a:prstGeom prst="rect">
            <a:avLst/>
          </a:prstGeom>
          <a:solidFill>
            <a:srgbClr val="EF4444"/>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960120" y="1600200"/>
            <a:ext cx="320040" cy="320040"/>
          </a:xfrm>
          <a:prstGeom prst="rect">
            <a:avLst/>
          </a:prstGeom>
        </p:spPr>
      </p:pic>
      <p:sp>
        <p:nvSpPr>
          <p:cNvPr id="8" name="Text 5"/>
          <p:cNvSpPr/>
          <p:nvPr/>
        </p:nvSpPr>
        <p:spPr>
          <a:xfrm>
            <a:off x="1371600" y="1600200"/>
            <a:ext cx="2743200" cy="365760"/>
          </a:xfrm>
          <a:prstGeom prst="rect">
            <a:avLst/>
          </a:prstGeom>
          <a:noFill/>
          <a:ln/>
        </p:spPr>
        <p:txBody>
          <a:bodyPr wrap="square" lIns="0" tIns="0" rIns="0" bIns="0" rtlCol="0" anchor="ctr"/>
          <a:lstStyle/>
          <a:p>
            <a:pPr marL="0" indent="0">
              <a:buNone/>
            </a:pPr>
            <a:r>
              <a:rPr lang="en-US" sz="1700" b="1" dirty="0">
                <a:solidFill>
                  <a:srgbClr val="1A1A2E"/>
                </a:solidFill>
                <a:latin typeface="Calibri" pitchFamily="34" charset="0"/>
                <a:ea typeface="Calibri" pitchFamily="34" charset="-122"/>
                <a:cs typeface="Calibri" pitchFamily="34" charset="-120"/>
              </a:rPr>
              <a:t>Chat Until It Breaks</a:t>
            </a:r>
            <a:endParaRPr lang="en-US" sz="1700" dirty="0"/>
          </a:p>
        </p:txBody>
      </p:sp>
      <p:sp>
        <p:nvSpPr>
          <p:cNvPr id="9" name="Text 6"/>
          <p:cNvSpPr/>
          <p:nvPr/>
        </p:nvSpPr>
        <p:spPr>
          <a:xfrm>
            <a:off x="960120" y="2103120"/>
            <a:ext cx="3200400" cy="2011680"/>
          </a:xfrm>
          <a:prstGeom prst="rect">
            <a:avLst/>
          </a:prstGeom>
          <a:noFill/>
          <a:ln/>
        </p:spPr>
        <p:txBody>
          <a:bodyPr wrap="square" lIns="0" tIns="0" rIns="0" bIns="0" rtlCol="0" anchor="t"/>
          <a:lstStyle/>
          <a:p>
            <a:pPr marL="0" indent="0">
              <a:buNone/>
            </a:pPr>
            <a:r>
              <a:rPr lang="en-US" sz="1200" dirty="0">
                <a:solidFill>
                  <a:srgbClr val="1A1A2E"/>
                </a:solidFill>
                <a:latin typeface="Calibri" pitchFamily="34" charset="0"/>
                <a:ea typeface="Calibri" pitchFamily="34" charset="-122"/>
                <a:cs typeface="Calibri" pitchFamily="34" charset="-120"/>
              </a:rPr>
              <a:t>Talk back and forth until you:</a:t>
            </a:r>
            <a:endParaRPr lang="en-US" sz="1200" dirty="0"/>
          </a:p>
          <a:p>
            <a:pPr marL="0" indent="0">
              <a:buNone/>
            </a:pPr>
            <a:endParaRPr lang="en-US" sz="1200" dirty="0"/>
          </a:p>
          <a:p>
            <a:pPr marL="342900" indent="-342900">
              <a:buSzPct val="100000"/>
              <a:buChar char="•"/>
            </a:pPr>
            <a:r>
              <a:rPr lang="en-US" sz="1200" dirty="0">
                <a:solidFill>
                  <a:srgbClr val="6B7C93"/>
                </a:solidFill>
                <a:latin typeface="Calibri" pitchFamily="34" charset="0"/>
                <a:ea typeface="Calibri" pitchFamily="34" charset="-122"/>
                <a:cs typeface="Calibri" pitchFamily="34" charset="-120"/>
              </a:rPr>
              <a:t>Run out of context</a:t>
            </a:r>
            <a:endParaRPr lang="en-US" sz="1200" dirty="0"/>
          </a:p>
          <a:p>
            <a:pPr marL="342900" indent="-342900">
              <a:buSzPct val="100000"/>
              <a:buChar char="•"/>
            </a:pPr>
            <a:r>
              <a:rPr lang="en-US" sz="1200" dirty="0">
                <a:solidFill>
                  <a:srgbClr val="6B7C93"/>
                </a:solidFill>
                <a:latin typeface="Calibri" pitchFamily="34" charset="0"/>
                <a:ea typeface="Calibri" pitchFamily="34" charset="-122"/>
                <a:cs typeface="Calibri" pitchFamily="34" charset="-120"/>
              </a:rPr>
              <a:t>Give up in frustration</a:t>
            </a:r>
            <a:endParaRPr lang="en-US" sz="1200" dirty="0"/>
          </a:p>
          <a:p>
            <a:pPr marL="342900" indent="-342900">
              <a:buSzPct val="100000"/>
              <a:buChar char="•"/>
            </a:pPr>
            <a:r>
              <a:rPr lang="en-US" sz="1200" dirty="0">
                <a:solidFill>
                  <a:srgbClr val="6B7C93"/>
                </a:solidFill>
                <a:latin typeface="Calibri" pitchFamily="34" charset="0"/>
                <a:ea typeface="Calibri" pitchFamily="34" charset="-122"/>
                <a:cs typeface="Calibri" pitchFamily="34" charset="-120"/>
              </a:rPr>
              <a:t>The agent starts apologizing</a:t>
            </a:r>
            <a:endParaRPr lang="en-US" sz="1200" dirty="0"/>
          </a:p>
          <a:p>
            <a:pPr marL="0" indent="0">
              <a:buNone/>
            </a:pPr>
            <a:endParaRPr lang="en-US" sz="1200" dirty="0"/>
          </a:p>
          <a:p>
            <a:pPr marL="0" indent="0">
              <a:buNone/>
            </a:pPr>
            <a:r>
              <a:rPr lang="en-US" sz="1100" i="1" dirty="0">
                <a:solidFill>
                  <a:srgbClr val="6B7C93"/>
                </a:solidFill>
                <a:latin typeface="Calibri" pitchFamily="34" charset="0"/>
                <a:ea typeface="Calibri" pitchFamily="34" charset="-122"/>
                <a:cs typeface="Calibri" pitchFamily="34" charset="-120"/>
              </a:rPr>
              <a:t>Context fills with glob/grep/read noise, leaving little room for actual problem-solving.</a:t>
            </a:r>
            <a:endParaRPr lang="en-US" sz="1200" dirty="0"/>
          </a:p>
        </p:txBody>
      </p:sp>
      <p:sp>
        <p:nvSpPr>
          <p:cNvPr id="10" name="Shape 7"/>
          <p:cNvSpPr/>
          <p:nvPr/>
        </p:nvSpPr>
        <p:spPr>
          <a:xfrm>
            <a:off x="4754880" y="1371600"/>
            <a:ext cx="3657600" cy="301752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11" name="Shape 8"/>
          <p:cNvSpPr/>
          <p:nvPr/>
        </p:nvSpPr>
        <p:spPr>
          <a:xfrm>
            <a:off x="4754880" y="1371600"/>
            <a:ext cx="3657600" cy="54864"/>
          </a:xfrm>
          <a:prstGeom prst="rect">
            <a:avLst/>
          </a:prstGeom>
          <a:solidFill>
            <a:srgbClr val="F59E0B"/>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4983480" y="1600200"/>
            <a:ext cx="320040" cy="320040"/>
          </a:xfrm>
          <a:prstGeom prst="rect">
            <a:avLst/>
          </a:prstGeom>
        </p:spPr>
      </p:pic>
      <p:sp>
        <p:nvSpPr>
          <p:cNvPr id="13" name="Text 9"/>
          <p:cNvSpPr/>
          <p:nvPr/>
        </p:nvSpPr>
        <p:spPr>
          <a:xfrm>
            <a:off x="5394960" y="1600200"/>
            <a:ext cx="2743200" cy="365760"/>
          </a:xfrm>
          <a:prstGeom prst="rect">
            <a:avLst/>
          </a:prstGeom>
          <a:noFill/>
          <a:ln/>
        </p:spPr>
        <p:txBody>
          <a:bodyPr wrap="square" lIns="0" tIns="0" rIns="0" bIns="0" rtlCol="0" anchor="ctr"/>
          <a:lstStyle/>
          <a:p>
            <a:pPr marL="0" indent="0">
              <a:buNone/>
            </a:pPr>
            <a:r>
              <a:rPr lang="en-US" sz="1700" b="1" dirty="0">
                <a:solidFill>
                  <a:srgbClr val="1A1A2E"/>
                </a:solidFill>
                <a:latin typeface="Calibri" pitchFamily="34" charset="0"/>
                <a:ea typeface="Calibri" pitchFamily="34" charset="-122"/>
                <a:cs typeface="Calibri" pitchFamily="34" charset="-120"/>
              </a:rPr>
              <a:t>Start Over With Steering</a:t>
            </a:r>
            <a:endParaRPr lang="en-US" sz="1700" dirty="0"/>
          </a:p>
        </p:txBody>
      </p:sp>
      <p:sp>
        <p:nvSpPr>
          <p:cNvPr id="14" name="Text 10"/>
          <p:cNvSpPr/>
          <p:nvPr/>
        </p:nvSpPr>
        <p:spPr>
          <a:xfrm>
            <a:off x="4983480" y="2103120"/>
            <a:ext cx="3200400" cy="2011680"/>
          </a:xfrm>
          <a:prstGeom prst="rect">
            <a:avLst/>
          </a:prstGeom>
          <a:noFill/>
          <a:ln/>
        </p:spPr>
        <p:txBody>
          <a:bodyPr wrap="square" lIns="0" tIns="0" rIns="0" bIns="0" rtlCol="0" anchor="t"/>
          <a:lstStyle/>
          <a:p>
            <a:pPr marL="0" indent="0">
              <a:buNone/>
            </a:pPr>
            <a:r>
              <a:rPr lang="en-US" sz="1200" dirty="0">
                <a:solidFill>
                  <a:srgbClr val="1A1A2E"/>
                </a:solidFill>
                <a:latin typeface="Calibri" pitchFamily="34" charset="0"/>
                <a:ea typeface="Calibri" pitchFamily="34" charset="-122"/>
                <a:cs typeface="Calibri" pitchFamily="34" charset="-120"/>
              </a:rPr>
              <a:t>Restart sessions with more guidance:</a:t>
            </a:r>
            <a:endParaRPr lang="en-US" sz="1200" dirty="0"/>
          </a:p>
          <a:p>
            <a:pPr marL="0" indent="0">
              <a:buNone/>
            </a:pPr>
            <a:endParaRPr lang="en-US" sz="1200" dirty="0"/>
          </a:p>
          <a:p>
            <a:pPr marL="0" indent="0">
              <a:buNone/>
            </a:pPr>
            <a:r>
              <a:rPr lang="en-US" sz="1100" i="1" dirty="0">
                <a:solidFill>
                  <a:srgbClr val="6B7C93"/>
                </a:solidFill>
                <a:latin typeface="Calibri" pitchFamily="34" charset="0"/>
                <a:ea typeface="Calibri" pitchFamily="34" charset="-122"/>
                <a:cs typeface="Calibri" pitchFamily="34" charset="-120"/>
              </a:rPr>
              <a:t>"Use XYZ approach because ABC won't work"</a:t>
            </a:r>
            <a:endParaRPr lang="en-US" sz="1200" dirty="0"/>
          </a:p>
          <a:p>
            <a:pPr marL="0" indent="0">
              <a:buNone/>
            </a:pPr>
            <a:endParaRPr lang="en-US" sz="1200" dirty="0"/>
          </a:p>
          <a:p>
            <a:pPr marL="0" indent="0">
              <a:buNone/>
            </a:pPr>
            <a:r>
              <a:rPr lang="en-US" sz="1100" dirty="0">
                <a:solidFill>
                  <a:srgbClr val="6B7C93"/>
                </a:solidFill>
                <a:latin typeface="Calibri" pitchFamily="34" charset="0"/>
                <a:ea typeface="Calibri" pitchFamily="34" charset="-122"/>
                <a:cs typeface="Calibri" pitchFamily="34" charset="-120"/>
              </a:rPr>
              <a:t>Better, but still reactive. You're fixing errors after they happen instead of preventing them.</a:t>
            </a:r>
            <a:endParaRPr lang="en-US" sz="1200" dirty="0"/>
          </a:p>
        </p:txBody>
      </p:sp>
      <p:sp>
        <p:nvSpPr>
          <p:cNvPr id="15" name="Text 1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B7C93"/>
                </a:solidFill>
                <a:latin typeface="Calibri" pitchFamily="34" charset="0"/>
                <a:ea typeface="Calibri" pitchFamily="34" charset="-122"/>
                <a:cs typeface="Calibri" pitchFamily="34" charset="-120"/>
              </a:rPr>
              <a:t>4 / 14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BDD"/>
          </a:solidFill>
          <a:ln/>
        </p:spPr>
        <p:txBody>
          <a:bodyPr/>
          <a:lstStyle/>
          <a:p>
            <a:endParaRPr lang="en-US"/>
          </a:p>
        </p:txBody>
      </p:sp>
      <p:sp>
        <p:nvSpPr>
          <p:cNvPr id="3" name="Text 1"/>
          <p:cNvSpPr/>
          <p:nvPr/>
        </p:nvSpPr>
        <p:spPr>
          <a:xfrm>
            <a:off x="731520" y="365760"/>
            <a:ext cx="7680960" cy="457200"/>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Intentional Compaction</a:t>
            </a:r>
            <a:endParaRPr lang="en-US" sz="2800" dirty="0"/>
          </a:p>
        </p:txBody>
      </p:sp>
      <p:sp>
        <p:nvSpPr>
          <p:cNvPr id="4" name="Text 2"/>
          <p:cNvSpPr/>
          <p:nvPr/>
        </p:nvSpPr>
        <p:spPr>
          <a:xfrm>
            <a:off x="731520" y="822960"/>
            <a:ext cx="7680960" cy="274320"/>
          </a:xfrm>
          <a:prstGeom prst="rect">
            <a:avLst/>
          </a:prstGeom>
          <a:noFill/>
          <a:ln/>
        </p:spPr>
        <p:txBody>
          <a:bodyPr wrap="square" lIns="0" tIns="0" rIns="0" bIns="0" rtlCol="0" anchor="ctr"/>
          <a:lstStyle/>
          <a:p>
            <a:pPr marL="0" indent="0">
              <a:buNone/>
            </a:pPr>
            <a:r>
              <a:rPr lang="en-US" sz="1300" i="1" dirty="0">
                <a:solidFill>
                  <a:srgbClr val="00BBDD"/>
                </a:solidFill>
                <a:latin typeface="Calibri" pitchFamily="34" charset="0"/>
                <a:ea typeface="Calibri" pitchFamily="34" charset="-122"/>
                <a:cs typeface="Calibri" pitchFamily="34" charset="-120"/>
              </a:rPr>
              <a:t>The breakthrough: treat context as a managed resource</a:t>
            </a:r>
            <a:endParaRPr lang="en-US" sz="1300" dirty="0"/>
          </a:p>
        </p:txBody>
      </p:sp>
      <p:sp>
        <p:nvSpPr>
          <p:cNvPr id="5" name="Shape 3"/>
          <p:cNvSpPr/>
          <p:nvPr/>
        </p:nvSpPr>
        <p:spPr>
          <a:xfrm>
            <a:off x="731520" y="1371600"/>
            <a:ext cx="3474720" cy="3200400"/>
          </a:xfrm>
          <a:prstGeom prst="rect">
            <a:avLst/>
          </a:prstGeom>
          <a:solidFill>
            <a:srgbClr val="1C2541"/>
          </a:solidFill>
          <a:ln/>
          <a:effectLst>
            <a:outerShdw blurRad="101600" dist="25400" dir="8100000" algn="bl" rotWithShape="0">
              <a:srgbClr val="000000">
                <a:alpha val="8000"/>
              </a:srgbClr>
            </a:outerShdw>
          </a:effectLst>
        </p:spPr>
        <p:txBody>
          <a:bodyPr/>
          <a:lstStyle/>
          <a:p>
            <a:endParaRPr lang="en-US"/>
          </a:p>
        </p:txBody>
      </p:sp>
      <p:sp>
        <p:nvSpPr>
          <p:cNvPr id="6" name="Text 4"/>
          <p:cNvSpPr/>
          <p:nvPr/>
        </p:nvSpPr>
        <p:spPr>
          <a:xfrm>
            <a:off x="1005840" y="1508760"/>
            <a:ext cx="292608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What Eats Context?</a:t>
            </a:r>
            <a:endParaRPr lang="en-US" sz="1500" dirty="0"/>
          </a:p>
        </p:txBody>
      </p:sp>
      <p:sp>
        <p:nvSpPr>
          <p:cNvPr id="7" name="Text 5"/>
          <p:cNvSpPr/>
          <p:nvPr/>
        </p:nvSpPr>
        <p:spPr>
          <a:xfrm>
            <a:off x="1005840" y="2011680"/>
            <a:ext cx="2926080" cy="365760"/>
          </a:xfrm>
          <a:prstGeom prst="rect">
            <a:avLst/>
          </a:prstGeom>
          <a:noFill/>
          <a:ln/>
        </p:spPr>
        <p:txBody>
          <a:bodyPr wrap="square" lIns="0" tIns="0" rIns="0" bIns="0" rtlCol="0" anchor="ctr"/>
          <a:lstStyle/>
          <a:p>
            <a:pPr marL="342900" indent="-342900">
              <a:buSzPct val="100000"/>
              <a:buChar char="•"/>
            </a:pPr>
            <a:r>
              <a:rPr lang="en-US" sz="1100" dirty="0">
                <a:solidFill>
                  <a:srgbClr val="C8D6E5"/>
                </a:solidFill>
                <a:latin typeface="Calibri" pitchFamily="34" charset="0"/>
                <a:ea typeface="Calibri" pitchFamily="34" charset="-122"/>
                <a:cs typeface="Calibri" pitchFamily="34" charset="-120"/>
              </a:rPr>
              <a:t>Searching for files across services</a:t>
            </a:r>
            <a:endParaRPr lang="en-US" sz="1100" dirty="0"/>
          </a:p>
        </p:txBody>
      </p:sp>
      <p:sp>
        <p:nvSpPr>
          <p:cNvPr id="8" name="Text 6"/>
          <p:cNvSpPr/>
          <p:nvPr/>
        </p:nvSpPr>
        <p:spPr>
          <a:xfrm>
            <a:off x="1005840" y="2450592"/>
            <a:ext cx="2926080" cy="365760"/>
          </a:xfrm>
          <a:prstGeom prst="rect">
            <a:avLst/>
          </a:prstGeom>
          <a:noFill/>
          <a:ln/>
        </p:spPr>
        <p:txBody>
          <a:bodyPr wrap="square" lIns="0" tIns="0" rIns="0" bIns="0" rtlCol="0" anchor="ctr"/>
          <a:lstStyle/>
          <a:p>
            <a:pPr marL="342900" indent="-342900">
              <a:buSzPct val="100000"/>
              <a:buChar char="•"/>
            </a:pPr>
            <a:r>
              <a:rPr lang="en-US" sz="1100" dirty="0">
                <a:solidFill>
                  <a:srgbClr val="C8D6E5"/>
                </a:solidFill>
                <a:latin typeface="Calibri" pitchFamily="34" charset="0"/>
                <a:ea typeface="Calibri" pitchFamily="34" charset="-122"/>
                <a:cs typeface="Calibri" pitchFamily="34" charset="-120"/>
              </a:rPr>
              <a:t>Understanding code flow &amp; dependencies</a:t>
            </a:r>
            <a:endParaRPr lang="en-US" sz="1100" dirty="0"/>
          </a:p>
        </p:txBody>
      </p:sp>
      <p:sp>
        <p:nvSpPr>
          <p:cNvPr id="9" name="Text 7"/>
          <p:cNvSpPr/>
          <p:nvPr/>
        </p:nvSpPr>
        <p:spPr>
          <a:xfrm>
            <a:off x="1005840" y="2889504"/>
            <a:ext cx="2926080" cy="365760"/>
          </a:xfrm>
          <a:prstGeom prst="rect">
            <a:avLst/>
          </a:prstGeom>
          <a:noFill/>
          <a:ln/>
        </p:spPr>
        <p:txBody>
          <a:bodyPr wrap="square" lIns="0" tIns="0" rIns="0" bIns="0" rtlCol="0" anchor="ctr"/>
          <a:lstStyle/>
          <a:p>
            <a:pPr marL="342900" indent="-342900">
              <a:buSzPct val="100000"/>
              <a:buChar char="•"/>
            </a:pPr>
            <a:r>
              <a:rPr lang="en-US" sz="1100" dirty="0">
                <a:solidFill>
                  <a:srgbClr val="C8D6E5"/>
                </a:solidFill>
                <a:latin typeface="Calibri" pitchFamily="34" charset="0"/>
                <a:ea typeface="Calibri" pitchFamily="34" charset="-122"/>
                <a:cs typeface="Calibri" pitchFamily="34" charset="-120"/>
              </a:rPr>
              <a:t>Applying and reverting edits</a:t>
            </a:r>
            <a:endParaRPr lang="en-US" sz="1100" dirty="0"/>
          </a:p>
        </p:txBody>
      </p:sp>
      <p:sp>
        <p:nvSpPr>
          <p:cNvPr id="10" name="Text 8"/>
          <p:cNvSpPr/>
          <p:nvPr/>
        </p:nvSpPr>
        <p:spPr>
          <a:xfrm>
            <a:off x="1005840" y="3328416"/>
            <a:ext cx="2926080" cy="365760"/>
          </a:xfrm>
          <a:prstGeom prst="rect">
            <a:avLst/>
          </a:prstGeom>
          <a:noFill/>
          <a:ln/>
        </p:spPr>
        <p:txBody>
          <a:bodyPr wrap="square" lIns="0" tIns="0" rIns="0" bIns="0" rtlCol="0" anchor="ctr"/>
          <a:lstStyle/>
          <a:p>
            <a:pPr marL="342900" indent="-342900">
              <a:buSzPct val="100000"/>
              <a:buChar char="•"/>
            </a:pPr>
            <a:r>
              <a:rPr lang="en-US" sz="1100" dirty="0">
                <a:solidFill>
                  <a:srgbClr val="C8D6E5"/>
                </a:solidFill>
                <a:latin typeface="Calibri" pitchFamily="34" charset="0"/>
                <a:ea typeface="Calibri" pitchFamily="34" charset="-122"/>
                <a:cs typeface="Calibri" pitchFamily="34" charset="-120"/>
              </a:rPr>
              <a:t>Test/build output logs</a:t>
            </a:r>
            <a:endParaRPr lang="en-US" sz="1100" dirty="0"/>
          </a:p>
        </p:txBody>
      </p:sp>
      <p:sp>
        <p:nvSpPr>
          <p:cNvPr id="11" name="Text 9"/>
          <p:cNvSpPr/>
          <p:nvPr/>
        </p:nvSpPr>
        <p:spPr>
          <a:xfrm>
            <a:off x="1005840" y="3767328"/>
            <a:ext cx="2926080" cy="365760"/>
          </a:xfrm>
          <a:prstGeom prst="rect">
            <a:avLst/>
          </a:prstGeom>
          <a:noFill/>
          <a:ln/>
        </p:spPr>
        <p:txBody>
          <a:bodyPr wrap="square" lIns="0" tIns="0" rIns="0" bIns="0" rtlCol="0" anchor="ctr"/>
          <a:lstStyle/>
          <a:p>
            <a:pPr marL="342900" indent="-342900">
              <a:buSzPct val="100000"/>
              <a:buChar char="•"/>
            </a:pPr>
            <a:r>
              <a:rPr lang="en-US" sz="1100" dirty="0">
                <a:solidFill>
                  <a:srgbClr val="C8D6E5"/>
                </a:solidFill>
                <a:latin typeface="Calibri" pitchFamily="34" charset="0"/>
                <a:ea typeface="Calibri" pitchFamily="34" charset="-122"/>
                <a:cs typeface="Calibri" pitchFamily="34" charset="-120"/>
              </a:rPr>
              <a:t>Huge JSON blobs from tool calls</a:t>
            </a:r>
            <a:endParaRPr lang="en-US" sz="1100" dirty="0"/>
          </a:p>
        </p:txBody>
      </p:sp>
      <p:sp>
        <p:nvSpPr>
          <p:cNvPr id="12" name="Shape 10"/>
          <p:cNvSpPr/>
          <p:nvPr/>
        </p:nvSpPr>
        <p:spPr>
          <a:xfrm>
            <a:off x="4754880" y="1371600"/>
            <a:ext cx="3657600" cy="320040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13" name="Shape 11"/>
          <p:cNvSpPr/>
          <p:nvPr/>
        </p:nvSpPr>
        <p:spPr>
          <a:xfrm>
            <a:off x="4754880" y="1371600"/>
            <a:ext cx="3657600" cy="54864"/>
          </a:xfrm>
          <a:prstGeom prst="rect">
            <a:avLst/>
          </a:prstGeom>
          <a:solidFill>
            <a:srgbClr val="10B981"/>
          </a:solidFill>
          <a:ln/>
        </p:spPr>
        <p:txBody>
          <a:bodyPr/>
          <a:lstStyle/>
          <a:p>
            <a:endParaRPr lang="en-US"/>
          </a:p>
        </p:txBody>
      </p:sp>
      <p:sp>
        <p:nvSpPr>
          <p:cNvPr id="14" name="Text 12"/>
          <p:cNvSpPr/>
          <p:nvPr/>
        </p:nvSpPr>
        <p:spPr>
          <a:xfrm>
            <a:off x="4983480" y="1554480"/>
            <a:ext cx="3200400" cy="365760"/>
          </a:xfrm>
          <a:prstGeom prst="rect">
            <a:avLst/>
          </a:prstGeom>
          <a:noFill/>
          <a:ln/>
        </p:spPr>
        <p:txBody>
          <a:bodyPr wrap="square" lIns="0" tIns="0" rIns="0" bIns="0"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The Solution</a:t>
            </a:r>
            <a:endParaRPr lang="en-US" sz="1500" dirty="0"/>
          </a:p>
        </p:txBody>
      </p:sp>
      <p:sp>
        <p:nvSpPr>
          <p:cNvPr id="15" name="Text 13"/>
          <p:cNvSpPr/>
          <p:nvPr/>
        </p:nvSpPr>
        <p:spPr>
          <a:xfrm>
            <a:off x="4983480" y="2011680"/>
            <a:ext cx="3200400" cy="548640"/>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Pause and distill work into structured artifacts before context fills up.</a:t>
            </a:r>
            <a:endParaRPr lang="en-US" sz="1200" dirty="0"/>
          </a:p>
        </p:txBody>
      </p:sp>
      <p:sp>
        <p:nvSpPr>
          <p:cNvPr id="16" name="Shape 14"/>
          <p:cNvSpPr/>
          <p:nvPr/>
        </p:nvSpPr>
        <p:spPr>
          <a:xfrm>
            <a:off x="4983480" y="2697480"/>
            <a:ext cx="3200400" cy="914400"/>
          </a:xfrm>
          <a:prstGeom prst="rect">
            <a:avLst/>
          </a:prstGeom>
          <a:solidFill>
            <a:srgbClr val="141B2D"/>
          </a:solidFill>
          <a:ln/>
        </p:spPr>
        <p:txBody>
          <a:bodyPr/>
          <a:lstStyle/>
          <a:p>
            <a:endParaRPr lang="en-US"/>
          </a:p>
        </p:txBody>
      </p:sp>
      <p:sp>
        <p:nvSpPr>
          <p:cNvPr id="17" name="Text 15"/>
          <p:cNvSpPr/>
          <p:nvPr/>
        </p:nvSpPr>
        <p:spPr>
          <a:xfrm>
            <a:off x="5120640" y="2697480"/>
            <a:ext cx="2926080" cy="914400"/>
          </a:xfrm>
          <a:prstGeom prst="rect">
            <a:avLst/>
          </a:prstGeom>
          <a:noFill/>
          <a:ln/>
        </p:spPr>
        <p:txBody>
          <a:bodyPr wrap="square" lIns="0" tIns="0" rIns="0" bIns="0" rtlCol="0" anchor="ctr"/>
          <a:lstStyle/>
          <a:p>
            <a:pPr marL="0" indent="0">
              <a:buNone/>
            </a:pPr>
            <a:r>
              <a:rPr lang="en-US" sz="1000" dirty="0">
                <a:solidFill>
                  <a:srgbClr val="00BBDD"/>
                </a:solidFill>
                <a:latin typeface="Consolas" pitchFamily="34" charset="0"/>
                <a:ea typeface="Consolas" pitchFamily="34" charset="-122"/>
                <a:cs typeface="Consolas" pitchFamily="34" charset="-120"/>
              </a:rPr>
              <a:t>"Write everything so far to progress.md — the goal, approach, steps done, and current issue."</a:t>
            </a:r>
            <a:endParaRPr lang="en-US" sz="1000" dirty="0"/>
          </a:p>
        </p:txBody>
      </p:sp>
      <p:sp>
        <p:nvSpPr>
          <p:cNvPr id="18" name="Text 16"/>
          <p:cNvSpPr/>
          <p:nvPr/>
        </p:nvSpPr>
        <p:spPr>
          <a:xfrm>
            <a:off x="4983480" y="3794760"/>
            <a:ext cx="3200400" cy="457200"/>
          </a:xfrm>
          <a:prstGeom prst="rect">
            <a:avLst/>
          </a:prstGeom>
          <a:noFill/>
          <a:ln/>
        </p:spPr>
        <p:txBody>
          <a:bodyPr wrap="square" lIns="0" tIns="0" rIns="0" bIns="0" rtlCol="0" anchor="ctr"/>
          <a:lstStyle/>
          <a:p>
            <a:pPr marL="0" indent="0">
              <a:buNone/>
            </a:pPr>
            <a:r>
              <a:rPr lang="en-US" sz="1200" b="1" dirty="0">
                <a:solidFill>
                  <a:srgbClr val="0055DD"/>
                </a:solidFill>
                <a:latin typeface="Calibri" pitchFamily="34" charset="0"/>
                <a:ea typeface="Calibri" pitchFamily="34" charset="-122"/>
                <a:cs typeface="Calibri" pitchFamily="34" charset="-120"/>
              </a:rPr>
              <a:t>Keep context utilization in the 40–60% range.</a:t>
            </a:r>
            <a:endParaRPr lang="en-US" sz="1200" dirty="0"/>
          </a:p>
        </p:txBody>
      </p:sp>
      <p:sp>
        <p:nvSpPr>
          <p:cNvPr id="19" name="Text 17"/>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B7C93"/>
                </a:solidFill>
                <a:latin typeface="Calibri" pitchFamily="34" charset="0"/>
                <a:ea typeface="Calibri" pitchFamily="34" charset="-122"/>
                <a:cs typeface="Calibri" pitchFamily="34" charset="-120"/>
              </a:rPr>
              <a:t>5 / 14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55DD"/>
          </a:solidFill>
          <a:ln/>
        </p:spPr>
        <p:txBody>
          <a:bodyPr/>
          <a:lstStyle/>
          <a:p>
            <a:endParaRPr lang="en-US"/>
          </a:p>
        </p:txBody>
      </p:sp>
      <p:sp>
        <p:nvSpPr>
          <p:cNvPr id="3" name="Text 1"/>
          <p:cNvSpPr/>
          <p:nvPr/>
        </p:nvSpPr>
        <p:spPr>
          <a:xfrm>
            <a:off x="731520" y="320040"/>
            <a:ext cx="7680960" cy="45720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The Framework: Research, Plan, Implement</a:t>
            </a:r>
            <a:endParaRPr lang="en-US" sz="2600" dirty="0"/>
          </a:p>
        </p:txBody>
      </p:sp>
      <p:sp>
        <p:nvSpPr>
          <p:cNvPr id="4" name="Text 2"/>
          <p:cNvSpPr/>
          <p:nvPr/>
        </p:nvSpPr>
        <p:spPr>
          <a:xfrm>
            <a:off x="731520" y="777240"/>
            <a:ext cx="7680960" cy="274320"/>
          </a:xfrm>
          <a:prstGeom prst="rect">
            <a:avLst/>
          </a:prstGeom>
          <a:noFill/>
          <a:ln/>
        </p:spPr>
        <p:txBody>
          <a:bodyPr wrap="square" lIns="0" tIns="0" rIns="0" bIns="0" rtlCol="0" anchor="ctr"/>
          <a:lstStyle/>
          <a:p>
            <a:pPr marL="0" indent="0">
              <a:buNone/>
            </a:pPr>
            <a:r>
              <a:rPr lang="en-US" sz="1200" dirty="0">
                <a:solidFill>
                  <a:srgbClr val="C8D6E5"/>
                </a:solidFill>
                <a:latin typeface="Calibri" pitchFamily="34" charset="0"/>
                <a:ea typeface="Calibri" pitchFamily="34" charset="-122"/>
                <a:cs typeface="Calibri" pitchFamily="34" charset="-120"/>
              </a:rPr>
              <a:t>Design your entire workflow around context management</a:t>
            </a:r>
            <a:endParaRPr lang="en-US" sz="1200" dirty="0"/>
          </a:p>
        </p:txBody>
      </p:sp>
      <p:sp>
        <p:nvSpPr>
          <p:cNvPr id="5" name="Shape 3"/>
          <p:cNvSpPr/>
          <p:nvPr/>
        </p:nvSpPr>
        <p:spPr>
          <a:xfrm>
            <a:off x="731520" y="1280160"/>
            <a:ext cx="2560320" cy="3200400"/>
          </a:xfrm>
          <a:prstGeom prst="rect">
            <a:avLst/>
          </a:prstGeom>
          <a:solidFill>
            <a:srgbClr val="1C2541"/>
          </a:solidFill>
          <a:ln/>
          <a:effectLst>
            <a:outerShdw blurRad="101600" dist="25400" dir="8100000" algn="bl" rotWithShape="0">
              <a:srgbClr val="000000">
                <a:alpha val="8000"/>
              </a:srgbClr>
            </a:outerShdw>
          </a:effectLst>
        </p:spPr>
        <p:txBody>
          <a:bodyPr/>
          <a:lstStyle/>
          <a:p>
            <a:endParaRPr lang="en-US"/>
          </a:p>
        </p:txBody>
      </p:sp>
      <p:sp>
        <p:nvSpPr>
          <p:cNvPr id="6" name="Shape 4"/>
          <p:cNvSpPr/>
          <p:nvPr/>
        </p:nvSpPr>
        <p:spPr>
          <a:xfrm>
            <a:off x="731520" y="1280160"/>
            <a:ext cx="2560320" cy="54864"/>
          </a:xfrm>
          <a:prstGeom prst="rect">
            <a:avLst/>
          </a:prstGeom>
          <a:solidFill>
            <a:srgbClr val="0055DD"/>
          </a:solidFill>
          <a:ln/>
        </p:spPr>
        <p:txBody>
          <a:bodyPr/>
          <a:lstStyle/>
          <a:p>
            <a:endParaRPr lang="en-US"/>
          </a:p>
        </p:txBody>
      </p:sp>
      <p:sp>
        <p:nvSpPr>
          <p:cNvPr id="7" name="Shape 5"/>
          <p:cNvSpPr/>
          <p:nvPr/>
        </p:nvSpPr>
        <p:spPr>
          <a:xfrm>
            <a:off x="1691640" y="1508760"/>
            <a:ext cx="594360" cy="594360"/>
          </a:xfrm>
          <a:prstGeom prst="ellipse">
            <a:avLst/>
          </a:prstGeom>
          <a:solidFill>
            <a:srgbClr val="0055DD"/>
          </a:solidFill>
          <a:ln/>
        </p:spPr>
        <p:txBody>
          <a:bodyPr/>
          <a:lstStyle/>
          <a:p>
            <a:endParaRPr lang="en-US"/>
          </a:p>
        </p:txBody>
      </p:sp>
      <p:sp>
        <p:nvSpPr>
          <p:cNvPr id="8" name="Text 6"/>
          <p:cNvSpPr/>
          <p:nvPr/>
        </p:nvSpPr>
        <p:spPr>
          <a:xfrm>
            <a:off x="1691640" y="150876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9" name="Text 7"/>
          <p:cNvSpPr/>
          <p:nvPr/>
        </p:nvSpPr>
        <p:spPr>
          <a:xfrm>
            <a:off x="914400" y="2286000"/>
            <a:ext cx="219456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Research</a:t>
            </a:r>
            <a:endParaRPr lang="en-US" sz="1800" dirty="0"/>
          </a:p>
        </p:txBody>
      </p:sp>
      <p:pic>
        <p:nvPicPr>
          <p:cNvPr id="10" name="Image 0" descr="preencoded.png"/>
          <p:cNvPicPr>
            <a:picLocks noChangeAspect="1"/>
          </p:cNvPicPr>
          <p:nvPr/>
        </p:nvPicPr>
        <p:blipFill>
          <a:blip r:embed="rId3"/>
          <a:stretch>
            <a:fillRect/>
          </a:stretch>
        </p:blipFill>
        <p:spPr>
          <a:xfrm>
            <a:off x="1737360" y="2743200"/>
            <a:ext cx="457200" cy="457200"/>
          </a:xfrm>
          <a:prstGeom prst="rect">
            <a:avLst/>
          </a:prstGeom>
        </p:spPr>
      </p:pic>
      <p:sp>
        <p:nvSpPr>
          <p:cNvPr id="11" name="Text 8"/>
          <p:cNvSpPr/>
          <p:nvPr/>
        </p:nvSpPr>
        <p:spPr>
          <a:xfrm>
            <a:off x="914400" y="3291840"/>
            <a:ext cx="2194560" cy="914400"/>
          </a:xfrm>
          <a:prstGeom prst="rect">
            <a:avLst/>
          </a:prstGeom>
          <a:noFill/>
          <a:ln/>
        </p:spPr>
        <p:txBody>
          <a:bodyPr wrap="square" lIns="0" tIns="0" rIns="0" bIns="0" rtlCol="0" anchor="ctr"/>
          <a:lstStyle/>
          <a:p>
            <a:pPr marL="0" indent="0" algn="ctr">
              <a:buNone/>
            </a:pPr>
            <a:r>
              <a:rPr lang="en-US" sz="1000" dirty="0">
                <a:solidFill>
                  <a:srgbClr val="C8D6E5"/>
                </a:solidFill>
                <a:latin typeface="Calibri" pitchFamily="34" charset="0"/>
                <a:ea typeface="Calibri" pitchFamily="34" charset="-122"/>
                <a:cs typeface="Calibri" pitchFamily="34" charset="-120"/>
              </a:rPr>
              <a:t>Understand the codebase, relevant files, data flow, and potential causes. Use subagents to keep the main context clean.</a:t>
            </a:r>
            <a:endParaRPr lang="en-US" sz="1000" dirty="0"/>
          </a:p>
        </p:txBody>
      </p:sp>
      <p:sp>
        <p:nvSpPr>
          <p:cNvPr id="12" name="Shape 9"/>
          <p:cNvSpPr/>
          <p:nvPr/>
        </p:nvSpPr>
        <p:spPr>
          <a:xfrm>
            <a:off x="3520440" y="1280160"/>
            <a:ext cx="2560320" cy="3200400"/>
          </a:xfrm>
          <a:prstGeom prst="rect">
            <a:avLst/>
          </a:prstGeom>
          <a:solidFill>
            <a:srgbClr val="1C2541"/>
          </a:solidFill>
          <a:ln/>
          <a:effectLst>
            <a:outerShdw blurRad="101600" dist="25400" dir="8100000" algn="bl" rotWithShape="0">
              <a:srgbClr val="000000">
                <a:alpha val="8000"/>
              </a:srgbClr>
            </a:outerShdw>
          </a:effectLst>
        </p:spPr>
        <p:txBody>
          <a:bodyPr/>
          <a:lstStyle/>
          <a:p>
            <a:endParaRPr lang="en-US"/>
          </a:p>
        </p:txBody>
      </p:sp>
      <p:sp>
        <p:nvSpPr>
          <p:cNvPr id="13" name="Shape 10"/>
          <p:cNvSpPr/>
          <p:nvPr/>
        </p:nvSpPr>
        <p:spPr>
          <a:xfrm>
            <a:off x="3520440" y="1280160"/>
            <a:ext cx="2560320" cy="54864"/>
          </a:xfrm>
          <a:prstGeom prst="rect">
            <a:avLst/>
          </a:prstGeom>
          <a:solidFill>
            <a:srgbClr val="00BBDD"/>
          </a:solidFill>
          <a:ln/>
        </p:spPr>
        <p:txBody>
          <a:bodyPr/>
          <a:lstStyle/>
          <a:p>
            <a:endParaRPr lang="en-US"/>
          </a:p>
        </p:txBody>
      </p:sp>
      <p:sp>
        <p:nvSpPr>
          <p:cNvPr id="14" name="Shape 11"/>
          <p:cNvSpPr/>
          <p:nvPr/>
        </p:nvSpPr>
        <p:spPr>
          <a:xfrm>
            <a:off x="4480560" y="1508760"/>
            <a:ext cx="594360" cy="594360"/>
          </a:xfrm>
          <a:prstGeom prst="ellipse">
            <a:avLst/>
          </a:prstGeom>
          <a:solidFill>
            <a:srgbClr val="00BBDD"/>
          </a:solidFill>
          <a:ln/>
        </p:spPr>
        <p:txBody>
          <a:bodyPr/>
          <a:lstStyle/>
          <a:p>
            <a:endParaRPr lang="en-US"/>
          </a:p>
        </p:txBody>
      </p:sp>
      <p:sp>
        <p:nvSpPr>
          <p:cNvPr id="15" name="Text 12"/>
          <p:cNvSpPr/>
          <p:nvPr/>
        </p:nvSpPr>
        <p:spPr>
          <a:xfrm>
            <a:off x="4480560" y="150876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6" name="Text 13"/>
          <p:cNvSpPr/>
          <p:nvPr/>
        </p:nvSpPr>
        <p:spPr>
          <a:xfrm>
            <a:off x="3703320" y="2286000"/>
            <a:ext cx="219456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Plan</a:t>
            </a:r>
            <a:endParaRPr lang="en-US" sz="1800" dirty="0"/>
          </a:p>
        </p:txBody>
      </p:sp>
      <p:pic>
        <p:nvPicPr>
          <p:cNvPr id="17" name="Image 1" descr="preencoded.png"/>
          <p:cNvPicPr>
            <a:picLocks noChangeAspect="1"/>
          </p:cNvPicPr>
          <p:nvPr/>
        </p:nvPicPr>
        <p:blipFill>
          <a:blip r:embed="rId4"/>
          <a:stretch>
            <a:fillRect/>
          </a:stretch>
        </p:blipFill>
        <p:spPr>
          <a:xfrm>
            <a:off x="4526280" y="2743200"/>
            <a:ext cx="457200" cy="457200"/>
          </a:xfrm>
          <a:prstGeom prst="rect">
            <a:avLst/>
          </a:prstGeom>
        </p:spPr>
      </p:pic>
      <p:sp>
        <p:nvSpPr>
          <p:cNvPr id="18" name="Text 14"/>
          <p:cNvSpPr/>
          <p:nvPr/>
        </p:nvSpPr>
        <p:spPr>
          <a:xfrm>
            <a:off x="3703320" y="3291840"/>
            <a:ext cx="2194560" cy="914400"/>
          </a:xfrm>
          <a:prstGeom prst="rect">
            <a:avLst/>
          </a:prstGeom>
          <a:noFill/>
          <a:ln/>
        </p:spPr>
        <p:txBody>
          <a:bodyPr wrap="square" lIns="0" tIns="0" rIns="0" bIns="0" rtlCol="0" anchor="ctr"/>
          <a:lstStyle/>
          <a:p>
            <a:pPr marL="0" indent="0" algn="ctr">
              <a:buNone/>
            </a:pPr>
            <a:r>
              <a:rPr lang="en-US" sz="1000" dirty="0">
                <a:solidFill>
                  <a:srgbClr val="C8D6E5"/>
                </a:solidFill>
                <a:latin typeface="Calibri" pitchFamily="34" charset="0"/>
                <a:ea typeface="Calibri" pitchFamily="34" charset="-122"/>
                <a:cs typeface="Calibri" pitchFamily="34" charset="-120"/>
              </a:rPr>
              <a:t>Outline exact steps, files to edit, and precise testing/verification for each phase. Human reviews the plan.</a:t>
            </a:r>
            <a:endParaRPr lang="en-US" sz="1000" dirty="0"/>
          </a:p>
        </p:txBody>
      </p:sp>
      <p:sp>
        <p:nvSpPr>
          <p:cNvPr id="19" name="Shape 15"/>
          <p:cNvSpPr/>
          <p:nvPr/>
        </p:nvSpPr>
        <p:spPr>
          <a:xfrm>
            <a:off x="6309360" y="1280160"/>
            <a:ext cx="2560320" cy="3200400"/>
          </a:xfrm>
          <a:prstGeom prst="rect">
            <a:avLst/>
          </a:prstGeom>
          <a:solidFill>
            <a:srgbClr val="1C2541"/>
          </a:solidFill>
          <a:ln/>
          <a:effectLst>
            <a:outerShdw blurRad="101600" dist="25400" dir="8100000" algn="bl" rotWithShape="0">
              <a:srgbClr val="000000">
                <a:alpha val="8000"/>
              </a:srgbClr>
            </a:outerShdw>
          </a:effectLst>
        </p:spPr>
        <p:txBody>
          <a:bodyPr/>
          <a:lstStyle/>
          <a:p>
            <a:endParaRPr lang="en-US"/>
          </a:p>
        </p:txBody>
      </p:sp>
      <p:sp>
        <p:nvSpPr>
          <p:cNvPr id="20" name="Shape 16"/>
          <p:cNvSpPr/>
          <p:nvPr/>
        </p:nvSpPr>
        <p:spPr>
          <a:xfrm>
            <a:off x="6309360" y="1280160"/>
            <a:ext cx="2560320" cy="54864"/>
          </a:xfrm>
          <a:prstGeom prst="rect">
            <a:avLst/>
          </a:prstGeom>
          <a:solidFill>
            <a:srgbClr val="4338CA"/>
          </a:solidFill>
          <a:ln/>
        </p:spPr>
        <p:txBody>
          <a:bodyPr/>
          <a:lstStyle/>
          <a:p>
            <a:endParaRPr lang="en-US"/>
          </a:p>
        </p:txBody>
      </p:sp>
      <p:sp>
        <p:nvSpPr>
          <p:cNvPr id="21" name="Shape 17"/>
          <p:cNvSpPr/>
          <p:nvPr/>
        </p:nvSpPr>
        <p:spPr>
          <a:xfrm>
            <a:off x="7269480" y="1508760"/>
            <a:ext cx="594360" cy="594360"/>
          </a:xfrm>
          <a:prstGeom prst="ellipse">
            <a:avLst/>
          </a:prstGeom>
          <a:solidFill>
            <a:srgbClr val="4338CA"/>
          </a:solidFill>
          <a:ln/>
        </p:spPr>
        <p:txBody>
          <a:bodyPr/>
          <a:lstStyle/>
          <a:p>
            <a:endParaRPr lang="en-US"/>
          </a:p>
        </p:txBody>
      </p:sp>
      <p:sp>
        <p:nvSpPr>
          <p:cNvPr id="22" name="Text 18"/>
          <p:cNvSpPr/>
          <p:nvPr/>
        </p:nvSpPr>
        <p:spPr>
          <a:xfrm>
            <a:off x="7269480" y="150876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3" name="Text 19"/>
          <p:cNvSpPr/>
          <p:nvPr/>
        </p:nvSpPr>
        <p:spPr>
          <a:xfrm>
            <a:off x="6492240" y="2286000"/>
            <a:ext cx="219456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Implement</a:t>
            </a:r>
            <a:endParaRPr lang="en-US" sz="1800" dirty="0"/>
          </a:p>
        </p:txBody>
      </p:sp>
      <p:pic>
        <p:nvPicPr>
          <p:cNvPr id="24" name="Image 2" descr="preencoded.png"/>
          <p:cNvPicPr>
            <a:picLocks noChangeAspect="1"/>
          </p:cNvPicPr>
          <p:nvPr/>
        </p:nvPicPr>
        <p:blipFill>
          <a:blip r:embed="rId5"/>
          <a:stretch>
            <a:fillRect/>
          </a:stretch>
        </p:blipFill>
        <p:spPr>
          <a:xfrm>
            <a:off x="7315200" y="2743200"/>
            <a:ext cx="457200" cy="457200"/>
          </a:xfrm>
          <a:prstGeom prst="rect">
            <a:avLst/>
          </a:prstGeom>
        </p:spPr>
      </p:pic>
      <p:sp>
        <p:nvSpPr>
          <p:cNvPr id="25" name="Text 20"/>
          <p:cNvSpPr/>
          <p:nvPr/>
        </p:nvSpPr>
        <p:spPr>
          <a:xfrm>
            <a:off x="6492240" y="3291840"/>
            <a:ext cx="2194560" cy="914400"/>
          </a:xfrm>
          <a:prstGeom prst="rect">
            <a:avLst/>
          </a:prstGeom>
          <a:noFill/>
          <a:ln/>
        </p:spPr>
        <p:txBody>
          <a:bodyPr wrap="square" lIns="0" tIns="0" rIns="0" bIns="0" rtlCol="0" anchor="ctr"/>
          <a:lstStyle/>
          <a:p>
            <a:pPr marL="0" indent="0" algn="ctr">
              <a:buNone/>
            </a:pPr>
            <a:r>
              <a:rPr lang="en-US" sz="1000" dirty="0">
                <a:solidFill>
                  <a:srgbClr val="C8D6E5"/>
                </a:solidFill>
                <a:latin typeface="Calibri" pitchFamily="34" charset="0"/>
                <a:ea typeface="Calibri" pitchFamily="34" charset="-122"/>
                <a:cs typeface="Calibri" pitchFamily="34" charset="-120"/>
              </a:rPr>
              <a:t>Execute phase by phase. Compact status back into the plan file after each phase is verified.</a:t>
            </a:r>
            <a:endParaRPr lang="en-US" sz="1000" dirty="0"/>
          </a:p>
        </p:txBody>
      </p:sp>
      <p:sp>
        <p:nvSpPr>
          <p:cNvPr id="26" name="Text 2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8899AA"/>
                </a:solidFill>
                <a:latin typeface="Calibri" pitchFamily="34" charset="0"/>
                <a:ea typeface="Calibri" pitchFamily="34" charset="-122"/>
                <a:cs typeface="Calibri" pitchFamily="34" charset="-120"/>
              </a:rPr>
              <a:t>6 / 14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55DD"/>
          </a:solidFill>
          <a:ln/>
        </p:spPr>
        <p:txBody>
          <a:bodyPr/>
          <a:lstStyle/>
          <a:p>
            <a:endParaRPr lang="en-US"/>
          </a:p>
        </p:txBody>
      </p:sp>
      <p:sp>
        <p:nvSpPr>
          <p:cNvPr id="3" name="Text 1"/>
          <p:cNvSpPr/>
          <p:nvPr/>
        </p:nvSpPr>
        <p:spPr>
          <a:xfrm>
            <a:off x="731520" y="365760"/>
            <a:ext cx="7680960" cy="457200"/>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Sub-Agents: Context Control</a:t>
            </a:r>
            <a:endParaRPr lang="en-US" sz="2800" dirty="0"/>
          </a:p>
        </p:txBody>
      </p:sp>
      <p:sp>
        <p:nvSpPr>
          <p:cNvPr id="4" name="Text 2"/>
          <p:cNvSpPr/>
          <p:nvPr/>
        </p:nvSpPr>
        <p:spPr>
          <a:xfrm>
            <a:off x="731520" y="822960"/>
            <a:ext cx="7680960" cy="274320"/>
          </a:xfrm>
          <a:prstGeom prst="rect">
            <a:avLst/>
          </a:prstGeom>
          <a:noFill/>
          <a:ln/>
        </p:spPr>
        <p:txBody>
          <a:bodyPr wrap="square" lIns="0" tIns="0" rIns="0" bIns="0" rtlCol="0" anchor="ctr"/>
          <a:lstStyle/>
          <a:p>
            <a:pPr marL="0" indent="0">
              <a:buNone/>
            </a:pPr>
            <a:r>
              <a:rPr lang="en-US" sz="1200" i="1" dirty="0">
                <a:solidFill>
                  <a:srgbClr val="6B7C93"/>
                </a:solidFill>
                <a:latin typeface="Calibri" pitchFamily="34" charset="0"/>
                <a:ea typeface="Calibri" pitchFamily="34" charset="-122"/>
                <a:cs typeface="Calibri" pitchFamily="34" charset="-120"/>
              </a:rPr>
              <a:t>Subagents aren't about role-playing. They're about keeping context clean.</a:t>
            </a:r>
            <a:endParaRPr lang="en-US" sz="1200" dirty="0"/>
          </a:p>
        </p:txBody>
      </p:sp>
      <p:sp>
        <p:nvSpPr>
          <p:cNvPr id="5" name="Text 3"/>
          <p:cNvSpPr/>
          <p:nvPr/>
        </p:nvSpPr>
        <p:spPr>
          <a:xfrm>
            <a:off x="731520" y="1325880"/>
            <a:ext cx="3657600" cy="320040"/>
          </a:xfrm>
          <a:prstGeom prst="rect">
            <a:avLst/>
          </a:prstGeom>
          <a:noFill/>
          <a:ln/>
        </p:spPr>
        <p:txBody>
          <a:bodyPr wrap="square" lIns="0" tIns="0" rIns="0" bIns="0" rtlCol="0" anchor="ctr"/>
          <a:lstStyle/>
          <a:p>
            <a:pPr marL="0" indent="0">
              <a:buNone/>
            </a:pPr>
            <a:r>
              <a:rPr lang="en-US" sz="1500" b="1" dirty="0">
                <a:solidFill>
                  <a:srgbClr val="0055DD"/>
                </a:solidFill>
                <a:latin typeface="Calibri" pitchFamily="34" charset="0"/>
                <a:ea typeface="Calibri" pitchFamily="34" charset="-122"/>
                <a:cs typeface="Calibri" pitchFamily="34" charset="-120"/>
              </a:rPr>
              <a:t>How It Works</a:t>
            </a:r>
            <a:endParaRPr lang="en-US" sz="1500" dirty="0"/>
          </a:p>
        </p:txBody>
      </p:sp>
      <p:sp>
        <p:nvSpPr>
          <p:cNvPr id="6" name="Shape 4"/>
          <p:cNvSpPr/>
          <p:nvPr/>
        </p:nvSpPr>
        <p:spPr>
          <a:xfrm>
            <a:off x="731520" y="1783080"/>
            <a:ext cx="3657600" cy="50292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7" name="Shape 5"/>
          <p:cNvSpPr/>
          <p:nvPr/>
        </p:nvSpPr>
        <p:spPr>
          <a:xfrm>
            <a:off x="731520" y="1783080"/>
            <a:ext cx="45720" cy="502920"/>
          </a:xfrm>
          <a:prstGeom prst="rect">
            <a:avLst/>
          </a:prstGeom>
          <a:solidFill>
            <a:srgbClr val="0055DD"/>
          </a:solidFill>
          <a:ln/>
        </p:spPr>
        <p:txBody>
          <a:bodyPr/>
          <a:lstStyle/>
          <a:p>
            <a:endParaRPr lang="en-US"/>
          </a:p>
        </p:txBody>
      </p:sp>
      <p:sp>
        <p:nvSpPr>
          <p:cNvPr id="8" name="Text 6"/>
          <p:cNvSpPr/>
          <p:nvPr/>
        </p:nvSpPr>
        <p:spPr>
          <a:xfrm>
            <a:off x="1005840" y="1783080"/>
            <a:ext cx="3200400" cy="50292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Main agent stays focused on the task</a:t>
            </a:r>
            <a:endParaRPr lang="en-US" sz="1100" dirty="0"/>
          </a:p>
        </p:txBody>
      </p:sp>
      <p:sp>
        <p:nvSpPr>
          <p:cNvPr id="9" name="Shape 7"/>
          <p:cNvSpPr/>
          <p:nvPr/>
        </p:nvSpPr>
        <p:spPr>
          <a:xfrm>
            <a:off x="731520" y="2404872"/>
            <a:ext cx="3657600" cy="50292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10" name="Shape 8"/>
          <p:cNvSpPr/>
          <p:nvPr/>
        </p:nvSpPr>
        <p:spPr>
          <a:xfrm>
            <a:off x="731520" y="2404872"/>
            <a:ext cx="45720" cy="502920"/>
          </a:xfrm>
          <a:prstGeom prst="rect">
            <a:avLst/>
          </a:prstGeom>
          <a:solidFill>
            <a:srgbClr val="0055DD"/>
          </a:solidFill>
          <a:ln/>
        </p:spPr>
        <p:txBody>
          <a:bodyPr/>
          <a:lstStyle/>
          <a:p>
            <a:endParaRPr lang="en-US"/>
          </a:p>
        </p:txBody>
      </p:sp>
      <p:sp>
        <p:nvSpPr>
          <p:cNvPr id="11" name="Text 9"/>
          <p:cNvSpPr/>
          <p:nvPr/>
        </p:nvSpPr>
        <p:spPr>
          <a:xfrm>
            <a:off x="1005840" y="2404872"/>
            <a:ext cx="3200400" cy="50292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Subagents do searching/summarizing in a fresh context window</a:t>
            </a:r>
            <a:endParaRPr lang="en-US" sz="1100" dirty="0"/>
          </a:p>
        </p:txBody>
      </p:sp>
      <p:sp>
        <p:nvSpPr>
          <p:cNvPr id="12" name="Shape 10"/>
          <p:cNvSpPr/>
          <p:nvPr/>
        </p:nvSpPr>
        <p:spPr>
          <a:xfrm>
            <a:off x="731520" y="3026664"/>
            <a:ext cx="3657600" cy="50292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13" name="Shape 11"/>
          <p:cNvSpPr/>
          <p:nvPr/>
        </p:nvSpPr>
        <p:spPr>
          <a:xfrm>
            <a:off x="731520" y="3026664"/>
            <a:ext cx="45720" cy="502920"/>
          </a:xfrm>
          <a:prstGeom prst="rect">
            <a:avLst/>
          </a:prstGeom>
          <a:solidFill>
            <a:srgbClr val="0055DD"/>
          </a:solidFill>
          <a:ln/>
        </p:spPr>
        <p:txBody>
          <a:bodyPr/>
          <a:lstStyle/>
          <a:p>
            <a:endParaRPr lang="en-US"/>
          </a:p>
        </p:txBody>
      </p:sp>
      <p:sp>
        <p:nvSpPr>
          <p:cNvPr id="14" name="Text 12"/>
          <p:cNvSpPr/>
          <p:nvPr/>
        </p:nvSpPr>
        <p:spPr>
          <a:xfrm>
            <a:off x="1005840" y="3026664"/>
            <a:ext cx="3200400" cy="50292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Results return as compact, structured summaries</a:t>
            </a:r>
            <a:endParaRPr lang="en-US" sz="1100" dirty="0"/>
          </a:p>
        </p:txBody>
      </p:sp>
      <p:sp>
        <p:nvSpPr>
          <p:cNvPr id="15" name="Shape 13"/>
          <p:cNvSpPr/>
          <p:nvPr/>
        </p:nvSpPr>
        <p:spPr>
          <a:xfrm>
            <a:off x="731520" y="3648456"/>
            <a:ext cx="3657600" cy="50292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16" name="Shape 14"/>
          <p:cNvSpPr/>
          <p:nvPr/>
        </p:nvSpPr>
        <p:spPr>
          <a:xfrm>
            <a:off x="731520" y="3648456"/>
            <a:ext cx="45720" cy="502920"/>
          </a:xfrm>
          <a:prstGeom prst="rect">
            <a:avLst/>
          </a:prstGeom>
          <a:solidFill>
            <a:srgbClr val="0055DD"/>
          </a:solidFill>
          <a:ln/>
        </p:spPr>
        <p:txBody>
          <a:bodyPr/>
          <a:lstStyle/>
          <a:p>
            <a:endParaRPr lang="en-US"/>
          </a:p>
        </p:txBody>
      </p:sp>
      <p:sp>
        <p:nvSpPr>
          <p:cNvPr id="17" name="Text 15"/>
          <p:cNvSpPr/>
          <p:nvPr/>
        </p:nvSpPr>
        <p:spPr>
          <a:xfrm>
            <a:off x="1005840" y="3648456"/>
            <a:ext cx="3200400" cy="50292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Main context never fills with glob/grep/read noise</a:t>
            </a:r>
            <a:endParaRPr lang="en-US" sz="1100" dirty="0"/>
          </a:p>
        </p:txBody>
      </p:sp>
      <p:sp>
        <p:nvSpPr>
          <p:cNvPr id="18" name="Text 16"/>
          <p:cNvSpPr/>
          <p:nvPr/>
        </p:nvSpPr>
        <p:spPr>
          <a:xfrm>
            <a:off x="4937760" y="1325880"/>
            <a:ext cx="3657600" cy="320040"/>
          </a:xfrm>
          <a:prstGeom prst="rect">
            <a:avLst/>
          </a:prstGeom>
          <a:noFill/>
          <a:ln/>
        </p:spPr>
        <p:txBody>
          <a:bodyPr wrap="square" lIns="0" tIns="0" rIns="0" bIns="0" rtlCol="0" anchor="ctr"/>
          <a:lstStyle/>
          <a:p>
            <a:pPr marL="0" indent="0">
              <a:buNone/>
            </a:pPr>
            <a:r>
              <a:rPr lang="en-US" sz="1500" b="1" dirty="0">
                <a:solidFill>
                  <a:srgbClr val="0055DD"/>
                </a:solidFill>
                <a:latin typeface="Calibri" pitchFamily="34" charset="0"/>
                <a:ea typeface="Calibri" pitchFamily="34" charset="-122"/>
                <a:cs typeface="Calibri" pitchFamily="34" charset="-120"/>
              </a:rPr>
              <a:t>Example Agents</a:t>
            </a:r>
            <a:endParaRPr lang="en-US" sz="1500" dirty="0"/>
          </a:p>
        </p:txBody>
      </p:sp>
      <p:sp>
        <p:nvSpPr>
          <p:cNvPr id="19" name="Shape 17"/>
          <p:cNvSpPr/>
          <p:nvPr/>
        </p:nvSpPr>
        <p:spPr>
          <a:xfrm>
            <a:off x="4937760" y="1783080"/>
            <a:ext cx="3474720" cy="438912"/>
          </a:xfrm>
          <a:prstGeom prst="rect">
            <a:avLst/>
          </a:prstGeom>
          <a:solidFill>
            <a:srgbClr val="141B2D"/>
          </a:solidFill>
          <a:ln/>
        </p:spPr>
        <p:txBody>
          <a:bodyPr/>
          <a:lstStyle/>
          <a:p>
            <a:endParaRPr lang="en-US"/>
          </a:p>
        </p:txBody>
      </p:sp>
      <p:sp>
        <p:nvSpPr>
          <p:cNvPr id="20" name="Text 18"/>
          <p:cNvSpPr/>
          <p:nvPr/>
        </p:nvSpPr>
        <p:spPr>
          <a:xfrm>
            <a:off x="5120640" y="1783080"/>
            <a:ext cx="1645920" cy="438912"/>
          </a:xfrm>
          <a:prstGeom prst="rect">
            <a:avLst/>
          </a:prstGeom>
          <a:noFill/>
          <a:ln/>
        </p:spPr>
        <p:txBody>
          <a:bodyPr wrap="square" lIns="0" tIns="0" rIns="0" bIns="0" rtlCol="0" anchor="ctr"/>
          <a:lstStyle/>
          <a:p>
            <a:pPr marL="0" indent="0">
              <a:buNone/>
            </a:pPr>
            <a:r>
              <a:rPr lang="en-US" sz="1000" dirty="0">
                <a:solidFill>
                  <a:srgbClr val="00BBDD"/>
                </a:solidFill>
                <a:latin typeface="Consolas" pitchFamily="34" charset="0"/>
                <a:ea typeface="Consolas" pitchFamily="34" charset="-122"/>
                <a:cs typeface="Consolas" pitchFamily="34" charset="-120"/>
              </a:rPr>
              <a:t>codebase-locator</a:t>
            </a:r>
            <a:endParaRPr lang="en-US" sz="1000" dirty="0"/>
          </a:p>
        </p:txBody>
      </p:sp>
      <p:sp>
        <p:nvSpPr>
          <p:cNvPr id="21" name="Text 19"/>
          <p:cNvSpPr/>
          <p:nvPr/>
        </p:nvSpPr>
        <p:spPr>
          <a:xfrm>
            <a:off x="6858000" y="1783080"/>
            <a:ext cx="1371600" cy="438912"/>
          </a:xfrm>
          <a:prstGeom prst="rect">
            <a:avLst/>
          </a:prstGeom>
          <a:noFill/>
          <a:ln/>
        </p:spPr>
        <p:txBody>
          <a:bodyPr wrap="square" lIns="0" tIns="0" rIns="0" bIns="0" rtlCol="0" anchor="ctr"/>
          <a:lstStyle/>
          <a:p>
            <a:pPr marL="0" indent="0">
              <a:buNone/>
            </a:pPr>
            <a:r>
              <a:rPr lang="en-US" sz="1000" dirty="0">
                <a:solidFill>
                  <a:srgbClr val="C8D6E5"/>
                </a:solidFill>
                <a:latin typeface="Calibri" pitchFamily="34" charset="0"/>
                <a:ea typeface="Calibri" pitchFamily="34" charset="-122"/>
                <a:cs typeface="Calibri" pitchFamily="34" charset="-120"/>
              </a:rPr>
              <a:t>Find WHERE files live</a:t>
            </a:r>
            <a:endParaRPr lang="en-US" sz="1000" dirty="0"/>
          </a:p>
        </p:txBody>
      </p:sp>
      <p:sp>
        <p:nvSpPr>
          <p:cNvPr id="22" name="Shape 20"/>
          <p:cNvSpPr/>
          <p:nvPr/>
        </p:nvSpPr>
        <p:spPr>
          <a:xfrm>
            <a:off x="4937760" y="2313432"/>
            <a:ext cx="3474720" cy="438912"/>
          </a:xfrm>
          <a:prstGeom prst="rect">
            <a:avLst/>
          </a:prstGeom>
          <a:solidFill>
            <a:srgbClr val="141B2D"/>
          </a:solidFill>
          <a:ln/>
        </p:spPr>
        <p:txBody>
          <a:bodyPr/>
          <a:lstStyle/>
          <a:p>
            <a:endParaRPr lang="en-US"/>
          </a:p>
        </p:txBody>
      </p:sp>
      <p:sp>
        <p:nvSpPr>
          <p:cNvPr id="23" name="Text 21"/>
          <p:cNvSpPr/>
          <p:nvPr/>
        </p:nvSpPr>
        <p:spPr>
          <a:xfrm>
            <a:off x="5120640" y="2313432"/>
            <a:ext cx="1645920" cy="438912"/>
          </a:xfrm>
          <a:prstGeom prst="rect">
            <a:avLst/>
          </a:prstGeom>
          <a:noFill/>
          <a:ln/>
        </p:spPr>
        <p:txBody>
          <a:bodyPr wrap="square" lIns="0" tIns="0" rIns="0" bIns="0" rtlCol="0" anchor="ctr"/>
          <a:lstStyle/>
          <a:p>
            <a:pPr marL="0" indent="0">
              <a:buNone/>
            </a:pPr>
            <a:r>
              <a:rPr lang="en-US" sz="1000" dirty="0">
                <a:solidFill>
                  <a:srgbClr val="00BBDD"/>
                </a:solidFill>
                <a:latin typeface="Consolas" pitchFamily="34" charset="0"/>
                <a:ea typeface="Consolas" pitchFamily="34" charset="-122"/>
                <a:cs typeface="Consolas" pitchFamily="34" charset="-120"/>
              </a:rPr>
              <a:t>codebase-analyzer</a:t>
            </a:r>
            <a:endParaRPr lang="en-US" sz="1000" dirty="0"/>
          </a:p>
        </p:txBody>
      </p:sp>
      <p:sp>
        <p:nvSpPr>
          <p:cNvPr id="24" name="Text 22"/>
          <p:cNvSpPr/>
          <p:nvPr/>
        </p:nvSpPr>
        <p:spPr>
          <a:xfrm>
            <a:off x="6858000" y="2313432"/>
            <a:ext cx="1371600" cy="438912"/>
          </a:xfrm>
          <a:prstGeom prst="rect">
            <a:avLst/>
          </a:prstGeom>
          <a:noFill/>
          <a:ln/>
        </p:spPr>
        <p:txBody>
          <a:bodyPr wrap="square" lIns="0" tIns="0" rIns="0" bIns="0" rtlCol="0" anchor="ctr"/>
          <a:lstStyle/>
          <a:p>
            <a:pPr marL="0" indent="0">
              <a:buNone/>
            </a:pPr>
            <a:r>
              <a:rPr lang="en-US" sz="1000" dirty="0">
                <a:solidFill>
                  <a:srgbClr val="C8D6E5"/>
                </a:solidFill>
                <a:latin typeface="Calibri" pitchFamily="34" charset="0"/>
                <a:ea typeface="Calibri" pitchFamily="34" charset="-122"/>
                <a:cs typeface="Calibri" pitchFamily="34" charset="-120"/>
              </a:rPr>
              <a:t>Understand HOW code works</a:t>
            </a:r>
            <a:endParaRPr lang="en-US" sz="1000" dirty="0"/>
          </a:p>
        </p:txBody>
      </p:sp>
      <p:sp>
        <p:nvSpPr>
          <p:cNvPr id="25" name="Shape 23"/>
          <p:cNvSpPr/>
          <p:nvPr/>
        </p:nvSpPr>
        <p:spPr>
          <a:xfrm>
            <a:off x="4937760" y="2843784"/>
            <a:ext cx="3474720" cy="438912"/>
          </a:xfrm>
          <a:prstGeom prst="rect">
            <a:avLst/>
          </a:prstGeom>
          <a:solidFill>
            <a:srgbClr val="141B2D"/>
          </a:solidFill>
          <a:ln/>
        </p:spPr>
        <p:txBody>
          <a:bodyPr/>
          <a:lstStyle/>
          <a:p>
            <a:endParaRPr lang="en-US"/>
          </a:p>
        </p:txBody>
      </p:sp>
      <p:sp>
        <p:nvSpPr>
          <p:cNvPr id="26" name="Text 24"/>
          <p:cNvSpPr/>
          <p:nvPr/>
        </p:nvSpPr>
        <p:spPr>
          <a:xfrm>
            <a:off x="5120640" y="2843784"/>
            <a:ext cx="1645920" cy="438912"/>
          </a:xfrm>
          <a:prstGeom prst="rect">
            <a:avLst/>
          </a:prstGeom>
          <a:noFill/>
          <a:ln/>
        </p:spPr>
        <p:txBody>
          <a:bodyPr wrap="square" lIns="0" tIns="0" rIns="0" bIns="0" rtlCol="0" anchor="ctr"/>
          <a:lstStyle/>
          <a:p>
            <a:pPr marL="0" indent="0">
              <a:buNone/>
            </a:pPr>
            <a:r>
              <a:rPr lang="en-US" sz="1000" dirty="0">
                <a:solidFill>
                  <a:srgbClr val="00BBDD"/>
                </a:solidFill>
                <a:latin typeface="Consolas" pitchFamily="34" charset="0"/>
                <a:ea typeface="Consolas" pitchFamily="34" charset="-122"/>
                <a:cs typeface="Consolas" pitchFamily="34" charset="-120"/>
              </a:rPr>
              <a:t>pattern-finder</a:t>
            </a:r>
            <a:endParaRPr lang="en-US" sz="1000" dirty="0"/>
          </a:p>
        </p:txBody>
      </p:sp>
      <p:sp>
        <p:nvSpPr>
          <p:cNvPr id="27" name="Text 25"/>
          <p:cNvSpPr/>
          <p:nvPr/>
        </p:nvSpPr>
        <p:spPr>
          <a:xfrm>
            <a:off x="6858000" y="2843784"/>
            <a:ext cx="1371600" cy="438912"/>
          </a:xfrm>
          <a:prstGeom prst="rect">
            <a:avLst/>
          </a:prstGeom>
          <a:noFill/>
          <a:ln/>
        </p:spPr>
        <p:txBody>
          <a:bodyPr wrap="square" lIns="0" tIns="0" rIns="0" bIns="0" rtlCol="0" anchor="ctr"/>
          <a:lstStyle/>
          <a:p>
            <a:pPr marL="0" indent="0">
              <a:buNone/>
            </a:pPr>
            <a:r>
              <a:rPr lang="en-US" sz="1000" dirty="0">
                <a:solidFill>
                  <a:srgbClr val="C8D6E5"/>
                </a:solidFill>
                <a:latin typeface="Calibri" pitchFamily="34" charset="0"/>
                <a:ea typeface="Calibri" pitchFamily="34" charset="-122"/>
                <a:cs typeface="Calibri" pitchFamily="34" charset="-120"/>
              </a:rPr>
              <a:t>Find similar implementations</a:t>
            </a:r>
            <a:endParaRPr lang="en-US" sz="1000" dirty="0"/>
          </a:p>
        </p:txBody>
      </p:sp>
      <p:sp>
        <p:nvSpPr>
          <p:cNvPr id="28" name="Shape 26"/>
          <p:cNvSpPr/>
          <p:nvPr/>
        </p:nvSpPr>
        <p:spPr>
          <a:xfrm>
            <a:off x="4937760" y="3374136"/>
            <a:ext cx="3474720" cy="438912"/>
          </a:xfrm>
          <a:prstGeom prst="rect">
            <a:avLst/>
          </a:prstGeom>
          <a:solidFill>
            <a:srgbClr val="141B2D"/>
          </a:solidFill>
          <a:ln/>
        </p:spPr>
        <p:txBody>
          <a:bodyPr/>
          <a:lstStyle/>
          <a:p>
            <a:endParaRPr lang="en-US"/>
          </a:p>
        </p:txBody>
      </p:sp>
      <p:sp>
        <p:nvSpPr>
          <p:cNvPr id="29" name="Text 27"/>
          <p:cNvSpPr/>
          <p:nvPr/>
        </p:nvSpPr>
        <p:spPr>
          <a:xfrm>
            <a:off x="5120640" y="3374136"/>
            <a:ext cx="1645920" cy="438912"/>
          </a:xfrm>
          <a:prstGeom prst="rect">
            <a:avLst/>
          </a:prstGeom>
          <a:noFill/>
          <a:ln/>
        </p:spPr>
        <p:txBody>
          <a:bodyPr wrap="square" lIns="0" tIns="0" rIns="0" bIns="0" rtlCol="0" anchor="ctr"/>
          <a:lstStyle/>
          <a:p>
            <a:pPr marL="0" indent="0">
              <a:buNone/>
            </a:pPr>
            <a:r>
              <a:rPr lang="en-US" sz="1000" dirty="0">
                <a:solidFill>
                  <a:srgbClr val="00BBDD"/>
                </a:solidFill>
                <a:latin typeface="Consolas" pitchFamily="34" charset="0"/>
                <a:ea typeface="Consolas" pitchFamily="34" charset="-122"/>
                <a:cs typeface="Consolas" pitchFamily="34" charset="-120"/>
              </a:rPr>
              <a:t>database-query</a:t>
            </a:r>
            <a:endParaRPr lang="en-US" sz="1000" dirty="0"/>
          </a:p>
        </p:txBody>
      </p:sp>
      <p:sp>
        <p:nvSpPr>
          <p:cNvPr id="30" name="Text 28"/>
          <p:cNvSpPr/>
          <p:nvPr/>
        </p:nvSpPr>
        <p:spPr>
          <a:xfrm>
            <a:off x="6858000" y="3374136"/>
            <a:ext cx="1371600" cy="438912"/>
          </a:xfrm>
          <a:prstGeom prst="rect">
            <a:avLst/>
          </a:prstGeom>
          <a:noFill/>
          <a:ln/>
        </p:spPr>
        <p:txBody>
          <a:bodyPr wrap="square" lIns="0" tIns="0" rIns="0" bIns="0" rtlCol="0" anchor="ctr"/>
          <a:lstStyle/>
          <a:p>
            <a:pPr marL="0" indent="0">
              <a:buNone/>
            </a:pPr>
            <a:r>
              <a:rPr lang="en-US" sz="1000" dirty="0">
                <a:solidFill>
                  <a:srgbClr val="C8D6E5"/>
                </a:solidFill>
                <a:latin typeface="Calibri" pitchFamily="34" charset="0"/>
                <a:ea typeface="Calibri" pitchFamily="34" charset="-122"/>
                <a:cs typeface="Calibri" pitchFamily="34" charset="-120"/>
              </a:rPr>
              <a:t>Query schemas &amp; data</a:t>
            </a:r>
            <a:endParaRPr lang="en-US" sz="1000" dirty="0"/>
          </a:p>
        </p:txBody>
      </p:sp>
      <p:sp>
        <p:nvSpPr>
          <p:cNvPr id="31" name="Shape 29"/>
          <p:cNvSpPr/>
          <p:nvPr/>
        </p:nvSpPr>
        <p:spPr>
          <a:xfrm>
            <a:off x="4937760" y="3904488"/>
            <a:ext cx="3474720" cy="438912"/>
          </a:xfrm>
          <a:prstGeom prst="rect">
            <a:avLst/>
          </a:prstGeom>
          <a:solidFill>
            <a:srgbClr val="141B2D"/>
          </a:solidFill>
          <a:ln/>
        </p:spPr>
        <p:txBody>
          <a:bodyPr/>
          <a:lstStyle/>
          <a:p>
            <a:endParaRPr lang="en-US"/>
          </a:p>
        </p:txBody>
      </p:sp>
      <p:sp>
        <p:nvSpPr>
          <p:cNvPr id="32" name="Text 30"/>
          <p:cNvSpPr/>
          <p:nvPr/>
        </p:nvSpPr>
        <p:spPr>
          <a:xfrm>
            <a:off x="5120640" y="3904488"/>
            <a:ext cx="1645920" cy="438912"/>
          </a:xfrm>
          <a:prstGeom prst="rect">
            <a:avLst/>
          </a:prstGeom>
          <a:noFill/>
          <a:ln/>
        </p:spPr>
        <p:txBody>
          <a:bodyPr wrap="square" lIns="0" tIns="0" rIns="0" bIns="0" rtlCol="0" anchor="ctr"/>
          <a:lstStyle/>
          <a:p>
            <a:pPr marL="0" indent="0">
              <a:buNone/>
            </a:pPr>
            <a:r>
              <a:rPr lang="en-US" sz="1000" dirty="0">
                <a:solidFill>
                  <a:srgbClr val="00BBDD"/>
                </a:solidFill>
                <a:latin typeface="Consolas" pitchFamily="34" charset="0"/>
                <a:ea typeface="Consolas" pitchFamily="34" charset="-122"/>
                <a:cs typeface="Consolas" pitchFamily="34" charset="-120"/>
              </a:rPr>
              <a:t>docs-locator</a:t>
            </a:r>
            <a:endParaRPr lang="en-US" sz="1000" dirty="0"/>
          </a:p>
        </p:txBody>
      </p:sp>
      <p:sp>
        <p:nvSpPr>
          <p:cNvPr id="33" name="Text 31"/>
          <p:cNvSpPr/>
          <p:nvPr/>
        </p:nvSpPr>
        <p:spPr>
          <a:xfrm>
            <a:off x="6858000" y="3904488"/>
            <a:ext cx="1371600" cy="438912"/>
          </a:xfrm>
          <a:prstGeom prst="rect">
            <a:avLst/>
          </a:prstGeom>
          <a:noFill/>
          <a:ln/>
        </p:spPr>
        <p:txBody>
          <a:bodyPr wrap="square" lIns="0" tIns="0" rIns="0" bIns="0" rtlCol="0" anchor="ctr"/>
          <a:lstStyle/>
          <a:p>
            <a:pPr marL="0" indent="0">
              <a:buNone/>
            </a:pPr>
            <a:r>
              <a:rPr lang="en-US" sz="1000" dirty="0">
                <a:solidFill>
                  <a:srgbClr val="C8D6E5"/>
                </a:solidFill>
                <a:latin typeface="Calibri" pitchFamily="34" charset="0"/>
                <a:ea typeface="Calibri" pitchFamily="34" charset="-122"/>
                <a:cs typeface="Calibri" pitchFamily="34" charset="-120"/>
              </a:rPr>
              <a:t>Find existing documentation</a:t>
            </a:r>
            <a:endParaRPr lang="en-US" sz="1000" dirty="0"/>
          </a:p>
        </p:txBody>
      </p:sp>
      <p:sp>
        <p:nvSpPr>
          <p:cNvPr id="34" name="Text 32"/>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B7C93"/>
                </a:solidFill>
                <a:latin typeface="Calibri" pitchFamily="34" charset="0"/>
                <a:ea typeface="Calibri" pitchFamily="34" charset="-122"/>
                <a:cs typeface="Calibri" pitchFamily="34" charset="-120"/>
              </a:rPr>
              <a:t>7 / 14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BDD"/>
          </a:solidFill>
          <a:ln/>
        </p:spPr>
        <p:txBody>
          <a:bodyPr/>
          <a:lstStyle/>
          <a:p>
            <a:endParaRPr lang="en-US"/>
          </a:p>
        </p:txBody>
      </p:sp>
      <p:sp>
        <p:nvSpPr>
          <p:cNvPr id="3" name="Text 1"/>
          <p:cNvSpPr/>
          <p:nvPr/>
        </p:nvSpPr>
        <p:spPr>
          <a:xfrm>
            <a:off x="731520" y="274320"/>
            <a:ext cx="7680960" cy="45720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The Error Amplification Effect</a:t>
            </a:r>
            <a:endParaRPr lang="en-US" sz="2800" dirty="0"/>
          </a:p>
        </p:txBody>
      </p:sp>
      <p:sp>
        <p:nvSpPr>
          <p:cNvPr id="4" name="Text 2"/>
          <p:cNvSpPr/>
          <p:nvPr/>
        </p:nvSpPr>
        <p:spPr>
          <a:xfrm>
            <a:off x="731520" y="731520"/>
            <a:ext cx="7680960" cy="274320"/>
          </a:xfrm>
          <a:prstGeom prst="rect">
            <a:avLst/>
          </a:prstGeom>
          <a:noFill/>
          <a:ln/>
        </p:spPr>
        <p:txBody>
          <a:bodyPr wrap="square" lIns="0" tIns="0" rIns="0" bIns="0" rtlCol="0" anchor="ctr"/>
          <a:lstStyle/>
          <a:p>
            <a:pPr marL="0" indent="0">
              <a:buNone/>
            </a:pPr>
            <a:r>
              <a:rPr lang="en-US" sz="1200" i="1" dirty="0">
                <a:solidFill>
                  <a:srgbClr val="C8D6E5"/>
                </a:solidFill>
                <a:latin typeface="Calibri" pitchFamily="34" charset="0"/>
                <a:ea typeface="Calibri" pitchFamily="34" charset="-122"/>
                <a:cs typeface="Calibri" pitchFamily="34" charset="-120"/>
              </a:rPr>
              <a:t>One mistake upstream cascades into massive waste downstream</a:t>
            </a:r>
            <a:endParaRPr lang="en-US" sz="1200" dirty="0"/>
          </a:p>
        </p:txBody>
      </p:sp>
      <p:sp>
        <p:nvSpPr>
          <p:cNvPr id="5" name="Shape 3"/>
          <p:cNvSpPr/>
          <p:nvPr/>
        </p:nvSpPr>
        <p:spPr>
          <a:xfrm>
            <a:off x="457200" y="1234440"/>
            <a:ext cx="2560320" cy="3108960"/>
          </a:xfrm>
          <a:prstGeom prst="rect">
            <a:avLst/>
          </a:prstGeom>
          <a:solidFill>
            <a:srgbClr val="1C2541"/>
          </a:solidFill>
          <a:ln/>
        </p:spPr>
        <p:txBody>
          <a:bodyPr/>
          <a:lstStyle/>
          <a:p>
            <a:endParaRPr lang="en-US"/>
          </a:p>
        </p:txBody>
      </p:sp>
      <p:sp>
        <p:nvSpPr>
          <p:cNvPr id="6" name="Shape 4"/>
          <p:cNvSpPr/>
          <p:nvPr/>
        </p:nvSpPr>
        <p:spPr>
          <a:xfrm>
            <a:off x="457200" y="1234440"/>
            <a:ext cx="2560320" cy="45720"/>
          </a:xfrm>
          <a:prstGeom prst="rect">
            <a:avLst/>
          </a:prstGeom>
          <a:solidFill>
            <a:srgbClr val="EF4444"/>
          </a:solidFill>
          <a:ln/>
        </p:spPr>
        <p:txBody>
          <a:bodyPr/>
          <a:lstStyle/>
          <a:p>
            <a:endParaRPr lang="en-US"/>
          </a:p>
        </p:txBody>
      </p:sp>
      <p:sp>
        <p:nvSpPr>
          <p:cNvPr id="7" name="Shape 5"/>
          <p:cNvSpPr/>
          <p:nvPr/>
        </p:nvSpPr>
        <p:spPr>
          <a:xfrm>
            <a:off x="1417320" y="1554480"/>
            <a:ext cx="548640" cy="548640"/>
          </a:xfrm>
          <a:prstGeom prst="ellipse">
            <a:avLst/>
          </a:prstGeom>
          <a:solidFill>
            <a:srgbClr val="EF4444"/>
          </a:solidFill>
          <a:ln/>
        </p:spPr>
        <p:txBody>
          <a:bodyPr/>
          <a:lstStyle/>
          <a:p>
            <a:endParaRPr lang="en-US"/>
          </a:p>
        </p:txBody>
      </p:sp>
      <p:sp>
        <p:nvSpPr>
          <p:cNvPr id="8" name="Text 6"/>
          <p:cNvSpPr/>
          <p:nvPr/>
        </p:nvSpPr>
        <p:spPr>
          <a:xfrm>
            <a:off x="1417320" y="155448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Shape 7"/>
          <p:cNvSpPr/>
          <p:nvPr/>
        </p:nvSpPr>
        <p:spPr>
          <a:xfrm>
            <a:off x="1051560" y="1371600"/>
            <a:ext cx="1280160" cy="914400"/>
          </a:xfrm>
          <a:prstGeom prst="ellipse">
            <a:avLst/>
          </a:prstGeom>
          <a:solidFill>
            <a:srgbClr val="EF4444">
              <a:alpha val="25000"/>
            </a:srgbClr>
          </a:solidFill>
          <a:ln/>
        </p:spPr>
        <p:txBody>
          <a:bodyPr/>
          <a:lstStyle/>
          <a:p>
            <a:endParaRPr lang="en-US"/>
          </a:p>
        </p:txBody>
      </p:sp>
      <p:sp>
        <p:nvSpPr>
          <p:cNvPr id="10" name="Shape 8"/>
          <p:cNvSpPr/>
          <p:nvPr/>
        </p:nvSpPr>
        <p:spPr>
          <a:xfrm>
            <a:off x="685800" y="1234440"/>
            <a:ext cx="2011680" cy="1188720"/>
          </a:xfrm>
          <a:prstGeom prst="ellipse">
            <a:avLst/>
          </a:prstGeom>
          <a:solidFill>
            <a:srgbClr val="EF4444">
              <a:alpha val="12000"/>
            </a:srgbClr>
          </a:solidFill>
          <a:ln/>
        </p:spPr>
        <p:txBody>
          <a:bodyPr/>
          <a:lstStyle/>
          <a:p>
            <a:endParaRPr lang="en-US"/>
          </a:p>
        </p:txBody>
      </p:sp>
      <p:sp>
        <p:nvSpPr>
          <p:cNvPr id="11" name="Text 9"/>
          <p:cNvSpPr/>
          <p:nvPr/>
        </p:nvSpPr>
        <p:spPr>
          <a:xfrm>
            <a:off x="457200" y="2560320"/>
            <a:ext cx="2560320" cy="3200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Bad Research</a:t>
            </a:r>
            <a:endParaRPr lang="en-US" sz="1600" dirty="0"/>
          </a:p>
        </p:txBody>
      </p:sp>
      <p:sp>
        <p:nvSpPr>
          <p:cNvPr id="12" name="Text 10"/>
          <p:cNvSpPr/>
          <p:nvPr/>
        </p:nvSpPr>
        <p:spPr>
          <a:xfrm>
            <a:off x="457200" y="2926080"/>
            <a:ext cx="2560320" cy="548640"/>
          </a:xfrm>
          <a:prstGeom prst="rect">
            <a:avLst/>
          </a:prstGeom>
          <a:noFill/>
          <a:ln/>
        </p:spPr>
        <p:txBody>
          <a:bodyPr wrap="square" lIns="0" tIns="0" rIns="0" bIns="0" rtlCol="0" anchor="ctr"/>
          <a:lstStyle/>
          <a:p>
            <a:pPr marL="0" indent="0" algn="ctr">
              <a:buNone/>
            </a:pPr>
            <a:r>
              <a:rPr lang="en-US" sz="4000" b="1" dirty="0">
                <a:solidFill>
                  <a:srgbClr val="EF4444"/>
                </a:solidFill>
                <a:latin typeface="Calibri" pitchFamily="34" charset="0"/>
                <a:ea typeface="Calibri" pitchFamily="34" charset="-122"/>
                <a:cs typeface="Calibri" pitchFamily="34" charset="-120"/>
              </a:rPr>
              <a:t>1,000s</a:t>
            </a:r>
            <a:endParaRPr lang="en-US" sz="4000" dirty="0"/>
          </a:p>
        </p:txBody>
      </p:sp>
      <p:sp>
        <p:nvSpPr>
          <p:cNvPr id="13" name="Text 11"/>
          <p:cNvSpPr/>
          <p:nvPr/>
        </p:nvSpPr>
        <p:spPr>
          <a:xfrm>
            <a:off x="457200" y="3429000"/>
            <a:ext cx="2560320" cy="274320"/>
          </a:xfrm>
          <a:prstGeom prst="rect">
            <a:avLst/>
          </a:prstGeom>
          <a:noFill/>
          <a:ln/>
        </p:spPr>
        <p:txBody>
          <a:bodyPr wrap="square" lIns="0" tIns="0" rIns="0" bIns="0" rtlCol="0" anchor="ctr"/>
          <a:lstStyle/>
          <a:p>
            <a:pPr marL="0" indent="0" algn="ctr">
              <a:buNone/>
            </a:pPr>
            <a:r>
              <a:rPr lang="en-US" sz="1100" dirty="0">
                <a:solidFill>
                  <a:srgbClr val="C8D6E5"/>
                </a:solidFill>
                <a:latin typeface="Calibri" pitchFamily="34" charset="0"/>
                <a:ea typeface="Calibri" pitchFamily="34" charset="-122"/>
                <a:cs typeface="Calibri" pitchFamily="34" charset="-120"/>
              </a:rPr>
              <a:t>of wasted lines</a:t>
            </a:r>
            <a:endParaRPr lang="en-US" sz="1100" dirty="0"/>
          </a:p>
        </p:txBody>
      </p:sp>
      <p:sp>
        <p:nvSpPr>
          <p:cNvPr id="14" name="Shape 12"/>
          <p:cNvSpPr/>
          <p:nvPr/>
        </p:nvSpPr>
        <p:spPr>
          <a:xfrm>
            <a:off x="1005840" y="3840480"/>
            <a:ext cx="1371600" cy="274320"/>
          </a:xfrm>
          <a:prstGeom prst="rect">
            <a:avLst/>
          </a:prstGeom>
          <a:solidFill>
            <a:srgbClr val="EF4444"/>
          </a:solidFill>
          <a:ln/>
        </p:spPr>
        <p:txBody>
          <a:bodyPr/>
          <a:lstStyle/>
          <a:p>
            <a:endParaRPr lang="en-US"/>
          </a:p>
        </p:txBody>
      </p:sp>
      <p:sp>
        <p:nvSpPr>
          <p:cNvPr id="15" name="Text 13"/>
          <p:cNvSpPr/>
          <p:nvPr/>
        </p:nvSpPr>
        <p:spPr>
          <a:xfrm>
            <a:off x="1005840" y="3840480"/>
            <a:ext cx="137160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HIGHEST RISK</a:t>
            </a:r>
            <a:endParaRPr lang="en-US" sz="900" dirty="0"/>
          </a:p>
        </p:txBody>
      </p:sp>
      <p:sp>
        <p:nvSpPr>
          <p:cNvPr id="16" name="Shape 14"/>
          <p:cNvSpPr/>
          <p:nvPr/>
        </p:nvSpPr>
        <p:spPr>
          <a:xfrm>
            <a:off x="3246120" y="1234440"/>
            <a:ext cx="2560320" cy="3108960"/>
          </a:xfrm>
          <a:prstGeom prst="rect">
            <a:avLst/>
          </a:prstGeom>
          <a:solidFill>
            <a:srgbClr val="1C2541"/>
          </a:solidFill>
          <a:ln/>
        </p:spPr>
        <p:txBody>
          <a:bodyPr/>
          <a:lstStyle/>
          <a:p>
            <a:endParaRPr lang="en-US"/>
          </a:p>
        </p:txBody>
      </p:sp>
      <p:sp>
        <p:nvSpPr>
          <p:cNvPr id="17" name="Shape 15"/>
          <p:cNvSpPr/>
          <p:nvPr/>
        </p:nvSpPr>
        <p:spPr>
          <a:xfrm>
            <a:off x="3246120" y="1234440"/>
            <a:ext cx="2560320" cy="45720"/>
          </a:xfrm>
          <a:prstGeom prst="rect">
            <a:avLst/>
          </a:prstGeom>
          <a:solidFill>
            <a:srgbClr val="F59E0B"/>
          </a:solidFill>
          <a:ln/>
        </p:spPr>
        <p:txBody>
          <a:bodyPr/>
          <a:lstStyle/>
          <a:p>
            <a:endParaRPr lang="en-US"/>
          </a:p>
        </p:txBody>
      </p:sp>
      <p:sp>
        <p:nvSpPr>
          <p:cNvPr id="18" name="Shape 16"/>
          <p:cNvSpPr/>
          <p:nvPr/>
        </p:nvSpPr>
        <p:spPr>
          <a:xfrm>
            <a:off x="4206240" y="1554480"/>
            <a:ext cx="548640" cy="548640"/>
          </a:xfrm>
          <a:prstGeom prst="ellipse">
            <a:avLst/>
          </a:prstGeom>
          <a:solidFill>
            <a:srgbClr val="F59E0B"/>
          </a:solidFill>
          <a:ln/>
        </p:spPr>
        <p:txBody>
          <a:bodyPr/>
          <a:lstStyle/>
          <a:p>
            <a:endParaRPr lang="en-US"/>
          </a:p>
        </p:txBody>
      </p:sp>
      <p:sp>
        <p:nvSpPr>
          <p:cNvPr id="19" name="Text 17"/>
          <p:cNvSpPr/>
          <p:nvPr/>
        </p:nvSpPr>
        <p:spPr>
          <a:xfrm>
            <a:off x="4206240" y="155448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20" name="Shape 18"/>
          <p:cNvSpPr/>
          <p:nvPr/>
        </p:nvSpPr>
        <p:spPr>
          <a:xfrm>
            <a:off x="3931920" y="1417320"/>
            <a:ext cx="1097280" cy="822960"/>
          </a:xfrm>
          <a:prstGeom prst="ellipse">
            <a:avLst/>
          </a:prstGeom>
          <a:solidFill>
            <a:srgbClr val="F59E0B">
              <a:alpha val="20000"/>
            </a:srgbClr>
          </a:solidFill>
          <a:ln/>
        </p:spPr>
        <p:txBody>
          <a:bodyPr/>
          <a:lstStyle/>
          <a:p>
            <a:endParaRPr lang="en-US"/>
          </a:p>
        </p:txBody>
      </p:sp>
      <p:sp>
        <p:nvSpPr>
          <p:cNvPr id="21" name="Text 19"/>
          <p:cNvSpPr/>
          <p:nvPr/>
        </p:nvSpPr>
        <p:spPr>
          <a:xfrm>
            <a:off x="3246120" y="2560320"/>
            <a:ext cx="2560320" cy="3200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Bad Plan</a:t>
            </a:r>
            <a:endParaRPr lang="en-US" sz="1600" dirty="0"/>
          </a:p>
        </p:txBody>
      </p:sp>
      <p:sp>
        <p:nvSpPr>
          <p:cNvPr id="22" name="Text 20"/>
          <p:cNvSpPr/>
          <p:nvPr/>
        </p:nvSpPr>
        <p:spPr>
          <a:xfrm>
            <a:off x="3246120" y="2926080"/>
            <a:ext cx="2560320" cy="548640"/>
          </a:xfrm>
          <a:prstGeom prst="rect">
            <a:avLst/>
          </a:prstGeom>
          <a:noFill/>
          <a:ln/>
        </p:spPr>
        <p:txBody>
          <a:bodyPr wrap="square" lIns="0" tIns="0" rIns="0" bIns="0" rtlCol="0" anchor="ctr"/>
          <a:lstStyle/>
          <a:p>
            <a:pPr marL="0" indent="0" algn="ctr">
              <a:buNone/>
            </a:pPr>
            <a:r>
              <a:rPr lang="en-US" sz="4000" b="1" dirty="0">
                <a:solidFill>
                  <a:srgbClr val="F59E0B"/>
                </a:solidFill>
                <a:latin typeface="Calibri" pitchFamily="34" charset="0"/>
                <a:ea typeface="Calibri" pitchFamily="34" charset="-122"/>
                <a:cs typeface="Calibri" pitchFamily="34" charset="-120"/>
              </a:rPr>
              <a:t>100s</a:t>
            </a:r>
            <a:endParaRPr lang="en-US" sz="4000" dirty="0"/>
          </a:p>
        </p:txBody>
      </p:sp>
      <p:sp>
        <p:nvSpPr>
          <p:cNvPr id="23" name="Text 21"/>
          <p:cNvSpPr/>
          <p:nvPr/>
        </p:nvSpPr>
        <p:spPr>
          <a:xfrm>
            <a:off x="3246120" y="3429000"/>
            <a:ext cx="2560320" cy="274320"/>
          </a:xfrm>
          <a:prstGeom prst="rect">
            <a:avLst/>
          </a:prstGeom>
          <a:noFill/>
          <a:ln/>
        </p:spPr>
        <p:txBody>
          <a:bodyPr wrap="square" lIns="0" tIns="0" rIns="0" bIns="0" rtlCol="0" anchor="ctr"/>
          <a:lstStyle/>
          <a:p>
            <a:pPr marL="0" indent="0" algn="ctr">
              <a:buNone/>
            </a:pPr>
            <a:r>
              <a:rPr lang="en-US" sz="1100" dirty="0">
                <a:solidFill>
                  <a:srgbClr val="C8D6E5"/>
                </a:solidFill>
                <a:latin typeface="Calibri" pitchFamily="34" charset="0"/>
                <a:ea typeface="Calibri" pitchFamily="34" charset="-122"/>
                <a:cs typeface="Calibri" pitchFamily="34" charset="-120"/>
              </a:rPr>
              <a:t>of wasted lines</a:t>
            </a:r>
            <a:endParaRPr lang="en-US" sz="1100" dirty="0"/>
          </a:p>
        </p:txBody>
      </p:sp>
      <p:sp>
        <p:nvSpPr>
          <p:cNvPr id="24" name="Shape 22"/>
          <p:cNvSpPr/>
          <p:nvPr/>
        </p:nvSpPr>
        <p:spPr>
          <a:xfrm>
            <a:off x="3794760" y="3840480"/>
            <a:ext cx="1371600" cy="274320"/>
          </a:xfrm>
          <a:prstGeom prst="rect">
            <a:avLst/>
          </a:prstGeom>
          <a:solidFill>
            <a:srgbClr val="F59E0B"/>
          </a:solidFill>
          <a:ln/>
        </p:spPr>
        <p:txBody>
          <a:bodyPr/>
          <a:lstStyle/>
          <a:p>
            <a:endParaRPr lang="en-US"/>
          </a:p>
        </p:txBody>
      </p:sp>
      <p:sp>
        <p:nvSpPr>
          <p:cNvPr id="25" name="Text 23"/>
          <p:cNvSpPr/>
          <p:nvPr/>
        </p:nvSpPr>
        <p:spPr>
          <a:xfrm>
            <a:off x="3794760" y="3840480"/>
            <a:ext cx="137160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MEDIUM RISK</a:t>
            </a:r>
            <a:endParaRPr lang="en-US" sz="900" dirty="0"/>
          </a:p>
        </p:txBody>
      </p:sp>
      <p:sp>
        <p:nvSpPr>
          <p:cNvPr id="26" name="Shape 24"/>
          <p:cNvSpPr/>
          <p:nvPr/>
        </p:nvSpPr>
        <p:spPr>
          <a:xfrm>
            <a:off x="6035040" y="1234440"/>
            <a:ext cx="2560320" cy="3108960"/>
          </a:xfrm>
          <a:prstGeom prst="rect">
            <a:avLst/>
          </a:prstGeom>
          <a:solidFill>
            <a:srgbClr val="1C2541"/>
          </a:solidFill>
          <a:ln/>
        </p:spPr>
        <p:txBody>
          <a:bodyPr/>
          <a:lstStyle/>
          <a:p>
            <a:endParaRPr lang="en-US"/>
          </a:p>
        </p:txBody>
      </p:sp>
      <p:sp>
        <p:nvSpPr>
          <p:cNvPr id="27" name="Shape 25"/>
          <p:cNvSpPr/>
          <p:nvPr/>
        </p:nvSpPr>
        <p:spPr>
          <a:xfrm>
            <a:off x="6035040" y="1234440"/>
            <a:ext cx="2560320" cy="45720"/>
          </a:xfrm>
          <a:prstGeom prst="rect">
            <a:avLst/>
          </a:prstGeom>
          <a:solidFill>
            <a:srgbClr val="10B981"/>
          </a:solidFill>
          <a:ln/>
        </p:spPr>
        <p:txBody>
          <a:bodyPr/>
          <a:lstStyle/>
          <a:p>
            <a:endParaRPr lang="en-US"/>
          </a:p>
        </p:txBody>
      </p:sp>
      <p:sp>
        <p:nvSpPr>
          <p:cNvPr id="28" name="Shape 26"/>
          <p:cNvSpPr/>
          <p:nvPr/>
        </p:nvSpPr>
        <p:spPr>
          <a:xfrm>
            <a:off x="6995160" y="1554480"/>
            <a:ext cx="548640" cy="548640"/>
          </a:xfrm>
          <a:prstGeom prst="ellipse">
            <a:avLst/>
          </a:prstGeom>
          <a:solidFill>
            <a:srgbClr val="10B981"/>
          </a:solidFill>
          <a:ln/>
        </p:spPr>
        <p:txBody>
          <a:bodyPr/>
          <a:lstStyle/>
          <a:p>
            <a:endParaRPr lang="en-US"/>
          </a:p>
        </p:txBody>
      </p:sp>
      <p:sp>
        <p:nvSpPr>
          <p:cNvPr id="29" name="Text 27"/>
          <p:cNvSpPr/>
          <p:nvPr/>
        </p:nvSpPr>
        <p:spPr>
          <a:xfrm>
            <a:off x="6995160" y="155448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30" name="Text 28"/>
          <p:cNvSpPr/>
          <p:nvPr/>
        </p:nvSpPr>
        <p:spPr>
          <a:xfrm>
            <a:off x="6035040" y="2560320"/>
            <a:ext cx="2560320" cy="3200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Bad Code</a:t>
            </a:r>
            <a:endParaRPr lang="en-US" sz="1600" dirty="0"/>
          </a:p>
        </p:txBody>
      </p:sp>
      <p:sp>
        <p:nvSpPr>
          <p:cNvPr id="31" name="Text 29"/>
          <p:cNvSpPr/>
          <p:nvPr/>
        </p:nvSpPr>
        <p:spPr>
          <a:xfrm>
            <a:off x="6035040" y="2926080"/>
            <a:ext cx="2560320" cy="548640"/>
          </a:xfrm>
          <a:prstGeom prst="rect">
            <a:avLst/>
          </a:prstGeom>
          <a:noFill/>
          <a:ln/>
        </p:spPr>
        <p:txBody>
          <a:bodyPr wrap="square" lIns="0" tIns="0" rIns="0" bIns="0" rtlCol="0" anchor="ctr"/>
          <a:lstStyle/>
          <a:p>
            <a:pPr marL="0" indent="0" algn="ctr">
              <a:buNone/>
            </a:pPr>
            <a:r>
              <a:rPr lang="en-US" sz="4000" b="1" dirty="0">
                <a:solidFill>
                  <a:srgbClr val="10B981"/>
                </a:solidFill>
                <a:latin typeface="Calibri" pitchFamily="34" charset="0"/>
                <a:ea typeface="Calibri" pitchFamily="34" charset="-122"/>
                <a:cs typeface="Calibri" pitchFamily="34" charset="-120"/>
              </a:rPr>
              <a:t>1</a:t>
            </a:r>
            <a:endParaRPr lang="en-US" sz="4000" dirty="0"/>
          </a:p>
        </p:txBody>
      </p:sp>
      <p:sp>
        <p:nvSpPr>
          <p:cNvPr id="32" name="Text 30"/>
          <p:cNvSpPr/>
          <p:nvPr/>
        </p:nvSpPr>
        <p:spPr>
          <a:xfrm>
            <a:off x="6035040" y="3429000"/>
            <a:ext cx="2560320" cy="274320"/>
          </a:xfrm>
          <a:prstGeom prst="rect">
            <a:avLst/>
          </a:prstGeom>
          <a:noFill/>
          <a:ln/>
        </p:spPr>
        <p:txBody>
          <a:bodyPr wrap="square" lIns="0" tIns="0" rIns="0" bIns="0" rtlCol="0" anchor="ctr"/>
          <a:lstStyle/>
          <a:p>
            <a:pPr marL="0" indent="0" algn="ctr">
              <a:buNone/>
            </a:pPr>
            <a:r>
              <a:rPr lang="en-US" sz="1100" dirty="0">
                <a:solidFill>
                  <a:srgbClr val="C8D6E5"/>
                </a:solidFill>
                <a:latin typeface="Calibri" pitchFamily="34" charset="0"/>
                <a:ea typeface="Calibri" pitchFamily="34" charset="-122"/>
                <a:cs typeface="Calibri" pitchFamily="34" charset="-120"/>
              </a:rPr>
              <a:t>bad line (just fix it)</a:t>
            </a:r>
            <a:endParaRPr lang="en-US" sz="1100" dirty="0"/>
          </a:p>
        </p:txBody>
      </p:sp>
      <p:sp>
        <p:nvSpPr>
          <p:cNvPr id="33" name="Shape 31"/>
          <p:cNvSpPr/>
          <p:nvPr/>
        </p:nvSpPr>
        <p:spPr>
          <a:xfrm>
            <a:off x="6583680" y="3840480"/>
            <a:ext cx="1371600" cy="274320"/>
          </a:xfrm>
          <a:prstGeom prst="rect">
            <a:avLst/>
          </a:prstGeom>
          <a:solidFill>
            <a:srgbClr val="10B981"/>
          </a:solidFill>
          <a:ln/>
        </p:spPr>
        <p:txBody>
          <a:bodyPr/>
          <a:lstStyle/>
          <a:p>
            <a:endParaRPr lang="en-US"/>
          </a:p>
        </p:txBody>
      </p:sp>
      <p:sp>
        <p:nvSpPr>
          <p:cNvPr id="34" name="Text 32"/>
          <p:cNvSpPr/>
          <p:nvPr/>
        </p:nvSpPr>
        <p:spPr>
          <a:xfrm>
            <a:off x="6583680" y="3840480"/>
            <a:ext cx="137160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CONTAINED</a:t>
            </a:r>
            <a:endParaRPr lang="en-US" sz="900" dirty="0"/>
          </a:p>
        </p:txBody>
      </p:sp>
      <p:sp>
        <p:nvSpPr>
          <p:cNvPr id="35" name="Text 33"/>
          <p:cNvSpPr/>
          <p:nvPr/>
        </p:nvSpPr>
        <p:spPr>
          <a:xfrm>
            <a:off x="2880360" y="1508760"/>
            <a:ext cx="457200" cy="640080"/>
          </a:xfrm>
          <a:prstGeom prst="rect">
            <a:avLst/>
          </a:prstGeom>
          <a:noFill/>
          <a:ln/>
        </p:spPr>
        <p:txBody>
          <a:bodyPr wrap="square" lIns="0" tIns="0" rIns="0" bIns="0" rtlCol="0" anchor="ctr"/>
          <a:lstStyle/>
          <a:p>
            <a:pPr marL="0" indent="0" algn="ctr">
              <a:buNone/>
            </a:pPr>
            <a:r>
              <a:rPr lang="en-US" sz="2200" dirty="0">
                <a:solidFill>
                  <a:srgbClr val="6B7C93"/>
                </a:solidFill>
                <a:latin typeface="Calibri" pitchFamily="34" charset="0"/>
                <a:ea typeface="Calibri" pitchFamily="34" charset="-122"/>
                <a:cs typeface="Calibri" pitchFamily="34" charset="-120"/>
              </a:rPr>
              <a:t>➤</a:t>
            </a:r>
            <a:endParaRPr lang="en-US" sz="2200" dirty="0"/>
          </a:p>
        </p:txBody>
      </p:sp>
      <p:sp>
        <p:nvSpPr>
          <p:cNvPr id="36" name="Text 34"/>
          <p:cNvSpPr/>
          <p:nvPr/>
        </p:nvSpPr>
        <p:spPr>
          <a:xfrm>
            <a:off x="5669280" y="1508760"/>
            <a:ext cx="457200" cy="640080"/>
          </a:xfrm>
          <a:prstGeom prst="rect">
            <a:avLst/>
          </a:prstGeom>
          <a:noFill/>
          <a:ln/>
        </p:spPr>
        <p:txBody>
          <a:bodyPr wrap="square" lIns="0" tIns="0" rIns="0" bIns="0" rtlCol="0" anchor="ctr"/>
          <a:lstStyle/>
          <a:p>
            <a:pPr marL="0" indent="0" algn="ctr">
              <a:buNone/>
            </a:pPr>
            <a:r>
              <a:rPr lang="en-US" sz="2200" dirty="0">
                <a:solidFill>
                  <a:srgbClr val="6B7C93"/>
                </a:solidFill>
                <a:latin typeface="Calibri" pitchFamily="34" charset="0"/>
                <a:ea typeface="Calibri" pitchFamily="34" charset="-122"/>
                <a:cs typeface="Calibri" pitchFamily="34" charset="-120"/>
              </a:rPr>
              <a:t>➤</a:t>
            </a:r>
            <a:endParaRPr lang="en-US" sz="2200" dirty="0"/>
          </a:p>
        </p:txBody>
      </p:sp>
      <p:sp>
        <p:nvSpPr>
          <p:cNvPr id="37" name="Text 35"/>
          <p:cNvSpPr/>
          <p:nvPr/>
        </p:nvSpPr>
        <p:spPr>
          <a:xfrm>
            <a:off x="731520" y="4572000"/>
            <a:ext cx="7680960" cy="320040"/>
          </a:xfrm>
          <a:prstGeom prst="rect">
            <a:avLst/>
          </a:prstGeom>
          <a:noFill/>
          <a:ln/>
        </p:spPr>
        <p:txBody>
          <a:bodyPr wrap="square" lIns="0" tIns="0" rIns="0" bIns="0" rtlCol="0" anchor="ctr"/>
          <a:lstStyle/>
          <a:p>
            <a:pPr marL="0" indent="0" algn="ctr">
              <a:buNone/>
            </a:pPr>
            <a:r>
              <a:rPr lang="en-US" sz="1300" b="1" dirty="0">
                <a:solidFill>
                  <a:srgbClr val="00BBDD"/>
                </a:solidFill>
                <a:latin typeface="Calibri" pitchFamily="34" charset="0"/>
                <a:ea typeface="Calibri" pitchFamily="34" charset="-122"/>
                <a:cs typeface="Calibri" pitchFamily="34" charset="-120"/>
              </a:rPr>
              <a:t>Review research and plans first — that’s where your leverage is.</a:t>
            </a:r>
            <a:endParaRPr lang="en-US" sz="1300" dirty="0"/>
          </a:p>
        </p:txBody>
      </p:sp>
      <p:sp>
        <p:nvSpPr>
          <p:cNvPr id="38" name="Text 36"/>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8899AA"/>
                </a:solidFill>
                <a:latin typeface="Calibri" pitchFamily="34" charset="0"/>
                <a:ea typeface="Calibri" pitchFamily="34" charset="-122"/>
                <a:cs typeface="Calibri" pitchFamily="34" charset="-120"/>
              </a:rPr>
              <a:t>8 / 14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55DD"/>
          </a:solidFill>
          <a:ln/>
        </p:spPr>
        <p:txBody>
          <a:bodyPr/>
          <a:lstStyle/>
          <a:p>
            <a:endParaRPr lang="en-US"/>
          </a:p>
        </p:txBody>
      </p:sp>
      <p:sp>
        <p:nvSpPr>
          <p:cNvPr id="3" name="Text 1"/>
          <p:cNvSpPr/>
          <p:nvPr/>
        </p:nvSpPr>
        <p:spPr>
          <a:xfrm>
            <a:off x="731520" y="365760"/>
            <a:ext cx="7680960" cy="457200"/>
          </a:xfrm>
          <a:prstGeom prst="rect">
            <a:avLst/>
          </a:prstGeom>
          <a:noFill/>
          <a:ln/>
        </p:spPr>
        <p:txBody>
          <a:bodyPr wrap="square" lIns="0" tIns="0" rIns="0" bIns="0"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Why This Matters for Our Microservices</a:t>
            </a:r>
            <a:endParaRPr lang="en-US" sz="2600" dirty="0"/>
          </a:p>
        </p:txBody>
      </p:sp>
      <p:sp>
        <p:nvSpPr>
          <p:cNvPr id="4" name="Shape 2"/>
          <p:cNvSpPr/>
          <p:nvPr/>
        </p:nvSpPr>
        <p:spPr>
          <a:xfrm>
            <a:off x="731520" y="1097280"/>
            <a:ext cx="3657600" cy="155448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5" name="Shape 3"/>
          <p:cNvSpPr/>
          <p:nvPr/>
        </p:nvSpPr>
        <p:spPr>
          <a:xfrm>
            <a:off x="731520" y="1097280"/>
            <a:ext cx="3657600" cy="45720"/>
          </a:xfrm>
          <a:prstGeom prst="rect">
            <a:avLst/>
          </a:prstGeom>
          <a:solidFill>
            <a:srgbClr val="0055DD"/>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14400" y="1325880"/>
            <a:ext cx="365760" cy="365760"/>
          </a:xfrm>
          <a:prstGeom prst="rect">
            <a:avLst/>
          </a:prstGeom>
        </p:spPr>
      </p:pic>
      <p:sp>
        <p:nvSpPr>
          <p:cNvPr id="7" name="Text 4"/>
          <p:cNvSpPr/>
          <p:nvPr/>
        </p:nvSpPr>
        <p:spPr>
          <a:xfrm>
            <a:off x="1417320" y="1280160"/>
            <a:ext cx="2743200" cy="365760"/>
          </a:xfrm>
          <a:prstGeom prst="rect">
            <a:avLst/>
          </a:prstGeom>
          <a:noFill/>
          <a:ln/>
        </p:spPr>
        <p:txBody>
          <a:bodyPr wrap="square" lIns="0" tIns="0" rIns="0" bIns="0" rtlCol="0" anchor="ctr"/>
          <a:lstStyle/>
          <a:p>
            <a:pPr marL="0" indent="0">
              <a:buNone/>
            </a:pPr>
            <a:r>
              <a:rPr lang="en-US" sz="1400" b="1" dirty="0">
                <a:solidFill>
                  <a:srgbClr val="1A1A2E"/>
                </a:solidFill>
                <a:latin typeface="Calibri" pitchFamily="34" charset="0"/>
                <a:ea typeface="Calibri" pitchFamily="34" charset="-122"/>
                <a:cs typeface="Calibri" pitchFamily="34" charset="-120"/>
              </a:rPr>
              <a:t>Cross-Service Context</a:t>
            </a:r>
            <a:endParaRPr lang="en-US" sz="1400" dirty="0"/>
          </a:p>
        </p:txBody>
      </p:sp>
      <p:sp>
        <p:nvSpPr>
          <p:cNvPr id="8" name="Text 5"/>
          <p:cNvSpPr/>
          <p:nvPr/>
        </p:nvSpPr>
        <p:spPr>
          <a:xfrm>
            <a:off x="914400" y="1783080"/>
            <a:ext cx="3291840" cy="731520"/>
          </a:xfrm>
          <a:prstGeom prst="rect">
            <a:avLst/>
          </a:prstGeom>
          <a:noFill/>
          <a:ln/>
        </p:spPr>
        <p:txBody>
          <a:bodyPr wrap="square" lIns="0" tIns="0" rIns="0" bIns="0" rtlCol="0" anchor="ctr"/>
          <a:lstStyle/>
          <a:p>
            <a:pPr marL="0" indent="0">
              <a:buNone/>
            </a:pPr>
            <a:r>
              <a:rPr lang="en-US" sz="1100" dirty="0">
                <a:solidFill>
                  <a:srgbClr val="6B7C93"/>
                </a:solidFill>
                <a:latin typeface="Calibri" pitchFamily="34" charset="0"/>
                <a:ea typeface="Calibri" pitchFamily="34" charset="-122"/>
                <a:cs typeface="Calibri" pitchFamily="34" charset="-120"/>
              </a:rPr>
              <a:t>A single feature may touch 4-5 services. Without context steering, the agent only sees one service at a time.</a:t>
            </a:r>
            <a:endParaRPr lang="en-US" sz="1100" dirty="0"/>
          </a:p>
        </p:txBody>
      </p:sp>
      <p:sp>
        <p:nvSpPr>
          <p:cNvPr id="9" name="Shape 6"/>
          <p:cNvSpPr/>
          <p:nvPr/>
        </p:nvSpPr>
        <p:spPr>
          <a:xfrm>
            <a:off x="4754880" y="1097280"/>
            <a:ext cx="3657600" cy="155448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10" name="Shape 7"/>
          <p:cNvSpPr/>
          <p:nvPr/>
        </p:nvSpPr>
        <p:spPr>
          <a:xfrm>
            <a:off x="4754880" y="1097280"/>
            <a:ext cx="3657600" cy="45720"/>
          </a:xfrm>
          <a:prstGeom prst="rect">
            <a:avLst/>
          </a:prstGeom>
          <a:solidFill>
            <a:srgbClr val="0055DD"/>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4937760" y="1325880"/>
            <a:ext cx="365760" cy="365760"/>
          </a:xfrm>
          <a:prstGeom prst="rect">
            <a:avLst/>
          </a:prstGeom>
        </p:spPr>
      </p:pic>
      <p:sp>
        <p:nvSpPr>
          <p:cNvPr id="12" name="Text 8"/>
          <p:cNvSpPr/>
          <p:nvPr/>
        </p:nvSpPr>
        <p:spPr>
          <a:xfrm>
            <a:off x="5440680" y="1280160"/>
            <a:ext cx="2743200" cy="365760"/>
          </a:xfrm>
          <a:prstGeom prst="rect">
            <a:avLst/>
          </a:prstGeom>
          <a:noFill/>
          <a:ln/>
        </p:spPr>
        <p:txBody>
          <a:bodyPr wrap="square" lIns="0" tIns="0" rIns="0" bIns="0" rtlCol="0" anchor="ctr"/>
          <a:lstStyle/>
          <a:p>
            <a:pPr marL="0" indent="0">
              <a:buNone/>
            </a:pPr>
            <a:r>
              <a:rPr lang="en-US" sz="1400" b="1" dirty="0">
                <a:solidFill>
                  <a:srgbClr val="1A1A2E"/>
                </a:solidFill>
                <a:latin typeface="Calibri" pitchFamily="34" charset="0"/>
                <a:ea typeface="Calibri" pitchFamily="34" charset="-122"/>
                <a:cs typeface="Calibri" pitchFamily="34" charset="-120"/>
              </a:rPr>
              <a:t>Shared Contracts &amp; Schemas</a:t>
            </a:r>
            <a:endParaRPr lang="en-US" sz="1400" dirty="0"/>
          </a:p>
        </p:txBody>
      </p:sp>
      <p:sp>
        <p:nvSpPr>
          <p:cNvPr id="13" name="Text 9"/>
          <p:cNvSpPr/>
          <p:nvPr/>
        </p:nvSpPr>
        <p:spPr>
          <a:xfrm>
            <a:off x="4937760" y="1783080"/>
            <a:ext cx="3291840" cy="731520"/>
          </a:xfrm>
          <a:prstGeom prst="rect">
            <a:avLst/>
          </a:prstGeom>
          <a:noFill/>
          <a:ln/>
        </p:spPr>
        <p:txBody>
          <a:bodyPr wrap="square" lIns="0" tIns="0" rIns="0" bIns="0" rtlCol="0" anchor="ctr"/>
          <a:lstStyle/>
          <a:p>
            <a:pPr marL="0" indent="0">
              <a:buNone/>
            </a:pPr>
            <a:r>
              <a:rPr lang="en-US" sz="1100" dirty="0">
                <a:solidFill>
                  <a:srgbClr val="6B7C93"/>
                </a:solidFill>
                <a:latin typeface="Calibri" pitchFamily="34" charset="0"/>
                <a:ea typeface="Calibri" pitchFamily="34" charset="-122"/>
                <a:cs typeface="Calibri" pitchFamily="34" charset="-120"/>
              </a:rPr>
              <a:t>API contracts, message formats, and shared DTOs must stay consistent. Research agents can map dependencies first.</a:t>
            </a:r>
            <a:endParaRPr lang="en-US" sz="1100" dirty="0"/>
          </a:p>
        </p:txBody>
      </p:sp>
      <p:sp>
        <p:nvSpPr>
          <p:cNvPr id="14" name="Shape 10"/>
          <p:cNvSpPr/>
          <p:nvPr/>
        </p:nvSpPr>
        <p:spPr>
          <a:xfrm>
            <a:off x="731520" y="2880360"/>
            <a:ext cx="3657600" cy="155448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15" name="Shape 11"/>
          <p:cNvSpPr/>
          <p:nvPr/>
        </p:nvSpPr>
        <p:spPr>
          <a:xfrm>
            <a:off x="731520" y="2880360"/>
            <a:ext cx="3657600" cy="45720"/>
          </a:xfrm>
          <a:prstGeom prst="rect">
            <a:avLst/>
          </a:prstGeom>
          <a:solidFill>
            <a:srgbClr val="0055DD"/>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914400" y="3108960"/>
            <a:ext cx="365760" cy="365760"/>
          </a:xfrm>
          <a:prstGeom prst="rect">
            <a:avLst/>
          </a:prstGeom>
        </p:spPr>
      </p:pic>
      <p:sp>
        <p:nvSpPr>
          <p:cNvPr id="17" name="Text 12"/>
          <p:cNvSpPr/>
          <p:nvPr/>
        </p:nvSpPr>
        <p:spPr>
          <a:xfrm>
            <a:off x="1417320" y="3063240"/>
            <a:ext cx="2743200" cy="365760"/>
          </a:xfrm>
          <a:prstGeom prst="rect">
            <a:avLst/>
          </a:prstGeom>
          <a:noFill/>
          <a:ln/>
        </p:spPr>
        <p:txBody>
          <a:bodyPr wrap="square" lIns="0" tIns="0" rIns="0" bIns="0" rtlCol="0" anchor="ctr"/>
          <a:lstStyle/>
          <a:p>
            <a:pPr marL="0" indent="0">
              <a:buNone/>
            </a:pPr>
            <a:r>
              <a:rPr lang="en-US" sz="1400" b="1" dirty="0">
                <a:solidFill>
                  <a:srgbClr val="1A1A2E"/>
                </a:solidFill>
                <a:latin typeface="Calibri" pitchFamily="34" charset="0"/>
                <a:ea typeface="Calibri" pitchFamily="34" charset="-122"/>
                <a:cs typeface="Calibri" pitchFamily="34" charset="-120"/>
              </a:rPr>
              <a:t>Complex Data Flows</a:t>
            </a:r>
            <a:endParaRPr lang="en-US" sz="1400" dirty="0"/>
          </a:p>
        </p:txBody>
      </p:sp>
      <p:sp>
        <p:nvSpPr>
          <p:cNvPr id="18" name="Text 13"/>
          <p:cNvSpPr/>
          <p:nvPr/>
        </p:nvSpPr>
        <p:spPr>
          <a:xfrm>
            <a:off x="914400" y="3566160"/>
            <a:ext cx="3291840" cy="731520"/>
          </a:xfrm>
          <a:prstGeom prst="rect">
            <a:avLst/>
          </a:prstGeom>
          <a:noFill/>
          <a:ln/>
        </p:spPr>
        <p:txBody>
          <a:bodyPr wrap="square" lIns="0" tIns="0" rIns="0" bIns="0" rtlCol="0" anchor="ctr"/>
          <a:lstStyle/>
          <a:p>
            <a:pPr marL="0" indent="0">
              <a:buNone/>
            </a:pPr>
            <a:r>
              <a:rPr lang="en-US" sz="1100" dirty="0">
                <a:solidFill>
                  <a:srgbClr val="6B7C93"/>
                </a:solidFill>
                <a:latin typeface="Calibri" pitchFamily="34" charset="0"/>
                <a:ea typeface="Calibri" pitchFamily="34" charset="-122"/>
                <a:cs typeface="Calibri" pitchFamily="34" charset="-120"/>
              </a:rPr>
              <a:t>Events, queues, and async patterns that span services. Plans need to capture the full flow before coding begins.</a:t>
            </a:r>
            <a:endParaRPr lang="en-US" sz="1100" dirty="0"/>
          </a:p>
        </p:txBody>
      </p:sp>
      <p:sp>
        <p:nvSpPr>
          <p:cNvPr id="19" name="Shape 14"/>
          <p:cNvSpPr/>
          <p:nvPr/>
        </p:nvSpPr>
        <p:spPr>
          <a:xfrm>
            <a:off x="4754880" y="2880360"/>
            <a:ext cx="3657600" cy="155448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20" name="Shape 15"/>
          <p:cNvSpPr/>
          <p:nvPr/>
        </p:nvSpPr>
        <p:spPr>
          <a:xfrm>
            <a:off x="4754880" y="2880360"/>
            <a:ext cx="3657600" cy="45720"/>
          </a:xfrm>
          <a:prstGeom prst="rect">
            <a:avLst/>
          </a:prstGeom>
          <a:solidFill>
            <a:srgbClr val="0055DD"/>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4937760" y="3108960"/>
            <a:ext cx="365760" cy="365760"/>
          </a:xfrm>
          <a:prstGeom prst="rect">
            <a:avLst/>
          </a:prstGeom>
        </p:spPr>
      </p:pic>
      <p:sp>
        <p:nvSpPr>
          <p:cNvPr id="22" name="Text 16"/>
          <p:cNvSpPr/>
          <p:nvPr/>
        </p:nvSpPr>
        <p:spPr>
          <a:xfrm>
            <a:off x="5440680" y="3063240"/>
            <a:ext cx="2743200" cy="365760"/>
          </a:xfrm>
          <a:prstGeom prst="rect">
            <a:avLst/>
          </a:prstGeom>
          <a:noFill/>
          <a:ln/>
        </p:spPr>
        <p:txBody>
          <a:bodyPr wrap="square" lIns="0" tIns="0" rIns="0" bIns="0" rtlCol="0" anchor="ctr"/>
          <a:lstStyle/>
          <a:p>
            <a:pPr marL="0" indent="0">
              <a:buNone/>
            </a:pPr>
            <a:r>
              <a:rPr lang="en-US" sz="1400" b="1" dirty="0">
                <a:solidFill>
                  <a:srgbClr val="1A1A2E"/>
                </a:solidFill>
                <a:latin typeface="Calibri" pitchFamily="34" charset="0"/>
                <a:ea typeface="Calibri" pitchFamily="34" charset="-122"/>
                <a:cs typeface="Calibri" pitchFamily="34" charset="-120"/>
              </a:rPr>
              <a:t>Team Mental Alignment</a:t>
            </a:r>
            <a:endParaRPr lang="en-US" sz="1400" dirty="0"/>
          </a:p>
        </p:txBody>
      </p:sp>
      <p:sp>
        <p:nvSpPr>
          <p:cNvPr id="23" name="Text 17"/>
          <p:cNvSpPr/>
          <p:nvPr/>
        </p:nvSpPr>
        <p:spPr>
          <a:xfrm>
            <a:off x="4937760" y="3566160"/>
            <a:ext cx="3291840" cy="731520"/>
          </a:xfrm>
          <a:prstGeom prst="rect">
            <a:avLst/>
          </a:prstGeom>
          <a:noFill/>
          <a:ln/>
        </p:spPr>
        <p:txBody>
          <a:bodyPr wrap="square" lIns="0" tIns="0" rIns="0" bIns="0" rtlCol="0" anchor="ctr"/>
          <a:lstStyle/>
          <a:p>
            <a:pPr marL="0" indent="0">
              <a:buNone/>
            </a:pPr>
            <a:r>
              <a:rPr lang="en-US" sz="1100" dirty="0">
                <a:solidFill>
                  <a:srgbClr val="6B7C93"/>
                </a:solidFill>
                <a:latin typeface="Calibri" pitchFamily="34" charset="0"/>
                <a:ea typeface="Calibri" pitchFamily="34" charset="-122"/>
                <a:cs typeface="Calibri" pitchFamily="34" charset="-120"/>
              </a:rPr>
              <a:t>When AI writes 90% of the code, specs and plans become the shared language. Review plans, not just PRs.</a:t>
            </a:r>
            <a:endParaRPr lang="en-US" sz="1100" dirty="0"/>
          </a:p>
        </p:txBody>
      </p:sp>
      <p:sp>
        <p:nvSpPr>
          <p:cNvPr id="24" name="Text 18"/>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B7C93"/>
                </a:solidFill>
                <a:latin typeface="Calibri" pitchFamily="34" charset="0"/>
                <a:ea typeface="Calibri" pitchFamily="34" charset="-122"/>
                <a:cs typeface="Calibri" pitchFamily="34" charset="-120"/>
              </a:rPr>
              <a:t>9 / 14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BDD"/>
          </a:solidFill>
          <a:ln/>
        </p:spPr>
        <p:txBody>
          <a:bodyPr/>
          <a:lstStyle/>
          <a:p>
            <a:endParaRPr lang="en-US"/>
          </a:p>
        </p:txBody>
      </p:sp>
      <p:sp>
        <p:nvSpPr>
          <p:cNvPr id="3" name="Text 1"/>
          <p:cNvSpPr/>
          <p:nvPr/>
        </p:nvSpPr>
        <p:spPr>
          <a:xfrm>
            <a:off x="731520" y="365760"/>
            <a:ext cx="7680960" cy="457200"/>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Real-World Results</a:t>
            </a:r>
            <a:endParaRPr lang="en-US" sz="2800" dirty="0"/>
          </a:p>
        </p:txBody>
      </p:sp>
      <p:sp>
        <p:nvSpPr>
          <p:cNvPr id="4" name="Text 2"/>
          <p:cNvSpPr/>
          <p:nvPr/>
        </p:nvSpPr>
        <p:spPr>
          <a:xfrm>
            <a:off x="731520" y="822960"/>
            <a:ext cx="7680960" cy="274320"/>
          </a:xfrm>
          <a:prstGeom prst="rect">
            <a:avLst/>
          </a:prstGeom>
          <a:noFill/>
          <a:ln/>
        </p:spPr>
        <p:txBody>
          <a:bodyPr wrap="square" lIns="0" tIns="0" rIns="0" bIns="0" rtlCol="0" anchor="ctr"/>
          <a:lstStyle/>
          <a:p>
            <a:pPr marL="0" indent="0">
              <a:buNone/>
            </a:pPr>
            <a:r>
              <a:rPr lang="en-US" sz="1200" i="1" dirty="0">
                <a:solidFill>
                  <a:srgbClr val="6B7C93"/>
                </a:solidFill>
                <a:latin typeface="Calibri" pitchFamily="34" charset="0"/>
                <a:ea typeface="Calibri" pitchFamily="34" charset="-122"/>
                <a:cs typeface="Calibri" pitchFamily="34" charset="-120"/>
              </a:rPr>
              <a:t>Evidence from teams applying context engineering</a:t>
            </a:r>
            <a:endParaRPr lang="en-US" sz="1200" dirty="0"/>
          </a:p>
        </p:txBody>
      </p:sp>
      <p:sp>
        <p:nvSpPr>
          <p:cNvPr id="5" name="Shape 3"/>
          <p:cNvSpPr/>
          <p:nvPr/>
        </p:nvSpPr>
        <p:spPr>
          <a:xfrm>
            <a:off x="731520" y="1371600"/>
            <a:ext cx="2560320" cy="292608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6" name="Shape 4"/>
          <p:cNvSpPr/>
          <p:nvPr/>
        </p:nvSpPr>
        <p:spPr>
          <a:xfrm>
            <a:off x="731520" y="1371600"/>
            <a:ext cx="2560320" cy="54864"/>
          </a:xfrm>
          <a:prstGeom prst="rect">
            <a:avLst/>
          </a:prstGeom>
          <a:solidFill>
            <a:srgbClr val="0055DD"/>
          </a:solidFill>
          <a:ln/>
        </p:spPr>
        <p:txBody>
          <a:bodyPr/>
          <a:lstStyle/>
          <a:p>
            <a:endParaRPr lang="en-US"/>
          </a:p>
        </p:txBody>
      </p:sp>
      <p:sp>
        <p:nvSpPr>
          <p:cNvPr id="7" name="Text 5"/>
          <p:cNvSpPr/>
          <p:nvPr/>
        </p:nvSpPr>
        <p:spPr>
          <a:xfrm>
            <a:off x="731520" y="1645920"/>
            <a:ext cx="2560320" cy="1097280"/>
          </a:xfrm>
          <a:prstGeom prst="rect">
            <a:avLst/>
          </a:prstGeom>
          <a:noFill/>
          <a:ln/>
        </p:spPr>
        <p:txBody>
          <a:bodyPr wrap="square" lIns="0" tIns="0" rIns="0" bIns="0" rtlCol="0" anchor="ctr"/>
          <a:lstStyle/>
          <a:p>
            <a:pPr marL="0" indent="0" algn="ctr">
              <a:buNone/>
            </a:pPr>
            <a:r>
              <a:rPr lang="en-US" sz="6400" b="1" dirty="0">
                <a:solidFill>
                  <a:srgbClr val="0055DD"/>
                </a:solidFill>
                <a:latin typeface="Calibri" pitchFamily="34" charset="0"/>
                <a:ea typeface="Calibri" pitchFamily="34" charset="-122"/>
                <a:cs typeface="Calibri" pitchFamily="34" charset="-120"/>
              </a:rPr>
              <a:t>35k</a:t>
            </a:r>
            <a:endParaRPr lang="en-US" sz="6400" dirty="0"/>
          </a:p>
        </p:txBody>
      </p:sp>
      <p:sp>
        <p:nvSpPr>
          <p:cNvPr id="8" name="Text 6"/>
          <p:cNvSpPr/>
          <p:nvPr/>
        </p:nvSpPr>
        <p:spPr>
          <a:xfrm>
            <a:off x="731520" y="2743200"/>
            <a:ext cx="2560320" cy="365760"/>
          </a:xfrm>
          <a:prstGeom prst="rect">
            <a:avLst/>
          </a:prstGeom>
          <a:noFill/>
          <a:ln/>
        </p:spPr>
        <p:txBody>
          <a:bodyPr wrap="square" lIns="0" tIns="0" rIns="0" bIns="0" rtlCol="0" anchor="ctr"/>
          <a:lstStyle/>
          <a:p>
            <a:pPr marL="0" indent="0" algn="ctr">
              <a:buNone/>
            </a:pPr>
            <a:r>
              <a:rPr lang="en-US" sz="1400" b="1" dirty="0">
                <a:solidFill>
                  <a:srgbClr val="1A1A2E"/>
                </a:solidFill>
                <a:latin typeface="Calibri" pitchFamily="34" charset="0"/>
                <a:ea typeface="Calibri" pitchFamily="34" charset="-122"/>
                <a:cs typeface="Calibri" pitchFamily="34" charset="-120"/>
              </a:rPr>
              <a:t>LOC</a:t>
            </a:r>
            <a:endParaRPr lang="en-US" sz="1400" dirty="0"/>
          </a:p>
        </p:txBody>
      </p:sp>
      <p:sp>
        <p:nvSpPr>
          <p:cNvPr id="9" name="Text 7"/>
          <p:cNvSpPr/>
          <p:nvPr/>
        </p:nvSpPr>
        <p:spPr>
          <a:xfrm>
            <a:off x="1005840" y="3200400"/>
            <a:ext cx="2011680" cy="822960"/>
          </a:xfrm>
          <a:prstGeom prst="rect">
            <a:avLst/>
          </a:prstGeom>
          <a:noFill/>
          <a:ln/>
        </p:spPr>
        <p:txBody>
          <a:bodyPr wrap="square" lIns="0" tIns="0" rIns="0" bIns="0" rtlCol="0" anchor="ctr"/>
          <a:lstStyle/>
          <a:p>
            <a:pPr marL="0" indent="0" algn="ctr">
              <a:buNone/>
            </a:pPr>
            <a:r>
              <a:rPr lang="en-US" sz="1000" dirty="0">
                <a:solidFill>
                  <a:srgbClr val="6B7C93"/>
                </a:solidFill>
                <a:latin typeface="Calibri" pitchFamily="34" charset="0"/>
                <a:ea typeface="Calibri" pitchFamily="34" charset="-122"/>
                <a:cs typeface="Calibri" pitchFamily="34" charset="-120"/>
              </a:rPr>
              <a:t>shipped in 7 hours on a 300k LOC Rust codebase (BAML)</a:t>
            </a:r>
            <a:endParaRPr lang="en-US" sz="1000" dirty="0"/>
          </a:p>
        </p:txBody>
      </p:sp>
      <p:sp>
        <p:nvSpPr>
          <p:cNvPr id="10" name="Shape 8"/>
          <p:cNvSpPr/>
          <p:nvPr/>
        </p:nvSpPr>
        <p:spPr>
          <a:xfrm>
            <a:off x="3520440" y="1371600"/>
            <a:ext cx="2560320" cy="292608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11" name="Shape 9"/>
          <p:cNvSpPr/>
          <p:nvPr/>
        </p:nvSpPr>
        <p:spPr>
          <a:xfrm>
            <a:off x="3520440" y="1371600"/>
            <a:ext cx="2560320" cy="54864"/>
          </a:xfrm>
          <a:prstGeom prst="rect">
            <a:avLst/>
          </a:prstGeom>
          <a:solidFill>
            <a:srgbClr val="00BBDD"/>
          </a:solidFill>
          <a:ln/>
        </p:spPr>
        <p:txBody>
          <a:bodyPr/>
          <a:lstStyle/>
          <a:p>
            <a:endParaRPr lang="en-US"/>
          </a:p>
        </p:txBody>
      </p:sp>
      <p:sp>
        <p:nvSpPr>
          <p:cNvPr id="12" name="Text 10"/>
          <p:cNvSpPr/>
          <p:nvPr/>
        </p:nvSpPr>
        <p:spPr>
          <a:xfrm>
            <a:off x="3520440" y="1645920"/>
            <a:ext cx="2560320" cy="1097280"/>
          </a:xfrm>
          <a:prstGeom prst="rect">
            <a:avLst/>
          </a:prstGeom>
          <a:noFill/>
          <a:ln/>
        </p:spPr>
        <p:txBody>
          <a:bodyPr wrap="square" lIns="0" tIns="0" rIns="0" bIns="0" rtlCol="0" anchor="ctr"/>
          <a:lstStyle/>
          <a:p>
            <a:pPr marL="0" indent="0" algn="ctr">
              <a:buNone/>
            </a:pPr>
            <a:r>
              <a:rPr lang="en-US" sz="6400" b="1" dirty="0">
                <a:solidFill>
                  <a:srgbClr val="00BBDD"/>
                </a:solidFill>
                <a:latin typeface="Calibri" pitchFamily="34" charset="0"/>
                <a:ea typeface="Calibri" pitchFamily="34" charset="-122"/>
                <a:cs typeface="Calibri" pitchFamily="34" charset="-120"/>
              </a:rPr>
              <a:t>6</a:t>
            </a:r>
            <a:endParaRPr lang="en-US" sz="6400" dirty="0"/>
          </a:p>
        </p:txBody>
      </p:sp>
      <p:sp>
        <p:nvSpPr>
          <p:cNvPr id="13" name="Text 11"/>
          <p:cNvSpPr/>
          <p:nvPr/>
        </p:nvSpPr>
        <p:spPr>
          <a:xfrm>
            <a:off x="3520440" y="2743200"/>
            <a:ext cx="2560320" cy="365760"/>
          </a:xfrm>
          <a:prstGeom prst="rect">
            <a:avLst/>
          </a:prstGeom>
          <a:noFill/>
          <a:ln/>
        </p:spPr>
        <p:txBody>
          <a:bodyPr wrap="square" lIns="0" tIns="0" rIns="0" bIns="0" rtlCol="0" anchor="ctr"/>
          <a:lstStyle/>
          <a:p>
            <a:pPr marL="0" indent="0" algn="ctr">
              <a:buNone/>
            </a:pPr>
            <a:r>
              <a:rPr lang="en-US" sz="1400" b="1" dirty="0">
                <a:solidFill>
                  <a:srgbClr val="1A1A2E"/>
                </a:solidFill>
                <a:latin typeface="Calibri" pitchFamily="34" charset="0"/>
                <a:ea typeface="Calibri" pitchFamily="34" charset="-122"/>
                <a:cs typeface="Calibri" pitchFamily="34" charset="-120"/>
              </a:rPr>
              <a:t>PRs / day</a:t>
            </a:r>
            <a:endParaRPr lang="en-US" sz="1400" dirty="0"/>
          </a:p>
        </p:txBody>
      </p:sp>
      <p:sp>
        <p:nvSpPr>
          <p:cNvPr id="14" name="Text 12"/>
          <p:cNvSpPr/>
          <p:nvPr/>
        </p:nvSpPr>
        <p:spPr>
          <a:xfrm>
            <a:off x="3794760" y="3200400"/>
            <a:ext cx="2011680" cy="822960"/>
          </a:xfrm>
          <a:prstGeom prst="rect">
            <a:avLst/>
          </a:prstGeom>
          <a:noFill/>
          <a:ln/>
        </p:spPr>
        <p:txBody>
          <a:bodyPr wrap="square" lIns="0" tIns="0" rIns="0" bIns="0" rtlCol="0" anchor="ctr"/>
          <a:lstStyle/>
          <a:p>
            <a:pPr marL="0" indent="0" algn="ctr">
              <a:buNone/>
            </a:pPr>
            <a:r>
              <a:rPr lang="en-US" sz="1000" dirty="0">
                <a:solidFill>
                  <a:srgbClr val="6B7C93"/>
                </a:solidFill>
                <a:latin typeface="Calibri" pitchFamily="34" charset="0"/>
                <a:ea typeface="Calibri" pitchFamily="34" charset="-122"/>
                <a:cs typeface="Calibri" pitchFamily="34" charset="-120"/>
              </a:rPr>
              <a:t>sustained output per developer with research/plan/implement</a:t>
            </a:r>
            <a:endParaRPr lang="en-US" sz="1000" dirty="0"/>
          </a:p>
        </p:txBody>
      </p:sp>
      <p:sp>
        <p:nvSpPr>
          <p:cNvPr id="15" name="Shape 13"/>
          <p:cNvSpPr/>
          <p:nvPr/>
        </p:nvSpPr>
        <p:spPr>
          <a:xfrm>
            <a:off x="6309360" y="1371600"/>
            <a:ext cx="2560320" cy="292608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16" name="Shape 14"/>
          <p:cNvSpPr/>
          <p:nvPr/>
        </p:nvSpPr>
        <p:spPr>
          <a:xfrm>
            <a:off x="6309360" y="1371600"/>
            <a:ext cx="2560320" cy="54864"/>
          </a:xfrm>
          <a:prstGeom prst="rect">
            <a:avLst/>
          </a:prstGeom>
          <a:solidFill>
            <a:srgbClr val="4338CA"/>
          </a:solidFill>
          <a:ln/>
        </p:spPr>
        <p:txBody>
          <a:bodyPr/>
          <a:lstStyle/>
          <a:p>
            <a:endParaRPr lang="en-US"/>
          </a:p>
        </p:txBody>
      </p:sp>
      <p:sp>
        <p:nvSpPr>
          <p:cNvPr id="17" name="Text 15"/>
          <p:cNvSpPr/>
          <p:nvPr/>
        </p:nvSpPr>
        <p:spPr>
          <a:xfrm>
            <a:off x="6309360" y="1645920"/>
            <a:ext cx="2560320" cy="1097280"/>
          </a:xfrm>
          <a:prstGeom prst="rect">
            <a:avLst/>
          </a:prstGeom>
          <a:noFill/>
          <a:ln/>
        </p:spPr>
        <p:txBody>
          <a:bodyPr wrap="square" lIns="0" tIns="0" rIns="0" bIns="0" rtlCol="0" anchor="ctr"/>
          <a:lstStyle/>
          <a:p>
            <a:pPr marL="0" indent="0" algn="ctr">
              <a:buNone/>
            </a:pPr>
            <a:r>
              <a:rPr lang="en-US" sz="6400" b="1" dirty="0">
                <a:solidFill>
                  <a:srgbClr val="4338CA"/>
                </a:solidFill>
                <a:latin typeface="Calibri" pitchFamily="34" charset="0"/>
                <a:ea typeface="Calibri" pitchFamily="34" charset="-122"/>
                <a:cs typeface="Calibri" pitchFamily="34" charset="-120"/>
              </a:rPr>
              <a:t>10</a:t>
            </a:r>
            <a:endParaRPr lang="en-US" sz="6400" dirty="0"/>
          </a:p>
        </p:txBody>
      </p:sp>
      <p:sp>
        <p:nvSpPr>
          <p:cNvPr id="18" name="Text 16"/>
          <p:cNvSpPr/>
          <p:nvPr/>
        </p:nvSpPr>
        <p:spPr>
          <a:xfrm>
            <a:off x="6309360" y="2743200"/>
            <a:ext cx="2560320" cy="365760"/>
          </a:xfrm>
          <a:prstGeom prst="rect">
            <a:avLst/>
          </a:prstGeom>
          <a:noFill/>
          <a:ln/>
        </p:spPr>
        <p:txBody>
          <a:bodyPr wrap="square" lIns="0" tIns="0" rIns="0" bIns="0" rtlCol="0" anchor="ctr"/>
          <a:lstStyle/>
          <a:p>
            <a:pPr marL="0" indent="0" algn="ctr">
              <a:buNone/>
            </a:pPr>
            <a:r>
              <a:rPr lang="en-US" sz="1400" b="1" dirty="0">
                <a:solidFill>
                  <a:srgbClr val="1A1A2E"/>
                </a:solidFill>
                <a:latin typeface="Calibri" pitchFamily="34" charset="0"/>
                <a:ea typeface="Calibri" pitchFamily="34" charset="-122"/>
                <a:cs typeface="Calibri" pitchFamily="34" charset="-120"/>
              </a:rPr>
              <a:t>PRs in 8 days</a:t>
            </a:r>
            <a:endParaRPr lang="en-US" sz="1400" dirty="0"/>
          </a:p>
        </p:txBody>
      </p:sp>
      <p:sp>
        <p:nvSpPr>
          <p:cNvPr id="19" name="Text 17"/>
          <p:cNvSpPr/>
          <p:nvPr/>
        </p:nvSpPr>
        <p:spPr>
          <a:xfrm>
            <a:off x="6583680" y="3200400"/>
            <a:ext cx="2011680" cy="822960"/>
          </a:xfrm>
          <a:prstGeom prst="rect">
            <a:avLst/>
          </a:prstGeom>
          <a:noFill/>
          <a:ln/>
        </p:spPr>
        <p:txBody>
          <a:bodyPr wrap="square" lIns="0" tIns="0" rIns="0" bIns="0" rtlCol="0" anchor="ctr"/>
          <a:lstStyle/>
          <a:p>
            <a:pPr marL="0" indent="0" algn="ctr">
              <a:buNone/>
            </a:pPr>
            <a:r>
              <a:rPr lang="en-US" sz="1000" dirty="0">
                <a:solidFill>
                  <a:srgbClr val="6B7C93"/>
                </a:solidFill>
                <a:latin typeface="Calibri" pitchFamily="34" charset="0"/>
                <a:ea typeface="Calibri" pitchFamily="34" charset="-122"/>
                <a:cs typeface="Calibri" pitchFamily="34" charset="-120"/>
              </a:rPr>
              <a:t>by an intern on their first week using this workflow</a:t>
            </a:r>
            <a:endParaRPr lang="en-US" sz="1000" dirty="0"/>
          </a:p>
        </p:txBody>
      </p:sp>
      <p:sp>
        <p:nvSpPr>
          <p:cNvPr id="20" name="Text 18"/>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B7C93"/>
                </a:solidFill>
                <a:latin typeface="Calibri" pitchFamily="34" charset="0"/>
                <a:ea typeface="Calibri" pitchFamily="34" charset="-122"/>
                <a:cs typeface="Calibri" pitchFamily="34" charset="-120"/>
              </a:rPr>
              <a:t>12 / 14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55DD"/>
          </a:solidFill>
          <a:ln/>
        </p:spPr>
        <p:txBody>
          <a:bodyPr/>
          <a:lstStyle/>
          <a:p>
            <a:endParaRPr lang="en-US"/>
          </a:p>
        </p:txBody>
      </p:sp>
      <p:sp>
        <p:nvSpPr>
          <p:cNvPr id="3" name="Text 1"/>
          <p:cNvSpPr/>
          <p:nvPr/>
        </p:nvSpPr>
        <p:spPr>
          <a:xfrm>
            <a:off x="731520" y="365760"/>
            <a:ext cx="7680960" cy="457200"/>
          </a:xfrm>
          <a:prstGeom prst="rect">
            <a:avLst/>
          </a:prstGeom>
          <a:noFill/>
          <a:ln/>
        </p:spPr>
        <p:txBody>
          <a:bodyPr wrap="square" lIns="0" tIns="0" rIns="0" bIns="0"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Honest Assessment: This Is Not Magic</a:t>
            </a:r>
            <a:endParaRPr lang="en-US" sz="2600" dirty="0"/>
          </a:p>
        </p:txBody>
      </p:sp>
      <p:sp>
        <p:nvSpPr>
          <p:cNvPr id="4" name="Shape 2"/>
          <p:cNvSpPr/>
          <p:nvPr/>
        </p:nvSpPr>
        <p:spPr>
          <a:xfrm>
            <a:off x="731520" y="1051560"/>
            <a:ext cx="3657600" cy="32918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5" name="Shape 3"/>
          <p:cNvSpPr/>
          <p:nvPr/>
        </p:nvSpPr>
        <p:spPr>
          <a:xfrm>
            <a:off x="731520" y="1051560"/>
            <a:ext cx="3657600" cy="54864"/>
          </a:xfrm>
          <a:prstGeom prst="rect">
            <a:avLst/>
          </a:prstGeom>
          <a:solidFill>
            <a:srgbClr val="10B981"/>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60120" y="1280160"/>
            <a:ext cx="274320" cy="274320"/>
          </a:xfrm>
          <a:prstGeom prst="rect">
            <a:avLst/>
          </a:prstGeom>
        </p:spPr>
      </p:pic>
      <p:sp>
        <p:nvSpPr>
          <p:cNvPr id="7" name="Text 4"/>
          <p:cNvSpPr/>
          <p:nvPr/>
        </p:nvSpPr>
        <p:spPr>
          <a:xfrm>
            <a:off x="1325880" y="1280160"/>
            <a:ext cx="2743200" cy="320040"/>
          </a:xfrm>
          <a:prstGeom prst="rect">
            <a:avLst/>
          </a:prstGeom>
          <a:noFill/>
          <a:ln/>
        </p:spPr>
        <p:txBody>
          <a:bodyPr wrap="square" lIns="0" tIns="0" rIns="0" bIns="0" rtlCol="0" anchor="ctr"/>
          <a:lstStyle/>
          <a:p>
            <a:pPr marL="0" indent="0">
              <a:buNone/>
            </a:pPr>
            <a:r>
              <a:rPr lang="en-US" sz="1600" b="1" dirty="0">
                <a:solidFill>
                  <a:srgbClr val="10B981"/>
                </a:solidFill>
                <a:latin typeface="Calibri" pitchFamily="34" charset="0"/>
                <a:ea typeface="Calibri" pitchFamily="34" charset="-122"/>
                <a:cs typeface="Calibri" pitchFamily="34" charset="-120"/>
              </a:rPr>
              <a:t>What Works</a:t>
            </a:r>
            <a:endParaRPr lang="en-US" sz="1600" dirty="0"/>
          </a:p>
        </p:txBody>
      </p:sp>
      <p:sp>
        <p:nvSpPr>
          <p:cNvPr id="8" name="Text 5"/>
          <p:cNvSpPr/>
          <p:nvPr/>
        </p:nvSpPr>
        <p:spPr>
          <a:xfrm>
            <a:off x="960120" y="1783080"/>
            <a:ext cx="3200400" cy="365760"/>
          </a:xfrm>
          <a:prstGeom prst="rect">
            <a:avLst/>
          </a:prstGeom>
          <a:noFill/>
          <a:ln/>
        </p:spPr>
        <p:txBody>
          <a:bodyPr wrap="square" lIns="0" tIns="0" rIns="0" bIns="0" rtlCol="0" anchor="ctr"/>
          <a:lstStyle/>
          <a:p>
            <a:pPr marL="342900" indent="-342900">
              <a:buSzPct val="100000"/>
              <a:buChar char="•"/>
            </a:pPr>
            <a:r>
              <a:rPr lang="en-US" sz="1200" dirty="0">
                <a:solidFill>
                  <a:srgbClr val="1A1A2E"/>
                </a:solidFill>
                <a:latin typeface="Calibri" pitchFamily="34" charset="0"/>
                <a:ea typeface="Calibri" pitchFamily="34" charset="-122"/>
                <a:cs typeface="Calibri" pitchFamily="34" charset="-120"/>
              </a:rPr>
              <a:t>Works in brownfield codebases</a:t>
            </a:r>
            <a:endParaRPr lang="en-US" sz="1200" dirty="0"/>
          </a:p>
        </p:txBody>
      </p:sp>
      <p:sp>
        <p:nvSpPr>
          <p:cNvPr id="9" name="Text 6"/>
          <p:cNvSpPr/>
          <p:nvPr/>
        </p:nvSpPr>
        <p:spPr>
          <a:xfrm>
            <a:off x="960120" y="2240280"/>
            <a:ext cx="3200400" cy="365760"/>
          </a:xfrm>
          <a:prstGeom prst="rect">
            <a:avLst/>
          </a:prstGeom>
          <a:noFill/>
          <a:ln/>
        </p:spPr>
        <p:txBody>
          <a:bodyPr wrap="square" lIns="0" tIns="0" rIns="0" bIns="0" rtlCol="0" anchor="ctr"/>
          <a:lstStyle/>
          <a:p>
            <a:pPr marL="342900" indent="-342900">
              <a:buSzPct val="100000"/>
              <a:buChar char="•"/>
            </a:pPr>
            <a:r>
              <a:rPr lang="en-US" sz="1200" dirty="0">
                <a:solidFill>
                  <a:srgbClr val="1A1A2E"/>
                </a:solidFill>
                <a:latin typeface="Calibri" pitchFamily="34" charset="0"/>
                <a:ea typeface="Calibri" pitchFamily="34" charset="-122"/>
                <a:cs typeface="Calibri" pitchFamily="34" charset="-120"/>
              </a:rPr>
              <a:t>Solves complex problems</a:t>
            </a:r>
            <a:endParaRPr lang="en-US" sz="1200" dirty="0"/>
          </a:p>
        </p:txBody>
      </p:sp>
      <p:sp>
        <p:nvSpPr>
          <p:cNvPr id="10" name="Text 7"/>
          <p:cNvSpPr/>
          <p:nvPr/>
        </p:nvSpPr>
        <p:spPr>
          <a:xfrm>
            <a:off x="960120" y="2697480"/>
            <a:ext cx="3200400" cy="365760"/>
          </a:xfrm>
          <a:prstGeom prst="rect">
            <a:avLst/>
          </a:prstGeom>
          <a:noFill/>
          <a:ln/>
        </p:spPr>
        <p:txBody>
          <a:bodyPr wrap="square" lIns="0" tIns="0" rIns="0" bIns="0" rtlCol="0" anchor="ctr"/>
          <a:lstStyle/>
          <a:p>
            <a:pPr marL="342900" indent="-342900">
              <a:buSzPct val="100000"/>
              <a:buChar char="•"/>
            </a:pPr>
            <a:r>
              <a:rPr lang="en-US" sz="1200" dirty="0">
                <a:solidFill>
                  <a:srgbClr val="1A1A2E"/>
                </a:solidFill>
                <a:latin typeface="Calibri" pitchFamily="34" charset="0"/>
                <a:ea typeface="Calibri" pitchFamily="34" charset="-122"/>
                <a:cs typeface="Calibri" pitchFamily="34" charset="-120"/>
              </a:rPr>
              <a:t>Produces merge-worthy code (no slop)</a:t>
            </a:r>
            <a:endParaRPr lang="en-US" sz="1200" dirty="0"/>
          </a:p>
        </p:txBody>
      </p:sp>
      <p:sp>
        <p:nvSpPr>
          <p:cNvPr id="11" name="Text 8"/>
          <p:cNvSpPr/>
          <p:nvPr/>
        </p:nvSpPr>
        <p:spPr>
          <a:xfrm>
            <a:off x="960120" y="3154680"/>
            <a:ext cx="3200400" cy="365760"/>
          </a:xfrm>
          <a:prstGeom prst="rect">
            <a:avLst/>
          </a:prstGeom>
          <a:noFill/>
          <a:ln/>
        </p:spPr>
        <p:txBody>
          <a:bodyPr wrap="square" lIns="0" tIns="0" rIns="0" bIns="0" rtlCol="0" anchor="ctr"/>
          <a:lstStyle/>
          <a:p>
            <a:pPr marL="342900" indent="-342900">
              <a:buSzPct val="100000"/>
              <a:buChar char="•"/>
            </a:pPr>
            <a:r>
              <a:rPr lang="en-US" sz="1200" dirty="0">
                <a:solidFill>
                  <a:srgbClr val="1A1A2E"/>
                </a:solidFill>
                <a:latin typeface="Calibri" pitchFamily="34" charset="0"/>
                <a:ea typeface="Calibri" pitchFamily="34" charset="-122"/>
                <a:cs typeface="Calibri" pitchFamily="34" charset="-120"/>
              </a:rPr>
              <a:t>Maintains team mental alignment</a:t>
            </a:r>
            <a:endParaRPr lang="en-US" sz="1200" dirty="0"/>
          </a:p>
        </p:txBody>
      </p:sp>
      <p:sp>
        <p:nvSpPr>
          <p:cNvPr id="12" name="Text 9"/>
          <p:cNvSpPr/>
          <p:nvPr/>
        </p:nvSpPr>
        <p:spPr>
          <a:xfrm>
            <a:off x="960120" y="3611880"/>
            <a:ext cx="3200400" cy="365760"/>
          </a:xfrm>
          <a:prstGeom prst="rect">
            <a:avLst/>
          </a:prstGeom>
          <a:noFill/>
          <a:ln/>
        </p:spPr>
        <p:txBody>
          <a:bodyPr wrap="square" lIns="0" tIns="0" rIns="0" bIns="0" rtlCol="0" anchor="ctr"/>
          <a:lstStyle/>
          <a:p>
            <a:pPr marL="342900" indent="-342900">
              <a:buSzPct val="100000"/>
              <a:buChar char="•"/>
            </a:pPr>
            <a:r>
              <a:rPr lang="en-US" sz="1200" dirty="0">
                <a:solidFill>
                  <a:srgbClr val="1A1A2E"/>
                </a:solidFill>
                <a:latin typeface="Calibri" pitchFamily="34" charset="0"/>
                <a:ea typeface="Calibri" pitchFamily="34" charset="-122"/>
                <a:cs typeface="Calibri" pitchFamily="34" charset="-120"/>
              </a:rPr>
              <a:t>Specs become shared documentation</a:t>
            </a:r>
            <a:endParaRPr lang="en-US" sz="1200" dirty="0"/>
          </a:p>
        </p:txBody>
      </p:sp>
      <p:sp>
        <p:nvSpPr>
          <p:cNvPr id="13" name="Shape 10"/>
          <p:cNvSpPr/>
          <p:nvPr/>
        </p:nvSpPr>
        <p:spPr>
          <a:xfrm>
            <a:off x="4754880" y="1051560"/>
            <a:ext cx="3657600" cy="32918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14" name="Shape 11"/>
          <p:cNvSpPr/>
          <p:nvPr/>
        </p:nvSpPr>
        <p:spPr>
          <a:xfrm>
            <a:off x="4754880" y="1051560"/>
            <a:ext cx="3657600" cy="54864"/>
          </a:xfrm>
          <a:prstGeom prst="rect">
            <a:avLst/>
          </a:prstGeom>
          <a:solidFill>
            <a:srgbClr val="F59E0B"/>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4983480" y="1280160"/>
            <a:ext cx="274320" cy="274320"/>
          </a:xfrm>
          <a:prstGeom prst="rect">
            <a:avLst/>
          </a:prstGeom>
        </p:spPr>
      </p:pic>
      <p:sp>
        <p:nvSpPr>
          <p:cNvPr id="16" name="Text 12"/>
          <p:cNvSpPr/>
          <p:nvPr/>
        </p:nvSpPr>
        <p:spPr>
          <a:xfrm>
            <a:off x="5349240" y="1280160"/>
            <a:ext cx="2743200" cy="320040"/>
          </a:xfrm>
          <a:prstGeom prst="rect">
            <a:avLst/>
          </a:prstGeom>
          <a:noFill/>
          <a:ln/>
        </p:spPr>
        <p:txBody>
          <a:bodyPr wrap="square" lIns="0" tIns="0" rIns="0" bIns="0" rtlCol="0" anchor="ctr"/>
          <a:lstStyle/>
          <a:p>
            <a:pPr marL="0" indent="0">
              <a:buNone/>
            </a:pPr>
            <a:r>
              <a:rPr lang="en-US" sz="1600" b="1" dirty="0">
                <a:solidFill>
                  <a:srgbClr val="F59E0B"/>
                </a:solidFill>
                <a:latin typeface="Calibri" pitchFamily="34" charset="0"/>
                <a:ea typeface="Calibri" pitchFamily="34" charset="-122"/>
                <a:cs typeface="Calibri" pitchFamily="34" charset="-120"/>
              </a:rPr>
              <a:t>Watch Out For</a:t>
            </a:r>
            <a:endParaRPr lang="en-US" sz="1600" dirty="0"/>
          </a:p>
        </p:txBody>
      </p:sp>
      <p:sp>
        <p:nvSpPr>
          <p:cNvPr id="17" name="Text 13"/>
          <p:cNvSpPr/>
          <p:nvPr/>
        </p:nvSpPr>
        <p:spPr>
          <a:xfrm>
            <a:off x="4983480" y="1783080"/>
            <a:ext cx="3200400" cy="365760"/>
          </a:xfrm>
          <a:prstGeom prst="rect">
            <a:avLst/>
          </a:prstGeom>
          <a:noFill/>
          <a:ln/>
        </p:spPr>
        <p:txBody>
          <a:bodyPr wrap="square" lIns="0" tIns="0" rIns="0" bIns="0" rtlCol="0" anchor="ctr"/>
          <a:lstStyle/>
          <a:p>
            <a:pPr marL="342900" indent="-342900">
              <a:buSzPct val="100000"/>
              <a:buChar char="•"/>
            </a:pPr>
            <a:r>
              <a:rPr lang="en-US" sz="1200" dirty="0">
                <a:solidFill>
                  <a:srgbClr val="1A1A2E"/>
                </a:solidFill>
                <a:latin typeface="Calibri" pitchFamily="34" charset="0"/>
                <a:ea typeface="Calibri" pitchFamily="34" charset="-122"/>
                <a:cs typeface="Calibri" pitchFamily="34" charset="-120"/>
              </a:rPr>
              <a:t>You must engage deeply — no autopilot</a:t>
            </a:r>
            <a:endParaRPr lang="en-US" sz="1200" dirty="0"/>
          </a:p>
        </p:txBody>
      </p:sp>
      <p:sp>
        <p:nvSpPr>
          <p:cNvPr id="18" name="Text 14"/>
          <p:cNvSpPr/>
          <p:nvPr/>
        </p:nvSpPr>
        <p:spPr>
          <a:xfrm>
            <a:off x="4983480" y="2240280"/>
            <a:ext cx="3200400" cy="365760"/>
          </a:xfrm>
          <a:prstGeom prst="rect">
            <a:avLst/>
          </a:prstGeom>
          <a:noFill/>
          <a:ln/>
        </p:spPr>
        <p:txBody>
          <a:bodyPr wrap="square" lIns="0" tIns="0" rIns="0" bIns="0" rtlCol="0" anchor="ctr"/>
          <a:lstStyle/>
          <a:p>
            <a:pPr marL="342900" indent="-342900">
              <a:buSzPct val="100000"/>
              <a:buChar char="•"/>
            </a:pPr>
            <a:r>
              <a:rPr lang="en-US" sz="1200" dirty="0">
                <a:solidFill>
                  <a:srgbClr val="1A1A2E"/>
                </a:solidFill>
                <a:latin typeface="Calibri" pitchFamily="34" charset="0"/>
                <a:ea typeface="Calibri" pitchFamily="34" charset="-122"/>
                <a:cs typeface="Calibri" pitchFamily="34" charset="-120"/>
              </a:rPr>
              <a:t>Research can be wrong — always verify</a:t>
            </a:r>
            <a:endParaRPr lang="en-US" sz="1200" dirty="0"/>
          </a:p>
        </p:txBody>
      </p:sp>
      <p:sp>
        <p:nvSpPr>
          <p:cNvPr id="19" name="Text 15"/>
          <p:cNvSpPr/>
          <p:nvPr/>
        </p:nvSpPr>
        <p:spPr>
          <a:xfrm>
            <a:off x="4983480" y="2697480"/>
            <a:ext cx="3200400" cy="365760"/>
          </a:xfrm>
          <a:prstGeom prst="rect">
            <a:avLst/>
          </a:prstGeom>
          <a:noFill/>
          <a:ln/>
        </p:spPr>
        <p:txBody>
          <a:bodyPr wrap="square" lIns="0" tIns="0" rIns="0" bIns="0" rtlCol="0" anchor="ctr"/>
          <a:lstStyle/>
          <a:p>
            <a:pPr marL="342900" indent="-342900">
              <a:buSzPct val="100000"/>
              <a:buChar char="•"/>
            </a:pPr>
            <a:r>
              <a:rPr lang="en-US" sz="1200" dirty="0">
                <a:solidFill>
                  <a:srgbClr val="1A1A2E"/>
                </a:solidFill>
                <a:latin typeface="Calibri" pitchFamily="34" charset="0"/>
                <a:ea typeface="Calibri" pitchFamily="34" charset="-122"/>
                <a:cs typeface="Calibri" pitchFamily="34" charset="-120"/>
              </a:rPr>
              <a:t>Complex dependency trees can mislead</a:t>
            </a:r>
            <a:endParaRPr lang="en-US" sz="1200" dirty="0"/>
          </a:p>
        </p:txBody>
      </p:sp>
      <p:sp>
        <p:nvSpPr>
          <p:cNvPr id="20" name="Text 16"/>
          <p:cNvSpPr/>
          <p:nvPr/>
        </p:nvSpPr>
        <p:spPr>
          <a:xfrm>
            <a:off x="4983480" y="3154680"/>
            <a:ext cx="3200400" cy="365760"/>
          </a:xfrm>
          <a:prstGeom prst="rect">
            <a:avLst/>
          </a:prstGeom>
          <a:noFill/>
          <a:ln/>
        </p:spPr>
        <p:txBody>
          <a:bodyPr wrap="square" lIns="0" tIns="0" rIns="0" bIns="0" rtlCol="0" anchor="ctr"/>
          <a:lstStyle/>
          <a:p>
            <a:pPr marL="342900" indent="-342900">
              <a:buSzPct val="100000"/>
              <a:buChar char="•"/>
            </a:pPr>
            <a:r>
              <a:rPr lang="en-US" sz="1200" dirty="0">
                <a:solidFill>
                  <a:srgbClr val="1A1A2E"/>
                </a:solidFill>
                <a:latin typeface="Calibri" pitchFamily="34" charset="0"/>
                <a:ea typeface="Calibri" pitchFamily="34" charset="-122"/>
                <a:cs typeface="Calibri" pitchFamily="34" charset="-120"/>
              </a:rPr>
              <a:t>Need at least one domain expert</a:t>
            </a:r>
            <a:endParaRPr lang="en-US" sz="1200" dirty="0"/>
          </a:p>
        </p:txBody>
      </p:sp>
      <p:sp>
        <p:nvSpPr>
          <p:cNvPr id="21" name="Text 17"/>
          <p:cNvSpPr/>
          <p:nvPr/>
        </p:nvSpPr>
        <p:spPr>
          <a:xfrm>
            <a:off x="4983480" y="3611880"/>
            <a:ext cx="3200400" cy="365760"/>
          </a:xfrm>
          <a:prstGeom prst="rect">
            <a:avLst/>
          </a:prstGeom>
          <a:noFill/>
          <a:ln/>
        </p:spPr>
        <p:txBody>
          <a:bodyPr wrap="square" lIns="0" tIns="0" rIns="0" bIns="0" rtlCol="0" anchor="ctr"/>
          <a:lstStyle/>
          <a:p>
            <a:pPr marL="342900" indent="-342900">
              <a:buSzPct val="100000"/>
              <a:buChar char="•"/>
            </a:pPr>
            <a:r>
              <a:rPr lang="en-US" sz="1200" dirty="0">
                <a:solidFill>
                  <a:srgbClr val="1A1A2E"/>
                </a:solidFill>
                <a:latin typeface="Calibri" pitchFamily="34" charset="0"/>
                <a:ea typeface="Calibri" pitchFamily="34" charset="-122"/>
                <a:cs typeface="Calibri" pitchFamily="34" charset="-120"/>
              </a:rPr>
              <a:t>Some problems are just hard</a:t>
            </a:r>
            <a:endParaRPr lang="en-US" sz="1200" dirty="0"/>
          </a:p>
        </p:txBody>
      </p:sp>
      <p:sp>
        <p:nvSpPr>
          <p:cNvPr id="22" name="Text 18"/>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B7C93"/>
                </a:solidFill>
                <a:latin typeface="Calibri" pitchFamily="34" charset="0"/>
                <a:ea typeface="Calibri" pitchFamily="34" charset="-122"/>
                <a:cs typeface="Calibri" pitchFamily="34" charset="-120"/>
              </a:rPr>
              <a:t>13 / 14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14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BDD"/>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114800" y="457200"/>
            <a:ext cx="640080" cy="640080"/>
          </a:xfrm>
          <a:prstGeom prst="rect">
            <a:avLst/>
          </a:prstGeom>
        </p:spPr>
      </p:pic>
      <p:sp>
        <p:nvSpPr>
          <p:cNvPr id="4" name="Text 1"/>
          <p:cNvSpPr/>
          <p:nvPr/>
        </p:nvSpPr>
        <p:spPr>
          <a:xfrm>
            <a:off x="731520" y="1143000"/>
            <a:ext cx="7680960" cy="45720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Next Steps for Our Team</a:t>
            </a:r>
            <a:endParaRPr lang="en-US" sz="3000" dirty="0"/>
          </a:p>
        </p:txBody>
      </p:sp>
      <p:sp>
        <p:nvSpPr>
          <p:cNvPr id="5" name="Shape 2"/>
          <p:cNvSpPr/>
          <p:nvPr/>
        </p:nvSpPr>
        <p:spPr>
          <a:xfrm>
            <a:off x="731520" y="1920240"/>
            <a:ext cx="2560320" cy="2560320"/>
          </a:xfrm>
          <a:prstGeom prst="rect">
            <a:avLst/>
          </a:prstGeom>
          <a:solidFill>
            <a:srgbClr val="1C2541"/>
          </a:solidFill>
          <a:ln/>
          <a:effectLst>
            <a:outerShdw blurRad="101600" dist="25400" dir="8100000" algn="bl" rotWithShape="0">
              <a:srgbClr val="000000">
                <a:alpha val="8000"/>
              </a:srgbClr>
            </a:outerShdw>
          </a:effectLst>
        </p:spPr>
        <p:txBody>
          <a:bodyPr/>
          <a:lstStyle/>
          <a:p>
            <a:endParaRPr lang="en-US"/>
          </a:p>
        </p:txBody>
      </p:sp>
      <p:sp>
        <p:nvSpPr>
          <p:cNvPr id="6" name="Shape 3"/>
          <p:cNvSpPr/>
          <p:nvPr/>
        </p:nvSpPr>
        <p:spPr>
          <a:xfrm>
            <a:off x="731520" y="1920240"/>
            <a:ext cx="2560320" cy="54864"/>
          </a:xfrm>
          <a:prstGeom prst="rect">
            <a:avLst/>
          </a:prstGeom>
          <a:solidFill>
            <a:srgbClr val="0055DD"/>
          </a:solidFill>
          <a:ln/>
        </p:spPr>
        <p:txBody>
          <a:bodyPr/>
          <a:lstStyle/>
          <a:p>
            <a:endParaRPr lang="en-US"/>
          </a:p>
        </p:txBody>
      </p:sp>
      <p:sp>
        <p:nvSpPr>
          <p:cNvPr id="7" name="Shape 4"/>
          <p:cNvSpPr/>
          <p:nvPr/>
        </p:nvSpPr>
        <p:spPr>
          <a:xfrm>
            <a:off x="1691640" y="2103120"/>
            <a:ext cx="548640" cy="548640"/>
          </a:xfrm>
          <a:prstGeom prst="ellipse">
            <a:avLst/>
          </a:prstGeom>
          <a:solidFill>
            <a:srgbClr val="0055DD"/>
          </a:solidFill>
          <a:ln/>
        </p:spPr>
        <p:txBody>
          <a:bodyPr/>
          <a:lstStyle/>
          <a:p>
            <a:endParaRPr lang="en-US"/>
          </a:p>
        </p:txBody>
      </p:sp>
      <p:sp>
        <p:nvSpPr>
          <p:cNvPr id="8" name="Text 5"/>
          <p:cNvSpPr/>
          <p:nvPr/>
        </p:nvSpPr>
        <p:spPr>
          <a:xfrm>
            <a:off x="1691640" y="210312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6"/>
          <p:cNvSpPr/>
          <p:nvPr/>
        </p:nvSpPr>
        <p:spPr>
          <a:xfrm>
            <a:off x="914400" y="2834640"/>
            <a:ext cx="21945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Setup Instructions</a:t>
            </a:r>
            <a:endParaRPr lang="en-US" sz="1500" dirty="0"/>
          </a:p>
        </p:txBody>
      </p:sp>
      <p:sp>
        <p:nvSpPr>
          <p:cNvPr id="10" name="Text 7"/>
          <p:cNvSpPr/>
          <p:nvPr/>
        </p:nvSpPr>
        <p:spPr>
          <a:xfrm>
            <a:off x="914400" y="3291840"/>
            <a:ext cx="2194560" cy="914400"/>
          </a:xfrm>
          <a:prstGeom prst="rect">
            <a:avLst/>
          </a:prstGeom>
          <a:noFill/>
          <a:ln/>
        </p:spPr>
        <p:txBody>
          <a:bodyPr wrap="square" lIns="0" tIns="0" rIns="0" bIns="0" rtlCol="0" anchor="ctr"/>
          <a:lstStyle/>
          <a:p>
            <a:pPr marL="0" indent="0" algn="ctr">
              <a:buNone/>
            </a:pPr>
            <a:r>
              <a:rPr lang="en-US" sz="1000" dirty="0">
                <a:solidFill>
                  <a:srgbClr val="C8D6E5"/>
                </a:solidFill>
                <a:latin typeface="Calibri" pitchFamily="34" charset="0"/>
                <a:ea typeface="Calibri" pitchFamily="34" charset="-122"/>
                <a:cs typeface="Calibri" pitchFamily="34" charset="-120"/>
              </a:rPr>
              <a:t>Add copilot-instructions.md and CLAUDE.md to our key repos with project context</a:t>
            </a:r>
            <a:endParaRPr lang="en-US" sz="1000" dirty="0"/>
          </a:p>
        </p:txBody>
      </p:sp>
      <p:sp>
        <p:nvSpPr>
          <p:cNvPr id="11" name="Shape 8"/>
          <p:cNvSpPr/>
          <p:nvPr/>
        </p:nvSpPr>
        <p:spPr>
          <a:xfrm>
            <a:off x="3520440" y="1920240"/>
            <a:ext cx="2560320" cy="2560320"/>
          </a:xfrm>
          <a:prstGeom prst="rect">
            <a:avLst/>
          </a:prstGeom>
          <a:solidFill>
            <a:srgbClr val="1C2541"/>
          </a:solidFill>
          <a:ln/>
          <a:effectLst>
            <a:outerShdw blurRad="101600" dist="25400" dir="8100000" algn="bl" rotWithShape="0">
              <a:srgbClr val="000000">
                <a:alpha val="8000"/>
              </a:srgbClr>
            </a:outerShdw>
          </a:effectLst>
        </p:spPr>
        <p:txBody>
          <a:bodyPr/>
          <a:lstStyle/>
          <a:p>
            <a:endParaRPr lang="en-US"/>
          </a:p>
        </p:txBody>
      </p:sp>
      <p:sp>
        <p:nvSpPr>
          <p:cNvPr id="12" name="Shape 9"/>
          <p:cNvSpPr/>
          <p:nvPr/>
        </p:nvSpPr>
        <p:spPr>
          <a:xfrm>
            <a:off x="3520440" y="1920240"/>
            <a:ext cx="2560320" cy="54864"/>
          </a:xfrm>
          <a:prstGeom prst="rect">
            <a:avLst/>
          </a:prstGeom>
          <a:solidFill>
            <a:srgbClr val="00BBDD"/>
          </a:solidFill>
          <a:ln/>
        </p:spPr>
        <p:txBody>
          <a:bodyPr/>
          <a:lstStyle/>
          <a:p>
            <a:endParaRPr lang="en-US"/>
          </a:p>
        </p:txBody>
      </p:sp>
      <p:sp>
        <p:nvSpPr>
          <p:cNvPr id="13" name="Shape 10"/>
          <p:cNvSpPr/>
          <p:nvPr/>
        </p:nvSpPr>
        <p:spPr>
          <a:xfrm>
            <a:off x="4480560" y="2103120"/>
            <a:ext cx="548640" cy="548640"/>
          </a:xfrm>
          <a:prstGeom prst="ellipse">
            <a:avLst/>
          </a:prstGeom>
          <a:solidFill>
            <a:srgbClr val="00BBDD"/>
          </a:solidFill>
          <a:ln/>
        </p:spPr>
        <p:txBody>
          <a:bodyPr/>
          <a:lstStyle/>
          <a:p>
            <a:endParaRPr lang="en-US"/>
          </a:p>
        </p:txBody>
      </p:sp>
      <p:sp>
        <p:nvSpPr>
          <p:cNvPr id="14" name="Text 11"/>
          <p:cNvSpPr/>
          <p:nvPr/>
        </p:nvSpPr>
        <p:spPr>
          <a:xfrm>
            <a:off x="4480560" y="210312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5" name="Text 12"/>
          <p:cNvSpPr/>
          <p:nvPr/>
        </p:nvSpPr>
        <p:spPr>
          <a:xfrm>
            <a:off x="3703320" y="2834640"/>
            <a:ext cx="21945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Build Custom Agents</a:t>
            </a:r>
            <a:endParaRPr lang="en-US" sz="1500" dirty="0"/>
          </a:p>
        </p:txBody>
      </p:sp>
      <p:sp>
        <p:nvSpPr>
          <p:cNvPr id="16" name="Text 13"/>
          <p:cNvSpPr/>
          <p:nvPr/>
        </p:nvSpPr>
        <p:spPr>
          <a:xfrm>
            <a:off x="3703320" y="3291840"/>
            <a:ext cx="2194560" cy="914400"/>
          </a:xfrm>
          <a:prstGeom prst="rect">
            <a:avLst/>
          </a:prstGeom>
          <a:noFill/>
          <a:ln/>
        </p:spPr>
        <p:txBody>
          <a:bodyPr wrap="square" lIns="0" tIns="0" rIns="0" bIns="0" rtlCol="0" anchor="ctr"/>
          <a:lstStyle/>
          <a:p>
            <a:pPr marL="0" indent="0" algn="ctr">
              <a:buNone/>
            </a:pPr>
            <a:r>
              <a:rPr lang="en-US" sz="1000" dirty="0">
                <a:solidFill>
                  <a:srgbClr val="C8D6E5"/>
                </a:solidFill>
                <a:latin typeface="Calibri" pitchFamily="34" charset="0"/>
                <a:ea typeface="Calibri" pitchFamily="34" charset="-122"/>
                <a:cs typeface="Calibri" pitchFamily="34" charset="-120"/>
              </a:rPr>
              <a:t>Create specialized subagents for our services, database, and integration patterns</a:t>
            </a:r>
            <a:endParaRPr lang="en-US" sz="1000" dirty="0"/>
          </a:p>
        </p:txBody>
      </p:sp>
      <p:sp>
        <p:nvSpPr>
          <p:cNvPr id="17" name="Shape 14"/>
          <p:cNvSpPr/>
          <p:nvPr/>
        </p:nvSpPr>
        <p:spPr>
          <a:xfrm>
            <a:off x="6309360" y="1920240"/>
            <a:ext cx="2560320" cy="2560320"/>
          </a:xfrm>
          <a:prstGeom prst="rect">
            <a:avLst/>
          </a:prstGeom>
          <a:solidFill>
            <a:srgbClr val="1C2541"/>
          </a:solidFill>
          <a:ln/>
          <a:effectLst>
            <a:outerShdw blurRad="101600" dist="25400" dir="8100000" algn="bl" rotWithShape="0">
              <a:srgbClr val="000000">
                <a:alpha val="8000"/>
              </a:srgbClr>
            </a:outerShdw>
          </a:effectLst>
        </p:spPr>
        <p:txBody>
          <a:bodyPr/>
          <a:lstStyle/>
          <a:p>
            <a:endParaRPr lang="en-US"/>
          </a:p>
        </p:txBody>
      </p:sp>
      <p:sp>
        <p:nvSpPr>
          <p:cNvPr id="18" name="Shape 15"/>
          <p:cNvSpPr/>
          <p:nvPr/>
        </p:nvSpPr>
        <p:spPr>
          <a:xfrm>
            <a:off x="6309360" y="1920240"/>
            <a:ext cx="2560320" cy="54864"/>
          </a:xfrm>
          <a:prstGeom prst="rect">
            <a:avLst/>
          </a:prstGeom>
          <a:solidFill>
            <a:srgbClr val="4338CA"/>
          </a:solidFill>
          <a:ln/>
        </p:spPr>
        <p:txBody>
          <a:bodyPr/>
          <a:lstStyle/>
          <a:p>
            <a:endParaRPr lang="en-US"/>
          </a:p>
        </p:txBody>
      </p:sp>
      <p:sp>
        <p:nvSpPr>
          <p:cNvPr id="19" name="Shape 16"/>
          <p:cNvSpPr/>
          <p:nvPr/>
        </p:nvSpPr>
        <p:spPr>
          <a:xfrm>
            <a:off x="7269480" y="2103120"/>
            <a:ext cx="548640" cy="548640"/>
          </a:xfrm>
          <a:prstGeom prst="ellipse">
            <a:avLst/>
          </a:prstGeom>
          <a:solidFill>
            <a:srgbClr val="4338CA"/>
          </a:solidFill>
          <a:ln/>
        </p:spPr>
        <p:txBody>
          <a:bodyPr/>
          <a:lstStyle/>
          <a:p>
            <a:endParaRPr lang="en-US"/>
          </a:p>
        </p:txBody>
      </p:sp>
      <p:sp>
        <p:nvSpPr>
          <p:cNvPr id="20" name="Text 17"/>
          <p:cNvSpPr/>
          <p:nvPr/>
        </p:nvSpPr>
        <p:spPr>
          <a:xfrm>
            <a:off x="7269480" y="210312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1" name="Text 18"/>
          <p:cNvSpPr/>
          <p:nvPr/>
        </p:nvSpPr>
        <p:spPr>
          <a:xfrm>
            <a:off x="6492240" y="2834640"/>
            <a:ext cx="21945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Adopt the Workflow</a:t>
            </a:r>
            <a:endParaRPr lang="en-US" sz="1500" dirty="0"/>
          </a:p>
        </p:txBody>
      </p:sp>
      <p:sp>
        <p:nvSpPr>
          <p:cNvPr id="22" name="Text 19"/>
          <p:cNvSpPr/>
          <p:nvPr/>
        </p:nvSpPr>
        <p:spPr>
          <a:xfrm>
            <a:off x="6492240" y="3291840"/>
            <a:ext cx="2194560" cy="914400"/>
          </a:xfrm>
          <a:prstGeom prst="rect">
            <a:avLst/>
          </a:prstGeom>
          <a:noFill/>
          <a:ln/>
        </p:spPr>
        <p:txBody>
          <a:bodyPr wrap="square" lIns="0" tIns="0" rIns="0" bIns="0" rtlCol="0" anchor="ctr"/>
          <a:lstStyle/>
          <a:p>
            <a:pPr marL="0" indent="0" algn="ctr">
              <a:buNone/>
            </a:pPr>
            <a:r>
              <a:rPr lang="en-US" sz="1000" dirty="0">
                <a:solidFill>
                  <a:srgbClr val="C8D6E5"/>
                </a:solidFill>
                <a:latin typeface="Calibri" pitchFamily="34" charset="0"/>
                <a:ea typeface="Calibri" pitchFamily="34" charset="-122"/>
                <a:cs typeface="Calibri" pitchFamily="34" charset="-120"/>
              </a:rPr>
              <a:t>Start with Research → Plan → Implement on the next complex ticket as a pilot</a:t>
            </a:r>
            <a:endParaRPr lang="en-US" sz="1000" dirty="0"/>
          </a:p>
        </p:txBody>
      </p:sp>
      <p:sp>
        <p:nvSpPr>
          <p:cNvPr id="23" name="Text 20"/>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8899AA"/>
                </a:solidFill>
                <a:latin typeface="Calibri" pitchFamily="34" charset="0"/>
                <a:ea typeface="Calibri" pitchFamily="34" charset="-122"/>
                <a:cs typeface="Calibri" pitchFamily="34" charset="-120"/>
              </a:rPr>
              <a:t>14 / 14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BDD"/>
          </a:solidFill>
          <a:ln/>
        </p:spPr>
        <p:txBody>
          <a:bodyPr/>
          <a:lstStyle/>
          <a:p>
            <a:endParaRPr lang="en-US"/>
          </a:p>
        </p:txBody>
      </p:sp>
      <p:sp>
        <p:nvSpPr>
          <p:cNvPr id="3" name="Text 1"/>
          <p:cNvSpPr/>
          <p:nvPr/>
        </p:nvSpPr>
        <p:spPr>
          <a:xfrm>
            <a:off x="731520" y="365760"/>
            <a:ext cx="7680960" cy="457200"/>
          </a:xfrm>
          <a:prstGeom prst="rect">
            <a:avLst/>
          </a:prstGeom>
          <a:noFill/>
          <a:ln/>
        </p:spPr>
        <p:txBody>
          <a:bodyPr wrap="square" lIns="0" tIns="0" rIns="0" bIns="0"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Tooling: Copilot CLI &amp; Instruction Files</a:t>
            </a:r>
            <a:endParaRPr lang="en-US" sz="2600" dirty="0"/>
          </a:p>
        </p:txBody>
      </p:sp>
      <p:sp>
        <p:nvSpPr>
          <p:cNvPr id="4" name="Shape 2"/>
          <p:cNvSpPr/>
          <p:nvPr/>
        </p:nvSpPr>
        <p:spPr>
          <a:xfrm>
            <a:off x="731520" y="1051560"/>
            <a:ext cx="3657600" cy="3474720"/>
          </a:xfrm>
          <a:prstGeom prst="rect">
            <a:avLst/>
          </a:prstGeom>
          <a:solidFill>
            <a:srgbClr val="141B2D"/>
          </a:solidFill>
          <a:ln/>
          <a:effectLst>
            <a:outerShdw blurRad="101600" dist="25400" dir="8100000" algn="bl" rotWithShape="0">
              <a:srgbClr val="000000">
                <a:alpha val="8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960120" y="1234440"/>
            <a:ext cx="320040" cy="320040"/>
          </a:xfrm>
          <a:prstGeom prst="rect">
            <a:avLst/>
          </a:prstGeom>
        </p:spPr>
      </p:pic>
      <p:sp>
        <p:nvSpPr>
          <p:cNvPr id="6" name="Text 3"/>
          <p:cNvSpPr/>
          <p:nvPr/>
        </p:nvSpPr>
        <p:spPr>
          <a:xfrm>
            <a:off x="1371600" y="1234440"/>
            <a:ext cx="274320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Copilot CLI</a:t>
            </a:r>
            <a:endParaRPr lang="en-US" sz="1600" dirty="0"/>
          </a:p>
        </p:txBody>
      </p:sp>
      <p:sp>
        <p:nvSpPr>
          <p:cNvPr id="7" name="Text 4"/>
          <p:cNvSpPr/>
          <p:nvPr/>
        </p:nvSpPr>
        <p:spPr>
          <a:xfrm>
            <a:off x="960120" y="1737360"/>
            <a:ext cx="3200400" cy="228600"/>
          </a:xfrm>
          <a:prstGeom prst="rect">
            <a:avLst/>
          </a:prstGeom>
          <a:noFill/>
          <a:ln/>
        </p:spPr>
        <p:txBody>
          <a:bodyPr wrap="square" lIns="0" tIns="0" rIns="0" bIns="0" rtlCol="0" anchor="ctr"/>
          <a:lstStyle/>
          <a:p>
            <a:pPr marL="0" indent="0">
              <a:buNone/>
            </a:pPr>
            <a:r>
              <a:rPr lang="en-US" sz="1000" dirty="0">
                <a:solidFill>
                  <a:srgbClr val="C8D6E5"/>
                </a:solidFill>
                <a:latin typeface="Calibri" pitchFamily="34" charset="0"/>
                <a:ea typeface="Calibri" pitchFamily="34" charset="-122"/>
                <a:cs typeface="Calibri" pitchFamily="34" charset="-120"/>
              </a:rPr>
              <a:t>Install:</a:t>
            </a:r>
            <a:endParaRPr lang="en-US" sz="1000" dirty="0"/>
          </a:p>
        </p:txBody>
      </p:sp>
      <p:sp>
        <p:nvSpPr>
          <p:cNvPr id="8" name="Shape 5"/>
          <p:cNvSpPr/>
          <p:nvPr/>
        </p:nvSpPr>
        <p:spPr>
          <a:xfrm>
            <a:off x="960120" y="2011680"/>
            <a:ext cx="3200400" cy="320040"/>
          </a:xfrm>
          <a:prstGeom prst="rect">
            <a:avLst/>
          </a:prstGeom>
          <a:solidFill>
            <a:srgbClr val="0D1117"/>
          </a:solidFill>
          <a:ln/>
        </p:spPr>
        <p:txBody>
          <a:bodyPr/>
          <a:lstStyle/>
          <a:p>
            <a:endParaRPr lang="en-US"/>
          </a:p>
        </p:txBody>
      </p:sp>
      <p:sp>
        <p:nvSpPr>
          <p:cNvPr id="9" name="Text 6"/>
          <p:cNvSpPr/>
          <p:nvPr/>
        </p:nvSpPr>
        <p:spPr>
          <a:xfrm>
            <a:off x="1097280" y="2011680"/>
            <a:ext cx="2926080" cy="320040"/>
          </a:xfrm>
          <a:prstGeom prst="rect">
            <a:avLst/>
          </a:prstGeom>
          <a:noFill/>
          <a:ln/>
        </p:spPr>
        <p:txBody>
          <a:bodyPr wrap="square" lIns="0" tIns="0" rIns="0" bIns="0" rtlCol="0" anchor="ctr"/>
          <a:lstStyle/>
          <a:p>
            <a:pPr marL="0" indent="0">
              <a:buNone/>
            </a:pPr>
            <a:r>
              <a:rPr lang="en-US" sz="900" dirty="0">
                <a:solidFill>
                  <a:srgbClr val="00BBDD"/>
                </a:solidFill>
                <a:latin typeface="Consolas" pitchFamily="34" charset="0"/>
                <a:ea typeface="Consolas" pitchFamily="34" charset="-122"/>
                <a:cs typeface="Consolas" pitchFamily="34" charset="-120"/>
              </a:rPr>
              <a:t>npm install -g @github/copilot</a:t>
            </a:r>
            <a:endParaRPr lang="en-US" sz="900" dirty="0"/>
          </a:p>
        </p:txBody>
      </p:sp>
      <p:sp>
        <p:nvSpPr>
          <p:cNvPr id="10" name="Text 7"/>
          <p:cNvSpPr/>
          <p:nvPr/>
        </p:nvSpPr>
        <p:spPr>
          <a:xfrm>
            <a:off x="960120" y="2468880"/>
            <a:ext cx="3200400" cy="228600"/>
          </a:xfrm>
          <a:prstGeom prst="rect">
            <a:avLst/>
          </a:prstGeom>
          <a:noFill/>
          <a:ln/>
        </p:spPr>
        <p:txBody>
          <a:bodyPr wrap="square" lIns="0" tIns="0" rIns="0" bIns="0" rtlCol="0" anchor="ctr"/>
          <a:lstStyle/>
          <a:p>
            <a:pPr marL="0" indent="0">
              <a:buNone/>
            </a:pPr>
            <a:r>
              <a:rPr lang="en-US" sz="1000" dirty="0">
                <a:solidFill>
                  <a:srgbClr val="C8D6E5"/>
                </a:solidFill>
                <a:latin typeface="Calibri" pitchFamily="34" charset="0"/>
                <a:ea typeface="Calibri" pitchFamily="34" charset="-122"/>
                <a:cs typeface="Calibri" pitchFamily="34" charset="-120"/>
              </a:rPr>
              <a:t>Key Commands:</a:t>
            </a:r>
            <a:endParaRPr lang="en-US" sz="1000" dirty="0"/>
          </a:p>
        </p:txBody>
      </p:sp>
      <p:sp>
        <p:nvSpPr>
          <p:cNvPr id="11" name="Text 8"/>
          <p:cNvSpPr/>
          <p:nvPr/>
        </p:nvSpPr>
        <p:spPr>
          <a:xfrm>
            <a:off x="960120" y="2788920"/>
            <a:ext cx="914400" cy="274320"/>
          </a:xfrm>
          <a:prstGeom prst="rect">
            <a:avLst/>
          </a:prstGeom>
          <a:noFill/>
          <a:ln/>
        </p:spPr>
        <p:txBody>
          <a:bodyPr wrap="square" lIns="0" tIns="0" rIns="0" bIns="0" rtlCol="0" anchor="ctr"/>
          <a:lstStyle/>
          <a:p>
            <a:pPr marL="0" indent="0">
              <a:buNone/>
            </a:pPr>
            <a:r>
              <a:rPr lang="en-US" sz="1000" dirty="0">
                <a:solidFill>
                  <a:srgbClr val="00BBDD"/>
                </a:solidFill>
                <a:latin typeface="Consolas" pitchFamily="34" charset="0"/>
                <a:ea typeface="Consolas" pitchFamily="34" charset="-122"/>
                <a:cs typeface="Consolas" pitchFamily="34" charset="-120"/>
              </a:rPr>
              <a:t>/model</a:t>
            </a:r>
            <a:endParaRPr lang="en-US" sz="1000" dirty="0"/>
          </a:p>
        </p:txBody>
      </p:sp>
      <p:sp>
        <p:nvSpPr>
          <p:cNvPr id="12" name="Text 9"/>
          <p:cNvSpPr/>
          <p:nvPr/>
        </p:nvSpPr>
        <p:spPr>
          <a:xfrm>
            <a:off x="1874520" y="2788920"/>
            <a:ext cx="2286000" cy="274320"/>
          </a:xfrm>
          <a:prstGeom prst="rect">
            <a:avLst/>
          </a:prstGeom>
          <a:noFill/>
          <a:ln/>
        </p:spPr>
        <p:txBody>
          <a:bodyPr wrap="square" lIns="0" tIns="0" rIns="0" bIns="0" rtlCol="0" anchor="ctr"/>
          <a:lstStyle/>
          <a:p>
            <a:pPr marL="0" indent="0">
              <a:buNone/>
            </a:pPr>
            <a:r>
              <a:rPr lang="en-US" sz="1000" dirty="0">
                <a:solidFill>
                  <a:srgbClr val="C8D6E5"/>
                </a:solidFill>
                <a:latin typeface="Calibri" pitchFamily="34" charset="0"/>
                <a:ea typeface="Calibri" pitchFamily="34" charset="-122"/>
                <a:cs typeface="Calibri" pitchFamily="34" charset="-120"/>
              </a:rPr>
              <a:t>— select AI model</a:t>
            </a:r>
            <a:endParaRPr lang="en-US" sz="1000" dirty="0"/>
          </a:p>
        </p:txBody>
      </p:sp>
      <p:sp>
        <p:nvSpPr>
          <p:cNvPr id="13" name="Text 10"/>
          <p:cNvSpPr/>
          <p:nvPr/>
        </p:nvSpPr>
        <p:spPr>
          <a:xfrm>
            <a:off x="960120" y="3136392"/>
            <a:ext cx="914400" cy="274320"/>
          </a:xfrm>
          <a:prstGeom prst="rect">
            <a:avLst/>
          </a:prstGeom>
          <a:noFill/>
          <a:ln/>
        </p:spPr>
        <p:txBody>
          <a:bodyPr wrap="square" lIns="0" tIns="0" rIns="0" bIns="0" rtlCol="0" anchor="ctr"/>
          <a:lstStyle/>
          <a:p>
            <a:pPr marL="0" indent="0">
              <a:buNone/>
            </a:pPr>
            <a:r>
              <a:rPr lang="en-US" sz="1000" dirty="0">
                <a:solidFill>
                  <a:srgbClr val="00BBDD"/>
                </a:solidFill>
                <a:latin typeface="Consolas" pitchFamily="34" charset="0"/>
                <a:ea typeface="Consolas" pitchFamily="34" charset="-122"/>
                <a:cs typeface="Consolas" pitchFamily="34" charset="-120"/>
              </a:rPr>
              <a:t>/init</a:t>
            </a:r>
            <a:endParaRPr lang="en-US" sz="1000" dirty="0"/>
          </a:p>
        </p:txBody>
      </p:sp>
      <p:sp>
        <p:nvSpPr>
          <p:cNvPr id="14" name="Text 11"/>
          <p:cNvSpPr/>
          <p:nvPr/>
        </p:nvSpPr>
        <p:spPr>
          <a:xfrm>
            <a:off x="1874520" y="3136392"/>
            <a:ext cx="2286000" cy="274320"/>
          </a:xfrm>
          <a:prstGeom prst="rect">
            <a:avLst/>
          </a:prstGeom>
          <a:noFill/>
          <a:ln/>
        </p:spPr>
        <p:txBody>
          <a:bodyPr wrap="square" lIns="0" tIns="0" rIns="0" bIns="0" rtlCol="0" anchor="ctr"/>
          <a:lstStyle/>
          <a:p>
            <a:pPr marL="0" indent="0">
              <a:buNone/>
            </a:pPr>
            <a:r>
              <a:rPr lang="en-US" sz="1000" dirty="0">
                <a:solidFill>
                  <a:srgbClr val="C8D6E5"/>
                </a:solidFill>
                <a:latin typeface="Calibri" pitchFamily="34" charset="0"/>
                <a:ea typeface="Calibri" pitchFamily="34" charset="-122"/>
                <a:cs typeface="Calibri" pitchFamily="34" charset="-120"/>
              </a:rPr>
              <a:t>— setup instructions</a:t>
            </a:r>
            <a:endParaRPr lang="en-US" sz="1000" dirty="0"/>
          </a:p>
        </p:txBody>
      </p:sp>
      <p:sp>
        <p:nvSpPr>
          <p:cNvPr id="15" name="Text 12"/>
          <p:cNvSpPr/>
          <p:nvPr/>
        </p:nvSpPr>
        <p:spPr>
          <a:xfrm>
            <a:off x="960120" y="3483864"/>
            <a:ext cx="914400" cy="274320"/>
          </a:xfrm>
          <a:prstGeom prst="rect">
            <a:avLst/>
          </a:prstGeom>
          <a:noFill/>
          <a:ln/>
        </p:spPr>
        <p:txBody>
          <a:bodyPr wrap="square" lIns="0" tIns="0" rIns="0" bIns="0" rtlCol="0" anchor="ctr"/>
          <a:lstStyle/>
          <a:p>
            <a:pPr marL="0" indent="0">
              <a:buNone/>
            </a:pPr>
            <a:r>
              <a:rPr lang="en-US" sz="1000" dirty="0">
                <a:solidFill>
                  <a:srgbClr val="00BBDD"/>
                </a:solidFill>
                <a:latin typeface="Consolas" pitchFamily="34" charset="0"/>
                <a:ea typeface="Consolas" pitchFamily="34" charset="-122"/>
                <a:cs typeface="Consolas" pitchFamily="34" charset="-120"/>
              </a:rPr>
              <a:t>@file</a:t>
            </a:r>
            <a:endParaRPr lang="en-US" sz="1000" dirty="0"/>
          </a:p>
        </p:txBody>
      </p:sp>
      <p:sp>
        <p:nvSpPr>
          <p:cNvPr id="16" name="Text 13"/>
          <p:cNvSpPr/>
          <p:nvPr/>
        </p:nvSpPr>
        <p:spPr>
          <a:xfrm>
            <a:off x="1874520" y="3483864"/>
            <a:ext cx="2286000" cy="274320"/>
          </a:xfrm>
          <a:prstGeom prst="rect">
            <a:avLst/>
          </a:prstGeom>
          <a:noFill/>
          <a:ln/>
        </p:spPr>
        <p:txBody>
          <a:bodyPr wrap="square" lIns="0" tIns="0" rIns="0" bIns="0" rtlCol="0" anchor="ctr"/>
          <a:lstStyle/>
          <a:p>
            <a:pPr marL="0" indent="0">
              <a:buNone/>
            </a:pPr>
            <a:r>
              <a:rPr lang="en-US" sz="1000" dirty="0">
                <a:solidFill>
                  <a:srgbClr val="C8D6E5"/>
                </a:solidFill>
                <a:latin typeface="Calibri" pitchFamily="34" charset="0"/>
                <a:ea typeface="Calibri" pitchFamily="34" charset="-122"/>
                <a:cs typeface="Calibri" pitchFamily="34" charset="-120"/>
              </a:rPr>
              <a:t>— include files in context</a:t>
            </a:r>
            <a:endParaRPr lang="en-US" sz="1000" dirty="0"/>
          </a:p>
        </p:txBody>
      </p:sp>
      <p:sp>
        <p:nvSpPr>
          <p:cNvPr id="17" name="Text 14"/>
          <p:cNvSpPr/>
          <p:nvPr/>
        </p:nvSpPr>
        <p:spPr>
          <a:xfrm>
            <a:off x="960120" y="3931920"/>
            <a:ext cx="3200400" cy="274320"/>
          </a:xfrm>
          <a:prstGeom prst="rect">
            <a:avLst/>
          </a:prstGeom>
          <a:noFill/>
          <a:ln/>
        </p:spPr>
        <p:txBody>
          <a:bodyPr wrap="square" lIns="0" tIns="0" rIns="0" bIns="0" rtlCol="0" anchor="ctr"/>
          <a:lstStyle/>
          <a:p>
            <a:pPr marL="0" indent="0">
              <a:buNone/>
            </a:pPr>
            <a:r>
              <a:rPr lang="en-US" sz="900" i="1" dirty="0">
                <a:solidFill>
                  <a:srgbClr val="8899AA"/>
                </a:solidFill>
                <a:latin typeface="Calibri" pitchFamily="34" charset="0"/>
                <a:ea typeface="Calibri" pitchFamily="34" charset="-122"/>
                <a:cs typeface="Calibri" pitchFamily="34" charset="-120"/>
              </a:rPr>
              <a:t>Reads instruction files automatically from the repo.</a:t>
            </a:r>
            <a:endParaRPr lang="en-US" sz="900" dirty="0"/>
          </a:p>
        </p:txBody>
      </p:sp>
      <p:sp>
        <p:nvSpPr>
          <p:cNvPr id="18" name="Shape 15"/>
          <p:cNvSpPr/>
          <p:nvPr/>
        </p:nvSpPr>
        <p:spPr>
          <a:xfrm>
            <a:off x="4754880" y="1051560"/>
            <a:ext cx="3657600" cy="347472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19" name="Shape 16"/>
          <p:cNvSpPr/>
          <p:nvPr/>
        </p:nvSpPr>
        <p:spPr>
          <a:xfrm>
            <a:off x="4754880" y="1051560"/>
            <a:ext cx="3657600" cy="45720"/>
          </a:xfrm>
          <a:prstGeom prst="rect">
            <a:avLst/>
          </a:prstGeom>
          <a:solidFill>
            <a:srgbClr val="0055DD"/>
          </a:solidFill>
          <a:ln/>
        </p:spPr>
        <p:txBody>
          <a:bodyPr/>
          <a:lstStyle/>
          <a:p>
            <a:endParaRPr lang="en-US"/>
          </a:p>
        </p:txBody>
      </p:sp>
      <p:sp>
        <p:nvSpPr>
          <p:cNvPr id="20" name="Text 17"/>
          <p:cNvSpPr/>
          <p:nvPr/>
        </p:nvSpPr>
        <p:spPr>
          <a:xfrm>
            <a:off x="4983480" y="1234440"/>
            <a:ext cx="3200400" cy="320040"/>
          </a:xfrm>
          <a:prstGeom prst="rect">
            <a:avLst/>
          </a:prstGeom>
          <a:noFill/>
          <a:ln/>
        </p:spPr>
        <p:txBody>
          <a:bodyPr wrap="square" lIns="0" tIns="0" rIns="0" bIns="0" rtlCol="0" anchor="ctr"/>
          <a:lstStyle/>
          <a:p>
            <a:pPr marL="0" indent="0">
              <a:buNone/>
            </a:pPr>
            <a:r>
              <a:rPr lang="en-US" sz="1600" b="1" dirty="0">
                <a:solidFill>
                  <a:srgbClr val="1A1A2E"/>
                </a:solidFill>
                <a:latin typeface="Calibri" pitchFamily="34" charset="0"/>
                <a:ea typeface="Calibri" pitchFamily="34" charset="-122"/>
                <a:cs typeface="Calibri" pitchFamily="34" charset="-120"/>
              </a:rPr>
              <a:t>Instruction File Hierarchy</a:t>
            </a:r>
            <a:endParaRPr lang="en-US" sz="1600" dirty="0"/>
          </a:p>
        </p:txBody>
      </p:sp>
      <p:sp>
        <p:nvSpPr>
          <p:cNvPr id="21" name="Shape 18"/>
          <p:cNvSpPr/>
          <p:nvPr/>
        </p:nvSpPr>
        <p:spPr>
          <a:xfrm>
            <a:off x="4983480" y="1737360"/>
            <a:ext cx="274320" cy="274320"/>
          </a:xfrm>
          <a:prstGeom prst="ellipse">
            <a:avLst/>
          </a:prstGeom>
          <a:solidFill>
            <a:srgbClr val="0055DD"/>
          </a:solidFill>
          <a:ln/>
        </p:spPr>
        <p:txBody>
          <a:bodyPr/>
          <a:lstStyle/>
          <a:p>
            <a:endParaRPr lang="en-US"/>
          </a:p>
        </p:txBody>
      </p:sp>
      <p:sp>
        <p:nvSpPr>
          <p:cNvPr id="22" name="Text 19"/>
          <p:cNvSpPr/>
          <p:nvPr/>
        </p:nvSpPr>
        <p:spPr>
          <a:xfrm>
            <a:off x="4983480" y="1737360"/>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3" name="Text 20"/>
          <p:cNvSpPr/>
          <p:nvPr/>
        </p:nvSpPr>
        <p:spPr>
          <a:xfrm>
            <a:off x="5394960" y="1737360"/>
            <a:ext cx="2834640" cy="274320"/>
          </a:xfrm>
          <a:prstGeom prst="rect">
            <a:avLst/>
          </a:prstGeom>
          <a:noFill/>
          <a:ln/>
        </p:spPr>
        <p:txBody>
          <a:bodyPr wrap="square" lIns="0" tIns="0" rIns="0" bIns="0" rtlCol="0" anchor="ctr"/>
          <a:lstStyle/>
          <a:p>
            <a:pPr marL="0" indent="0">
              <a:buNone/>
            </a:pPr>
            <a:r>
              <a:rPr lang="en-US" sz="1000" dirty="0">
                <a:solidFill>
                  <a:srgbClr val="1A1A2E"/>
                </a:solidFill>
                <a:latin typeface="Consolas" pitchFamily="34" charset="0"/>
                <a:ea typeface="Consolas" pitchFamily="34" charset="-122"/>
                <a:cs typeface="Consolas" pitchFamily="34" charset="-120"/>
              </a:rPr>
              <a:t>CLAUDE.md / AGENTS.md (git root)</a:t>
            </a:r>
            <a:endParaRPr lang="en-US" sz="1000" dirty="0"/>
          </a:p>
        </p:txBody>
      </p:sp>
      <p:sp>
        <p:nvSpPr>
          <p:cNvPr id="24" name="Shape 21"/>
          <p:cNvSpPr/>
          <p:nvPr/>
        </p:nvSpPr>
        <p:spPr>
          <a:xfrm>
            <a:off x="4983480" y="2267712"/>
            <a:ext cx="274320" cy="274320"/>
          </a:xfrm>
          <a:prstGeom prst="ellipse">
            <a:avLst/>
          </a:prstGeom>
          <a:solidFill>
            <a:srgbClr val="0055DD"/>
          </a:solidFill>
          <a:ln/>
        </p:spPr>
        <p:txBody>
          <a:bodyPr/>
          <a:lstStyle/>
          <a:p>
            <a:endParaRPr lang="en-US"/>
          </a:p>
        </p:txBody>
      </p:sp>
      <p:sp>
        <p:nvSpPr>
          <p:cNvPr id="25" name="Text 22"/>
          <p:cNvSpPr/>
          <p:nvPr/>
        </p:nvSpPr>
        <p:spPr>
          <a:xfrm>
            <a:off x="4983480" y="226771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6" name="Text 23"/>
          <p:cNvSpPr/>
          <p:nvPr/>
        </p:nvSpPr>
        <p:spPr>
          <a:xfrm>
            <a:off x="5394960" y="2267712"/>
            <a:ext cx="2834640" cy="274320"/>
          </a:xfrm>
          <a:prstGeom prst="rect">
            <a:avLst/>
          </a:prstGeom>
          <a:noFill/>
          <a:ln/>
        </p:spPr>
        <p:txBody>
          <a:bodyPr wrap="square" lIns="0" tIns="0" rIns="0" bIns="0" rtlCol="0" anchor="ctr"/>
          <a:lstStyle/>
          <a:p>
            <a:pPr marL="0" indent="0">
              <a:buNone/>
            </a:pPr>
            <a:r>
              <a:rPr lang="en-US" sz="1000" dirty="0">
                <a:solidFill>
                  <a:srgbClr val="1A1A2E"/>
                </a:solidFill>
                <a:latin typeface="Consolas" pitchFamily="34" charset="0"/>
                <a:ea typeface="Consolas" pitchFamily="34" charset="-122"/>
                <a:cs typeface="Consolas" pitchFamily="34" charset="-120"/>
              </a:rPr>
              <a:t>.github/instructions/**/*.instructions.md</a:t>
            </a:r>
            <a:endParaRPr lang="en-US" sz="1000" dirty="0"/>
          </a:p>
        </p:txBody>
      </p:sp>
      <p:sp>
        <p:nvSpPr>
          <p:cNvPr id="27" name="Shape 24"/>
          <p:cNvSpPr/>
          <p:nvPr/>
        </p:nvSpPr>
        <p:spPr>
          <a:xfrm>
            <a:off x="4983480" y="2798064"/>
            <a:ext cx="274320" cy="274320"/>
          </a:xfrm>
          <a:prstGeom prst="ellipse">
            <a:avLst/>
          </a:prstGeom>
          <a:solidFill>
            <a:srgbClr val="0055DD"/>
          </a:solidFill>
          <a:ln/>
        </p:spPr>
        <p:txBody>
          <a:bodyPr/>
          <a:lstStyle/>
          <a:p>
            <a:endParaRPr lang="en-US"/>
          </a:p>
        </p:txBody>
      </p:sp>
      <p:sp>
        <p:nvSpPr>
          <p:cNvPr id="28" name="Text 25"/>
          <p:cNvSpPr/>
          <p:nvPr/>
        </p:nvSpPr>
        <p:spPr>
          <a:xfrm>
            <a:off x="4983480" y="2798064"/>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9" name="Text 26"/>
          <p:cNvSpPr/>
          <p:nvPr/>
        </p:nvSpPr>
        <p:spPr>
          <a:xfrm>
            <a:off x="5394960" y="2798064"/>
            <a:ext cx="2834640" cy="274320"/>
          </a:xfrm>
          <a:prstGeom prst="rect">
            <a:avLst/>
          </a:prstGeom>
          <a:noFill/>
          <a:ln/>
        </p:spPr>
        <p:txBody>
          <a:bodyPr wrap="square" lIns="0" tIns="0" rIns="0" bIns="0" rtlCol="0" anchor="ctr"/>
          <a:lstStyle/>
          <a:p>
            <a:pPr marL="0" indent="0">
              <a:buNone/>
            </a:pPr>
            <a:r>
              <a:rPr lang="en-US" sz="1000" dirty="0">
                <a:solidFill>
                  <a:srgbClr val="1A1A2E"/>
                </a:solidFill>
                <a:latin typeface="Consolas" pitchFamily="34" charset="0"/>
                <a:ea typeface="Consolas" pitchFamily="34" charset="-122"/>
                <a:cs typeface="Consolas" pitchFamily="34" charset="-120"/>
              </a:rPr>
              <a:t>.github/copilot-instructions.md</a:t>
            </a:r>
            <a:endParaRPr lang="en-US" sz="1000" dirty="0"/>
          </a:p>
        </p:txBody>
      </p:sp>
      <p:sp>
        <p:nvSpPr>
          <p:cNvPr id="30" name="Shape 27"/>
          <p:cNvSpPr/>
          <p:nvPr/>
        </p:nvSpPr>
        <p:spPr>
          <a:xfrm>
            <a:off x="4983480" y="3328416"/>
            <a:ext cx="274320" cy="274320"/>
          </a:xfrm>
          <a:prstGeom prst="ellipse">
            <a:avLst/>
          </a:prstGeom>
          <a:solidFill>
            <a:srgbClr val="0055DD"/>
          </a:solidFill>
          <a:ln/>
        </p:spPr>
        <p:txBody>
          <a:bodyPr/>
          <a:lstStyle/>
          <a:p>
            <a:endParaRPr lang="en-US"/>
          </a:p>
        </p:txBody>
      </p:sp>
      <p:sp>
        <p:nvSpPr>
          <p:cNvPr id="31" name="Text 28"/>
          <p:cNvSpPr/>
          <p:nvPr/>
        </p:nvSpPr>
        <p:spPr>
          <a:xfrm>
            <a:off x="4983480" y="3328416"/>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32" name="Text 29"/>
          <p:cNvSpPr/>
          <p:nvPr/>
        </p:nvSpPr>
        <p:spPr>
          <a:xfrm>
            <a:off x="5394960" y="3328416"/>
            <a:ext cx="2834640" cy="274320"/>
          </a:xfrm>
          <a:prstGeom prst="rect">
            <a:avLst/>
          </a:prstGeom>
          <a:noFill/>
          <a:ln/>
        </p:spPr>
        <p:txBody>
          <a:bodyPr wrap="square" lIns="0" tIns="0" rIns="0" bIns="0" rtlCol="0" anchor="ctr"/>
          <a:lstStyle/>
          <a:p>
            <a:pPr marL="0" indent="0">
              <a:buNone/>
            </a:pPr>
            <a:r>
              <a:rPr lang="en-US" sz="1000" dirty="0">
                <a:solidFill>
                  <a:srgbClr val="1A1A2E"/>
                </a:solidFill>
                <a:latin typeface="Consolas" pitchFamily="34" charset="0"/>
                <a:ea typeface="Consolas" pitchFamily="34" charset="-122"/>
                <a:cs typeface="Consolas" pitchFamily="34" charset="-120"/>
              </a:rPr>
              <a:t>$HOME/.copilot/copilot-instructions.md</a:t>
            </a:r>
            <a:endParaRPr lang="en-US" sz="1000" dirty="0"/>
          </a:p>
        </p:txBody>
      </p:sp>
      <p:sp>
        <p:nvSpPr>
          <p:cNvPr id="33" name="Shape 30"/>
          <p:cNvSpPr/>
          <p:nvPr/>
        </p:nvSpPr>
        <p:spPr>
          <a:xfrm>
            <a:off x="4983480" y="3858768"/>
            <a:ext cx="274320" cy="274320"/>
          </a:xfrm>
          <a:prstGeom prst="ellipse">
            <a:avLst/>
          </a:prstGeom>
          <a:solidFill>
            <a:srgbClr val="0055DD"/>
          </a:solidFill>
          <a:ln/>
        </p:spPr>
        <p:txBody>
          <a:bodyPr/>
          <a:lstStyle/>
          <a:p>
            <a:endParaRPr lang="en-US"/>
          </a:p>
        </p:txBody>
      </p:sp>
      <p:sp>
        <p:nvSpPr>
          <p:cNvPr id="34" name="Text 31"/>
          <p:cNvSpPr/>
          <p:nvPr/>
        </p:nvSpPr>
        <p:spPr>
          <a:xfrm>
            <a:off x="4983480" y="3858768"/>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35" name="Text 32"/>
          <p:cNvSpPr/>
          <p:nvPr/>
        </p:nvSpPr>
        <p:spPr>
          <a:xfrm>
            <a:off x="5394960" y="3858768"/>
            <a:ext cx="2834640" cy="274320"/>
          </a:xfrm>
          <a:prstGeom prst="rect">
            <a:avLst/>
          </a:prstGeom>
          <a:noFill/>
          <a:ln/>
        </p:spPr>
        <p:txBody>
          <a:bodyPr wrap="square" lIns="0" tIns="0" rIns="0" bIns="0" rtlCol="0" anchor="ctr"/>
          <a:lstStyle/>
          <a:p>
            <a:pPr marL="0" indent="0">
              <a:buNone/>
            </a:pPr>
            <a:r>
              <a:rPr lang="en-US" sz="1000" dirty="0">
                <a:solidFill>
                  <a:srgbClr val="1A1A2E"/>
                </a:solidFill>
                <a:latin typeface="Consolas" pitchFamily="34" charset="0"/>
                <a:ea typeface="Consolas" pitchFamily="34" charset="-122"/>
                <a:cs typeface="Consolas" pitchFamily="34" charset="-120"/>
              </a:rPr>
              <a:t>COPILOT_CUSTOM_INSTRUCTIONS_DIRS</a:t>
            </a:r>
            <a:endParaRPr lang="en-US" sz="1000" dirty="0"/>
          </a:p>
        </p:txBody>
      </p:sp>
      <p:sp>
        <p:nvSpPr>
          <p:cNvPr id="36" name="Text 3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B7C93"/>
                </a:solidFill>
                <a:latin typeface="Calibri" pitchFamily="34" charset="0"/>
                <a:ea typeface="Calibri" pitchFamily="34" charset="-122"/>
                <a:cs typeface="Calibri" pitchFamily="34" charset="-120"/>
              </a:rPr>
              <a:t>10 / 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14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55DD"/>
          </a:solidFill>
          <a:ln/>
        </p:spPr>
        <p:txBody>
          <a:bodyPr/>
          <a:lstStyle/>
          <a:p>
            <a:endParaRPr lang="en-US"/>
          </a:p>
        </p:txBody>
      </p:sp>
      <p:sp>
        <p:nvSpPr>
          <p:cNvPr id="3" name="Text 1"/>
          <p:cNvSpPr/>
          <p:nvPr/>
        </p:nvSpPr>
        <p:spPr>
          <a:xfrm>
            <a:off x="731520" y="320040"/>
            <a:ext cx="7680960" cy="45720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The .github Folder: Your AI Config</a:t>
            </a:r>
            <a:endParaRPr lang="en-US" sz="2600" dirty="0"/>
          </a:p>
        </p:txBody>
      </p:sp>
      <p:sp>
        <p:nvSpPr>
          <p:cNvPr id="4" name="Shape 2"/>
          <p:cNvSpPr/>
          <p:nvPr/>
        </p:nvSpPr>
        <p:spPr>
          <a:xfrm>
            <a:off x="731520" y="1005840"/>
            <a:ext cx="3840480" cy="3474720"/>
          </a:xfrm>
          <a:prstGeom prst="rect">
            <a:avLst/>
          </a:prstGeom>
          <a:solidFill>
            <a:srgbClr val="0D1117"/>
          </a:solidFill>
          <a:ln/>
          <a:effectLst>
            <a:outerShdw blurRad="101600" dist="25400" dir="8100000" algn="bl" rotWithShape="0">
              <a:srgbClr val="000000">
                <a:alpha val="8000"/>
              </a:srgbClr>
            </a:outerShdw>
          </a:effectLst>
        </p:spPr>
        <p:txBody>
          <a:bodyPr/>
          <a:lstStyle/>
          <a:p>
            <a:endParaRPr lang="en-US"/>
          </a:p>
        </p:txBody>
      </p:sp>
      <p:sp>
        <p:nvSpPr>
          <p:cNvPr id="5" name="Text 3"/>
          <p:cNvSpPr/>
          <p:nvPr/>
        </p:nvSpPr>
        <p:spPr>
          <a:xfrm>
            <a:off x="960120" y="1143000"/>
            <a:ext cx="3200400" cy="320040"/>
          </a:xfrm>
          <a:prstGeom prst="rect">
            <a:avLst/>
          </a:prstGeom>
          <a:noFill/>
          <a:ln/>
        </p:spPr>
        <p:txBody>
          <a:bodyPr wrap="square" lIns="0" tIns="0" rIns="0" bIns="0" rtlCol="0" anchor="ctr"/>
          <a:lstStyle/>
          <a:p>
            <a:pPr marL="0" indent="0">
              <a:buNone/>
            </a:pPr>
            <a:r>
              <a:rPr lang="en-US" sz="1400" b="1" dirty="0">
                <a:solidFill>
                  <a:srgbClr val="00BBDD"/>
                </a:solidFill>
                <a:latin typeface="Calibri" pitchFamily="34" charset="0"/>
                <a:ea typeface="Calibri" pitchFamily="34" charset="-122"/>
                <a:cs typeface="Calibri" pitchFamily="34" charset="-120"/>
              </a:rPr>
              <a:t>Folder Structure</a:t>
            </a:r>
            <a:endParaRPr lang="en-US" sz="1400" dirty="0"/>
          </a:p>
        </p:txBody>
      </p:sp>
      <p:sp>
        <p:nvSpPr>
          <p:cNvPr id="6" name="Text 4"/>
          <p:cNvSpPr/>
          <p:nvPr/>
        </p:nvSpPr>
        <p:spPr>
          <a:xfrm>
            <a:off x="960120" y="1554480"/>
            <a:ext cx="3474720" cy="1828800"/>
          </a:xfrm>
          <a:prstGeom prst="rect">
            <a:avLst/>
          </a:prstGeom>
          <a:noFill/>
          <a:ln/>
        </p:spPr>
        <p:txBody>
          <a:bodyPr wrap="square" lIns="0" tIns="0" rIns="0" bIns="0" rtlCol="0" anchor="ctr"/>
          <a:lstStyle/>
          <a:p>
            <a:pPr marL="0" indent="0">
              <a:buNone/>
            </a:pPr>
            <a:r>
              <a:rPr lang="en-US" sz="1000" dirty="0">
                <a:solidFill>
                  <a:srgbClr val="C8D6E5"/>
                </a:solidFill>
                <a:latin typeface="Consolas" pitchFamily="34" charset="0"/>
                <a:ea typeface="Consolas" pitchFamily="34" charset="-122"/>
                <a:cs typeface="Consolas" pitchFamily="34" charset="-120"/>
              </a:rPr>
              <a:t>.github/</a:t>
            </a:r>
            <a:endParaRPr lang="en-US" sz="1000" dirty="0"/>
          </a:p>
          <a:p>
            <a:pPr marL="0" indent="0">
              <a:buNone/>
            </a:pPr>
            <a:r>
              <a:rPr lang="en-US" sz="1000" dirty="0">
                <a:solidFill>
                  <a:srgbClr val="C8D6E5"/>
                </a:solidFill>
                <a:latin typeface="Consolas" pitchFamily="34" charset="0"/>
                <a:ea typeface="Consolas" pitchFamily="34" charset="-122"/>
                <a:cs typeface="Consolas" pitchFamily="34" charset="-120"/>
              </a:rPr>
              <a:t>  agents/              # Specialized subagents</a:t>
            </a:r>
            <a:endParaRPr lang="en-US" sz="1000" dirty="0"/>
          </a:p>
          <a:p>
            <a:pPr marL="0" indent="0">
              <a:buNone/>
            </a:pPr>
            <a:r>
              <a:rPr lang="en-US" sz="1000" dirty="0">
                <a:solidFill>
                  <a:srgbClr val="C8D6E5"/>
                </a:solidFill>
                <a:latin typeface="Consolas" pitchFamily="34" charset="0"/>
                <a:ea typeface="Consolas" pitchFamily="34" charset="-122"/>
                <a:cs typeface="Consolas" pitchFamily="34" charset="-120"/>
              </a:rPr>
              <a:t>  commands/            # Slash commands</a:t>
            </a:r>
            <a:endParaRPr lang="en-US" sz="1000" dirty="0"/>
          </a:p>
          <a:p>
            <a:pPr marL="0" indent="0">
              <a:buNone/>
            </a:pPr>
            <a:r>
              <a:rPr lang="en-US" sz="1000" dirty="0">
                <a:solidFill>
                  <a:srgbClr val="C8D6E5"/>
                </a:solidFill>
                <a:latin typeface="Consolas" pitchFamily="34" charset="0"/>
                <a:ea typeface="Consolas" pitchFamily="34" charset="-122"/>
                <a:cs typeface="Consolas" pitchFamily="34" charset="-120"/>
              </a:rPr>
              <a:t>  prompts/             # Reusable templates</a:t>
            </a:r>
            <a:endParaRPr lang="en-US" sz="1000" dirty="0"/>
          </a:p>
          <a:p>
            <a:pPr marL="0" indent="0">
              <a:buNone/>
            </a:pPr>
            <a:r>
              <a:rPr lang="en-US" sz="1000" dirty="0">
                <a:solidFill>
                  <a:srgbClr val="C8D6E5"/>
                </a:solidFill>
                <a:latin typeface="Consolas" pitchFamily="34" charset="0"/>
                <a:ea typeface="Consolas" pitchFamily="34" charset="-122"/>
                <a:cs typeface="Consolas" pitchFamily="34" charset="-120"/>
              </a:rPr>
              <a:t>  skills/              # Extended capabilities</a:t>
            </a:r>
            <a:endParaRPr lang="en-US" sz="1000" dirty="0"/>
          </a:p>
          <a:p>
            <a:pPr marL="0" indent="0">
              <a:buNone/>
            </a:pPr>
            <a:r>
              <a:rPr lang="en-US" sz="1000" dirty="0">
                <a:solidFill>
                  <a:srgbClr val="C8D6E5"/>
                </a:solidFill>
                <a:latin typeface="Consolas" pitchFamily="34" charset="0"/>
                <a:ea typeface="Consolas" pitchFamily="34" charset="-122"/>
                <a:cs typeface="Consolas" pitchFamily="34" charset="-120"/>
              </a:rPr>
              <a:t>  copilot-instructions.md</a:t>
            </a:r>
            <a:endParaRPr lang="en-US" sz="1000" dirty="0"/>
          </a:p>
        </p:txBody>
      </p:sp>
      <p:sp>
        <p:nvSpPr>
          <p:cNvPr id="7" name="Shape 5"/>
          <p:cNvSpPr/>
          <p:nvPr/>
        </p:nvSpPr>
        <p:spPr>
          <a:xfrm>
            <a:off x="4937760" y="1005840"/>
            <a:ext cx="3474720" cy="566928"/>
          </a:xfrm>
          <a:prstGeom prst="rect">
            <a:avLst/>
          </a:prstGeom>
          <a:solidFill>
            <a:srgbClr val="1C2541"/>
          </a:solidFill>
          <a:ln/>
        </p:spPr>
        <p:txBody>
          <a:bodyPr/>
          <a:lstStyle/>
          <a:p>
            <a:endParaRPr lang="en-US"/>
          </a:p>
        </p:txBody>
      </p:sp>
      <p:sp>
        <p:nvSpPr>
          <p:cNvPr id="8" name="Shape 6"/>
          <p:cNvSpPr/>
          <p:nvPr/>
        </p:nvSpPr>
        <p:spPr>
          <a:xfrm>
            <a:off x="4937760" y="1005840"/>
            <a:ext cx="45720" cy="566928"/>
          </a:xfrm>
          <a:prstGeom prst="rect">
            <a:avLst/>
          </a:prstGeom>
          <a:solidFill>
            <a:srgbClr val="0055DD"/>
          </a:solidFill>
          <a:ln/>
        </p:spPr>
        <p:txBody>
          <a:bodyPr/>
          <a:lstStyle/>
          <a:p>
            <a:endParaRPr lang="en-US"/>
          </a:p>
        </p:txBody>
      </p:sp>
      <p:sp>
        <p:nvSpPr>
          <p:cNvPr id="9" name="Text 7"/>
          <p:cNvSpPr/>
          <p:nvPr/>
        </p:nvSpPr>
        <p:spPr>
          <a:xfrm>
            <a:off x="5166360" y="1024128"/>
            <a:ext cx="3017520" cy="256032"/>
          </a:xfrm>
          <a:prstGeom prst="rect">
            <a:avLst/>
          </a:prstGeom>
          <a:noFill/>
          <a:ln/>
        </p:spPr>
        <p:txBody>
          <a:bodyPr wrap="square" lIns="0" tIns="0" rIns="0" bIns="0" rtlCol="0" anchor="ctr"/>
          <a:lstStyle/>
          <a:p>
            <a:pPr marL="0" indent="0">
              <a:buNone/>
            </a:pPr>
            <a:r>
              <a:rPr lang="en-US" sz="1000" b="1" dirty="0">
                <a:solidFill>
                  <a:srgbClr val="FFFFFF"/>
                </a:solidFill>
                <a:latin typeface="Consolas" pitchFamily="34" charset="0"/>
                <a:ea typeface="Consolas" pitchFamily="34" charset="-122"/>
                <a:cs typeface="Consolas" pitchFamily="34" charset="-120"/>
              </a:rPr>
              <a:t>agents/</a:t>
            </a:r>
            <a:endParaRPr lang="en-US" sz="1000" dirty="0"/>
          </a:p>
        </p:txBody>
      </p:sp>
      <p:sp>
        <p:nvSpPr>
          <p:cNvPr id="10" name="Text 8"/>
          <p:cNvSpPr/>
          <p:nvPr/>
        </p:nvSpPr>
        <p:spPr>
          <a:xfrm>
            <a:off x="5166360" y="1280160"/>
            <a:ext cx="3017520" cy="256032"/>
          </a:xfrm>
          <a:prstGeom prst="rect">
            <a:avLst/>
          </a:prstGeom>
          <a:noFill/>
          <a:ln/>
        </p:spPr>
        <p:txBody>
          <a:bodyPr wrap="square" lIns="0" tIns="0" rIns="0" bIns="0" rtlCol="0" anchor="ctr"/>
          <a:lstStyle/>
          <a:p>
            <a:pPr marL="0" indent="0">
              <a:buNone/>
            </a:pPr>
            <a:r>
              <a:rPr lang="en-US" sz="900" dirty="0">
                <a:solidFill>
                  <a:srgbClr val="C8D6E5"/>
                </a:solidFill>
                <a:latin typeface="Calibri" pitchFamily="34" charset="0"/>
                <a:ea typeface="Calibri" pitchFamily="34" charset="-122"/>
                <a:cs typeface="Calibri" pitchFamily="34" charset="-120"/>
              </a:rPr>
              <a:t>Specialized helpers for research, analysis, pattern-finding</a:t>
            </a:r>
            <a:endParaRPr lang="en-US" sz="900" dirty="0"/>
          </a:p>
        </p:txBody>
      </p:sp>
      <p:sp>
        <p:nvSpPr>
          <p:cNvPr id="11" name="Shape 9"/>
          <p:cNvSpPr/>
          <p:nvPr/>
        </p:nvSpPr>
        <p:spPr>
          <a:xfrm>
            <a:off x="4937760" y="1691640"/>
            <a:ext cx="3474720" cy="566928"/>
          </a:xfrm>
          <a:prstGeom prst="rect">
            <a:avLst/>
          </a:prstGeom>
          <a:solidFill>
            <a:srgbClr val="1C2541"/>
          </a:solidFill>
          <a:ln/>
        </p:spPr>
        <p:txBody>
          <a:bodyPr/>
          <a:lstStyle/>
          <a:p>
            <a:endParaRPr lang="en-US"/>
          </a:p>
        </p:txBody>
      </p:sp>
      <p:sp>
        <p:nvSpPr>
          <p:cNvPr id="12" name="Shape 10"/>
          <p:cNvSpPr/>
          <p:nvPr/>
        </p:nvSpPr>
        <p:spPr>
          <a:xfrm>
            <a:off x="4937760" y="1691640"/>
            <a:ext cx="45720" cy="566928"/>
          </a:xfrm>
          <a:prstGeom prst="rect">
            <a:avLst/>
          </a:prstGeom>
          <a:solidFill>
            <a:srgbClr val="00BBDD"/>
          </a:solidFill>
          <a:ln/>
        </p:spPr>
        <p:txBody>
          <a:bodyPr/>
          <a:lstStyle/>
          <a:p>
            <a:endParaRPr lang="en-US"/>
          </a:p>
        </p:txBody>
      </p:sp>
      <p:sp>
        <p:nvSpPr>
          <p:cNvPr id="13" name="Text 11"/>
          <p:cNvSpPr/>
          <p:nvPr/>
        </p:nvSpPr>
        <p:spPr>
          <a:xfrm>
            <a:off x="5166360" y="1709928"/>
            <a:ext cx="3017520" cy="256032"/>
          </a:xfrm>
          <a:prstGeom prst="rect">
            <a:avLst/>
          </a:prstGeom>
          <a:noFill/>
          <a:ln/>
        </p:spPr>
        <p:txBody>
          <a:bodyPr wrap="square" lIns="0" tIns="0" rIns="0" bIns="0" rtlCol="0" anchor="ctr"/>
          <a:lstStyle/>
          <a:p>
            <a:pPr marL="0" indent="0">
              <a:buNone/>
            </a:pPr>
            <a:r>
              <a:rPr lang="en-US" sz="1000" b="1" dirty="0">
                <a:solidFill>
                  <a:srgbClr val="FFFFFF"/>
                </a:solidFill>
                <a:latin typeface="Consolas" pitchFamily="34" charset="0"/>
                <a:ea typeface="Consolas" pitchFamily="34" charset="-122"/>
                <a:cs typeface="Consolas" pitchFamily="34" charset="-120"/>
              </a:rPr>
              <a:t>commands/</a:t>
            </a:r>
            <a:endParaRPr lang="en-US" sz="1000" dirty="0"/>
          </a:p>
        </p:txBody>
      </p:sp>
      <p:sp>
        <p:nvSpPr>
          <p:cNvPr id="14" name="Text 12"/>
          <p:cNvSpPr/>
          <p:nvPr/>
        </p:nvSpPr>
        <p:spPr>
          <a:xfrm>
            <a:off x="5166360" y="1965960"/>
            <a:ext cx="3017520" cy="256032"/>
          </a:xfrm>
          <a:prstGeom prst="rect">
            <a:avLst/>
          </a:prstGeom>
          <a:noFill/>
          <a:ln/>
        </p:spPr>
        <p:txBody>
          <a:bodyPr wrap="square" lIns="0" tIns="0" rIns="0" bIns="0" rtlCol="0" anchor="ctr"/>
          <a:lstStyle/>
          <a:p>
            <a:pPr marL="0" indent="0">
              <a:buNone/>
            </a:pPr>
            <a:r>
              <a:rPr lang="en-US" sz="900" dirty="0">
                <a:solidFill>
                  <a:srgbClr val="C8D6E5"/>
                </a:solidFill>
                <a:latin typeface="Calibri" pitchFamily="34" charset="0"/>
                <a:ea typeface="Calibri" pitchFamily="34" charset="-122"/>
                <a:cs typeface="Calibri" pitchFamily="34" charset="-120"/>
              </a:rPr>
              <a:t>Interactive /slash workflows: /create_plan, /commit</a:t>
            </a:r>
            <a:endParaRPr lang="en-US" sz="900" dirty="0"/>
          </a:p>
        </p:txBody>
      </p:sp>
      <p:sp>
        <p:nvSpPr>
          <p:cNvPr id="15" name="Shape 13"/>
          <p:cNvSpPr/>
          <p:nvPr/>
        </p:nvSpPr>
        <p:spPr>
          <a:xfrm>
            <a:off x="4937760" y="2377440"/>
            <a:ext cx="3474720" cy="566928"/>
          </a:xfrm>
          <a:prstGeom prst="rect">
            <a:avLst/>
          </a:prstGeom>
          <a:solidFill>
            <a:srgbClr val="1C2541"/>
          </a:solidFill>
          <a:ln/>
        </p:spPr>
        <p:txBody>
          <a:bodyPr/>
          <a:lstStyle/>
          <a:p>
            <a:endParaRPr lang="en-US"/>
          </a:p>
        </p:txBody>
      </p:sp>
      <p:sp>
        <p:nvSpPr>
          <p:cNvPr id="16" name="Shape 14"/>
          <p:cNvSpPr/>
          <p:nvPr/>
        </p:nvSpPr>
        <p:spPr>
          <a:xfrm>
            <a:off x="4937760" y="2377440"/>
            <a:ext cx="45720" cy="566928"/>
          </a:xfrm>
          <a:prstGeom prst="rect">
            <a:avLst/>
          </a:prstGeom>
          <a:solidFill>
            <a:srgbClr val="4338CA"/>
          </a:solidFill>
          <a:ln/>
        </p:spPr>
        <p:txBody>
          <a:bodyPr/>
          <a:lstStyle/>
          <a:p>
            <a:endParaRPr lang="en-US"/>
          </a:p>
        </p:txBody>
      </p:sp>
      <p:sp>
        <p:nvSpPr>
          <p:cNvPr id="17" name="Text 15"/>
          <p:cNvSpPr/>
          <p:nvPr/>
        </p:nvSpPr>
        <p:spPr>
          <a:xfrm>
            <a:off x="5166360" y="2395728"/>
            <a:ext cx="3017520" cy="256032"/>
          </a:xfrm>
          <a:prstGeom prst="rect">
            <a:avLst/>
          </a:prstGeom>
          <a:noFill/>
          <a:ln/>
        </p:spPr>
        <p:txBody>
          <a:bodyPr wrap="square" lIns="0" tIns="0" rIns="0" bIns="0" rtlCol="0" anchor="ctr"/>
          <a:lstStyle/>
          <a:p>
            <a:pPr marL="0" indent="0">
              <a:buNone/>
            </a:pPr>
            <a:r>
              <a:rPr lang="en-US" sz="1000" b="1" dirty="0">
                <a:solidFill>
                  <a:srgbClr val="FFFFFF"/>
                </a:solidFill>
                <a:latin typeface="Consolas" pitchFamily="34" charset="0"/>
                <a:ea typeface="Consolas" pitchFamily="34" charset="-122"/>
                <a:cs typeface="Consolas" pitchFamily="34" charset="-120"/>
              </a:rPr>
              <a:t>prompts/</a:t>
            </a:r>
            <a:endParaRPr lang="en-US" sz="1000" dirty="0"/>
          </a:p>
        </p:txBody>
      </p:sp>
      <p:sp>
        <p:nvSpPr>
          <p:cNvPr id="18" name="Text 16"/>
          <p:cNvSpPr/>
          <p:nvPr/>
        </p:nvSpPr>
        <p:spPr>
          <a:xfrm>
            <a:off x="5166360" y="2651760"/>
            <a:ext cx="3017520" cy="256032"/>
          </a:xfrm>
          <a:prstGeom prst="rect">
            <a:avLst/>
          </a:prstGeom>
          <a:noFill/>
          <a:ln/>
        </p:spPr>
        <p:txBody>
          <a:bodyPr wrap="square" lIns="0" tIns="0" rIns="0" bIns="0" rtlCol="0" anchor="ctr"/>
          <a:lstStyle/>
          <a:p>
            <a:pPr marL="0" indent="0">
              <a:buNone/>
            </a:pPr>
            <a:r>
              <a:rPr lang="en-US" sz="900" dirty="0">
                <a:solidFill>
                  <a:srgbClr val="C8D6E5"/>
                </a:solidFill>
                <a:latin typeface="Calibri" pitchFamily="34" charset="0"/>
                <a:ea typeface="Calibri" pitchFamily="34" charset="-122"/>
                <a:cs typeface="Calibri" pitchFamily="34" charset="-120"/>
              </a:rPr>
              <a:t>Reusable templates for research, planning, handoffs</a:t>
            </a:r>
            <a:endParaRPr lang="en-US" sz="900" dirty="0"/>
          </a:p>
        </p:txBody>
      </p:sp>
      <p:sp>
        <p:nvSpPr>
          <p:cNvPr id="19" name="Shape 17"/>
          <p:cNvSpPr/>
          <p:nvPr/>
        </p:nvSpPr>
        <p:spPr>
          <a:xfrm>
            <a:off x="4937760" y="3063240"/>
            <a:ext cx="3474720" cy="566928"/>
          </a:xfrm>
          <a:prstGeom prst="rect">
            <a:avLst/>
          </a:prstGeom>
          <a:solidFill>
            <a:srgbClr val="1C2541"/>
          </a:solidFill>
          <a:ln/>
        </p:spPr>
        <p:txBody>
          <a:bodyPr/>
          <a:lstStyle/>
          <a:p>
            <a:endParaRPr lang="en-US"/>
          </a:p>
        </p:txBody>
      </p:sp>
      <p:sp>
        <p:nvSpPr>
          <p:cNvPr id="20" name="Shape 18"/>
          <p:cNvSpPr/>
          <p:nvPr/>
        </p:nvSpPr>
        <p:spPr>
          <a:xfrm>
            <a:off x="4937760" y="3063240"/>
            <a:ext cx="45720" cy="566928"/>
          </a:xfrm>
          <a:prstGeom prst="rect">
            <a:avLst/>
          </a:prstGeom>
          <a:solidFill>
            <a:srgbClr val="3A506B"/>
          </a:solidFill>
          <a:ln/>
        </p:spPr>
        <p:txBody>
          <a:bodyPr/>
          <a:lstStyle/>
          <a:p>
            <a:endParaRPr lang="en-US"/>
          </a:p>
        </p:txBody>
      </p:sp>
      <p:sp>
        <p:nvSpPr>
          <p:cNvPr id="21" name="Text 19"/>
          <p:cNvSpPr/>
          <p:nvPr/>
        </p:nvSpPr>
        <p:spPr>
          <a:xfrm>
            <a:off x="5166360" y="3081528"/>
            <a:ext cx="3017520" cy="256032"/>
          </a:xfrm>
          <a:prstGeom prst="rect">
            <a:avLst/>
          </a:prstGeom>
          <a:noFill/>
          <a:ln/>
        </p:spPr>
        <p:txBody>
          <a:bodyPr wrap="square" lIns="0" tIns="0" rIns="0" bIns="0" rtlCol="0" anchor="ctr"/>
          <a:lstStyle/>
          <a:p>
            <a:pPr marL="0" indent="0">
              <a:buNone/>
            </a:pPr>
            <a:r>
              <a:rPr lang="en-US" sz="1000" b="1" dirty="0">
                <a:solidFill>
                  <a:srgbClr val="FFFFFF"/>
                </a:solidFill>
                <a:latin typeface="Consolas" pitchFamily="34" charset="0"/>
                <a:ea typeface="Consolas" pitchFamily="34" charset="-122"/>
                <a:cs typeface="Consolas" pitchFamily="34" charset="-120"/>
              </a:rPr>
              <a:t>skills/</a:t>
            </a:r>
            <a:endParaRPr lang="en-US" sz="1000" dirty="0"/>
          </a:p>
        </p:txBody>
      </p:sp>
      <p:sp>
        <p:nvSpPr>
          <p:cNvPr id="22" name="Text 20"/>
          <p:cNvSpPr/>
          <p:nvPr/>
        </p:nvSpPr>
        <p:spPr>
          <a:xfrm>
            <a:off x="5166360" y="3337560"/>
            <a:ext cx="3017520" cy="256032"/>
          </a:xfrm>
          <a:prstGeom prst="rect">
            <a:avLst/>
          </a:prstGeom>
          <a:noFill/>
          <a:ln/>
        </p:spPr>
        <p:txBody>
          <a:bodyPr wrap="square" lIns="0" tIns="0" rIns="0" bIns="0" rtlCol="0" anchor="ctr"/>
          <a:lstStyle/>
          <a:p>
            <a:pPr marL="0" indent="0">
              <a:buNone/>
            </a:pPr>
            <a:r>
              <a:rPr lang="en-US" sz="900" dirty="0">
                <a:solidFill>
                  <a:srgbClr val="C8D6E5"/>
                </a:solidFill>
                <a:latin typeface="Calibri" pitchFamily="34" charset="0"/>
                <a:ea typeface="Calibri" pitchFamily="34" charset="-122"/>
                <a:cs typeface="Calibri" pitchFamily="34" charset="-120"/>
              </a:rPr>
              <a:t>Extended capabilities: docx, pdf, xlsx, pptx</a:t>
            </a:r>
            <a:endParaRPr lang="en-US" sz="900" dirty="0"/>
          </a:p>
        </p:txBody>
      </p:sp>
      <p:sp>
        <p:nvSpPr>
          <p:cNvPr id="23" name="Shape 21"/>
          <p:cNvSpPr/>
          <p:nvPr/>
        </p:nvSpPr>
        <p:spPr>
          <a:xfrm>
            <a:off x="4937760" y="3749040"/>
            <a:ext cx="3474720" cy="566928"/>
          </a:xfrm>
          <a:prstGeom prst="rect">
            <a:avLst/>
          </a:prstGeom>
          <a:solidFill>
            <a:srgbClr val="1C2541"/>
          </a:solidFill>
          <a:ln/>
        </p:spPr>
        <p:txBody>
          <a:bodyPr/>
          <a:lstStyle/>
          <a:p>
            <a:endParaRPr lang="en-US"/>
          </a:p>
        </p:txBody>
      </p:sp>
      <p:sp>
        <p:nvSpPr>
          <p:cNvPr id="24" name="Shape 22"/>
          <p:cNvSpPr/>
          <p:nvPr/>
        </p:nvSpPr>
        <p:spPr>
          <a:xfrm>
            <a:off x="4937760" y="3749040"/>
            <a:ext cx="45720" cy="566928"/>
          </a:xfrm>
          <a:prstGeom prst="rect">
            <a:avLst/>
          </a:prstGeom>
          <a:solidFill>
            <a:srgbClr val="10B981"/>
          </a:solidFill>
          <a:ln/>
        </p:spPr>
        <p:txBody>
          <a:bodyPr/>
          <a:lstStyle/>
          <a:p>
            <a:endParaRPr lang="en-US"/>
          </a:p>
        </p:txBody>
      </p:sp>
      <p:sp>
        <p:nvSpPr>
          <p:cNvPr id="25" name="Text 23"/>
          <p:cNvSpPr/>
          <p:nvPr/>
        </p:nvSpPr>
        <p:spPr>
          <a:xfrm>
            <a:off x="5166360" y="3767328"/>
            <a:ext cx="3017520" cy="256032"/>
          </a:xfrm>
          <a:prstGeom prst="rect">
            <a:avLst/>
          </a:prstGeom>
          <a:noFill/>
          <a:ln/>
        </p:spPr>
        <p:txBody>
          <a:bodyPr wrap="square" lIns="0" tIns="0" rIns="0" bIns="0" rtlCol="0" anchor="ctr"/>
          <a:lstStyle/>
          <a:p>
            <a:pPr marL="0" indent="0">
              <a:buNone/>
            </a:pPr>
            <a:r>
              <a:rPr lang="en-US" sz="1000" b="1" dirty="0">
                <a:solidFill>
                  <a:srgbClr val="FFFFFF"/>
                </a:solidFill>
                <a:latin typeface="Consolas" pitchFamily="34" charset="0"/>
                <a:ea typeface="Consolas" pitchFamily="34" charset="-122"/>
                <a:cs typeface="Consolas" pitchFamily="34" charset="-120"/>
              </a:rPr>
              <a:t>copilot-instructions.md</a:t>
            </a:r>
            <a:endParaRPr lang="en-US" sz="1000" dirty="0"/>
          </a:p>
        </p:txBody>
      </p:sp>
      <p:sp>
        <p:nvSpPr>
          <p:cNvPr id="26" name="Text 24"/>
          <p:cNvSpPr/>
          <p:nvPr/>
        </p:nvSpPr>
        <p:spPr>
          <a:xfrm>
            <a:off x="5166360" y="4023360"/>
            <a:ext cx="3017520" cy="256032"/>
          </a:xfrm>
          <a:prstGeom prst="rect">
            <a:avLst/>
          </a:prstGeom>
          <a:noFill/>
          <a:ln/>
        </p:spPr>
        <p:txBody>
          <a:bodyPr wrap="square" lIns="0" tIns="0" rIns="0" bIns="0" rtlCol="0" anchor="ctr"/>
          <a:lstStyle/>
          <a:p>
            <a:pPr marL="0" indent="0">
              <a:buNone/>
            </a:pPr>
            <a:r>
              <a:rPr lang="en-US" sz="900" dirty="0">
                <a:solidFill>
                  <a:srgbClr val="C8D6E5"/>
                </a:solidFill>
                <a:latin typeface="Calibri" pitchFamily="34" charset="0"/>
                <a:ea typeface="Calibri" pitchFamily="34" charset="-122"/>
                <a:cs typeface="Calibri" pitchFamily="34" charset="-120"/>
              </a:rPr>
              <a:t>Global context: what the project is, core principles</a:t>
            </a:r>
            <a:endParaRPr lang="en-US" sz="900" dirty="0"/>
          </a:p>
        </p:txBody>
      </p:sp>
      <p:sp>
        <p:nvSpPr>
          <p:cNvPr id="27" name="Text 25"/>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8899AA"/>
                </a:solidFill>
                <a:latin typeface="Calibri" pitchFamily="34" charset="0"/>
                <a:ea typeface="Calibri" pitchFamily="34" charset="-122"/>
                <a:cs typeface="Calibri" pitchFamily="34" charset="-120"/>
              </a:rPr>
              <a:t>11 / 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2024</Words>
  <Application>Microsoft Macintosh PowerPoint</Application>
  <PresentationFormat>On-screen Show (16:9)</PresentationFormat>
  <Paragraphs>235</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Context Engineering for AI Coding Agents</dc:title>
  <dc:subject>PptxGenJS Presentation</dc:subject>
  <dc:creator>Jacob</dc:creator>
  <cp:lastModifiedBy>Jacob Garcia</cp:lastModifiedBy>
  <cp:revision>2</cp:revision>
  <dcterms:created xsi:type="dcterms:W3CDTF">2026-02-06T00:34:14Z</dcterms:created>
  <dcterms:modified xsi:type="dcterms:W3CDTF">2026-02-06T00:36:12Z</dcterms:modified>
</cp:coreProperties>
</file>