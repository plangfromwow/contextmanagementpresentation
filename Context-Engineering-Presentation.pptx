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81701"/>
  </p:normalViewPr>
  <p:slideViewPr>
    <p:cSldViewPr snapToGrid="0" snapToObjects="1">
      <p:cViewPr varScale="1">
        <p:scale>
          <a:sx n="119" d="100"/>
          <a:sy n="119" d="100"/>
        </p:scale>
        <p:origin x="1632" y="48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2698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going to talk about Context Engineering for AI coding agents, and specifically how we can apply these techniques to get real, production-quality results in our microservice codebase.</a:t>
            </a:r>
          </a:p>
          <a:p>
            <a:r>
              <a:rPr lang="en-US" dirty="0"/>
              <a:t>This presentation is based on the work of Dex Horthy, founder of HumanLayer, who wrote the Advanced Context Engineering guide that has become one of the most influential resources in this space. His GitHub repo has over 1,400 stars.</a:t>
            </a:r>
          </a:p>
          <a:p>
            <a:r>
              <a:rPr lang="en-US" dirty="0"/>
              <a:t>The key insight we'll explore is that AI coding tools aren't failing because the models are too dumb. They're failing because we're not managing context properly. With the right workflow, teams have shipped 35,000 lines of code in 7 hours on 300k LOC Rust codebases.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 A Stanford study of nearly 100,000 developers across 600+ companies found that AI coding tools create a productivity paradox. Initial output increases by 30-40%, but rework and bug fixes reduce net gains to just 15-20%.</a:t>
            </a:r>
          </a:p>
          <a:p>
            <a:r>
              <a:rPr lang="en-US" dirty="0"/>
              <a:t>The key finding: in high-complexity brownfield codebases, like ours, AI can actually decrease productivity. The median improvement drops to just 0-10%, and a material share of teams see a net negative impact because debugging and rework cancel out the apparent speedup.</a:t>
            </a:r>
          </a:p>
          <a:p>
            <a:r>
              <a:rPr lang="en-US" dirty="0"/>
              <a:t>These quotes on the right are things we've all heard, or maybe even said ourselves. The common response falls between the pessimist view of "this will never work" and the more measured "maybe someday with smarter models." But the problem isn't the models. It's how we use them.</a:t>
            </a:r>
          </a:p>
          <a:p>
            <a:r>
              <a:rPr lang="en-US" dirty="0"/>
              <a:t>Stanford defined rework as code changed again within three weeks of introduction. That means the AI was producing fragile, incomplete code that needed immediate revision. A lot of the extra code shipped by AI ends up just reworking what was shipped last week.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fundamental insight that changes everything: LLMs are stateless functions. They have no memory between calls. The context window is literally the only lever you have to affect output quality.</a:t>
            </a:r>
          </a:p>
          <a:p>
            <a:r>
              <a:rPr lang="en-US" dirty="0"/>
              <a:t>Think of the context window as a workbench. If your workbench is cluttered with irrelevant tools and materials, you can't do good work. The same applies to LLMs. When context fills with search results, file contents, and error logs, there's no room left for actual reasoning.</a:t>
            </a:r>
          </a:p>
          <a:p>
            <a:r>
              <a:rPr lang="en-US" dirty="0"/>
              <a:t>Horthy introduces the concept of the "dumb zone." Once you exceed about 40% context utilization, you start seeing diminishing returns. The more you fill the context window, the worse the outcomes get. This is why just chatting with AI until the context fills up produces increasingly poor results.</a:t>
            </a:r>
          </a:p>
          <a:p>
            <a:r>
              <a:rPr lang="en-US" dirty="0"/>
              <a:t>Context Engineering is about optimizing these four dimensions: Correctness means no wrong information gets into the window. Completeness means no critical context is missing. Size means keeping the noise minimal. Trajectory means keeping the agent on track toward the right goal. Nail all four and you get dramatically better results.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most of us started with AI coding tools. Be honest, we've all done this. You start a conversation, ask the AI to make a change, it searches your codebase, reads files, tries edits, fails, tries again, and before you know it, the context window is full of glob, grep, and read output with almost no room left for actual problem-solving.</a:t>
            </a:r>
          </a:p>
          <a:p>
            <a:r>
              <a:rPr lang="en-US" dirty="0"/>
              <a:t>Without deliberate compaction, a single research phase can consume 60-80% of available context, leaving almost no capacity for implementation reasoning. That's why the agent starts apologizing and going in circles. It's not getting dumber, it's running out of room to think.</a:t>
            </a:r>
          </a:p>
          <a:p>
            <a:r>
              <a:rPr lang="en-US" dirty="0"/>
              <a:t>The second approach, restarting with more steering, is better. You provide more upfront guidance to prevent known errors. But it's still reactive. You're fixing mistakes after they happen instead of building a workflow that prevents them. This is what Horthy calls "vibe coding" and it doesn't scale to complex codebases.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breakthrough concept: Frequent Intentional Compaction, or FIC. Instead of letting context accumulate until it overflows, you deliberately pause and distill your work into structured artifacts before the context fills up.</a:t>
            </a:r>
          </a:p>
          <a:p>
            <a:r>
              <a:rPr lang="en-US" dirty="0"/>
              <a:t>On the left are all the things that eat context. In our microservice codebase, searching across services is especially expensive. A single search can return thousands of lines. Understanding code flow, applying edits, test output, tool call responses, all of this fills the window fast.</a:t>
            </a:r>
          </a:p>
          <a:p>
            <a:r>
              <a:rPr lang="en-US" dirty="0"/>
              <a:t>The solution is simple but powerful: whether you're on track or not, as your context starts to fill up, you pause. You tell the agent to write everything so far to a progress file. The goal, the approach taken, steps completed, and the current issue or blocker. Then you start a fresh session that reads only that compact summary.</a:t>
            </a:r>
          </a:p>
          <a:p>
            <a:r>
              <a:rPr lang="en-US" dirty="0"/>
              <a:t>The target is to keep context utilization in the 40-60% range. This ensures the model always has enough room to reason effectively. Think of it like keeping your RAM usage low so your computer stays responsive. The compacted artifacts, usually structured markdown documents, become the connective tissue between sessions.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framework. The entire development workflow is designed around context management using three distinct phases, each producing a compacted artifact for the next phase.</a:t>
            </a:r>
          </a:p>
          <a:p>
            <a:r>
              <a:rPr lang="en-US" dirty="0"/>
              <a:t>Phase 1, Research: The goal is objective system understanding. You use subagents to explore the codebase, find relevant files, understand data flow, and identify potential issues. The output is a structured research document of about 200 lines that captures everything the planning phase needs to know. The main agent's context stays clean because subagents do all the heavy searching.</a:t>
            </a:r>
          </a:p>
          <a:p>
            <a:r>
              <a:rPr lang="en-US" dirty="0"/>
              <a:t>Phase 2, Plan: Working from the research artifact, you outline exact implementation steps. Each phase in the plan includes specific filenames, line numbers, code snippets, and precise testing and verification procedures. This is where human review happens. Reviewing a 200-line plan is far more effective than reviewing a 2,000-line PR.</a:t>
            </a:r>
          </a:p>
          <a:p>
            <a:r>
              <a:rPr lang="en-US" dirty="0"/>
              <a:t>Phase 3, Implement: You step through the plan phase by phase. After each implementation phase is verified, the current status is compacted back into the plan file. This keeps context utilization under 40% even for complex, multi-step implementations. The plan file becomes a living document that tracks progress.</a:t>
            </a:r>
          </a:p>
          <a:p>
            <a:r>
              <a:rPr lang="en-US" dirty="0"/>
              <a:t>The three core prompt templates, research_codebase.md, create_plan.md, and implement_plan.md, formalize this workflow and make it repeatable.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Sub-agents are a critical technical mechanism for context pollution prevention. This is not about giving the AI a personality or role-playing. It's a practical solution to a concrete problem.</a:t>
            </a:r>
          </a:p>
          <a:p>
            <a:r>
              <a:rPr lang="en-US" dirty="0"/>
              <a:t>The fundamental problem: operations like codebase search can generate 5,000+ lines of output. If your main agent runs those searches, its context fills with noise. Sub-agents solve this by executing those operations in isolated context windows and returning only distilled results, typically 50-200 lines of structured summary.</a:t>
            </a:r>
          </a:p>
          <a:p>
            <a:r>
              <a:rPr lang="en-US" dirty="0"/>
              <a:t>The parent context never sees those 5,000 lines of search results. Only the 50-line structured summary returns, maintaining the parent's 40-45% utilization and reasoning quality. It's like having research assistants who go off, do the legwork, and come back with a concise briefing.</a:t>
            </a:r>
          </a:p>
          <a:p>
            <a:r>
              <a:rPr lang="en-US" dirty="0"/>
              <a:t>On the right you can see the types of agents we can build for our team. A codebase-locator finds WHERE files live across our services. A codebase-analyzer understands HOW code works and traces dependencies. A pattern-finder locates similar implementations so we can maintain consistency. A database-query agent can explore schemas and data models. A docs-locator searches our existing documentation.</a:t>
            </a:r>
          </a:p>
          <a:p>
            <a:r>
              <a:rPr lang="en-US" dirty="0"/>
              <a:t>Each of these agents is defined in a simple markdown file in the .github/agents/ folder with a name, description, tools list, and instructions.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concepts in the entire framework. The earlier you catch a mistake, the more leverage your review has.</a:t>
            </a:r>
          </a:p>
          <a:p>
            <a:r>
              <a:rPr lang="en-US" dirty="0"/>
              <a:t>A bad line of code is just a bad line. You find it in code review, you fix it. But a bad line in a plan leads to hundreds of bad lines of implementation. And a bad line of research, a wrong assumption about how a system works, leads to thousands of lines of wasted effort built on a flawed foundation.</a:t>
            </a:r>
          </a:p>
          <a:p>
            <a:r>
              <a:rPr lang="en-US" dirty="0"/>
              <a:t>This is why Horthy's key principle is: when you review the research and the plans, you get more leverage than when you review the code. A developer reviewing a 200-line research doc or plan can catch errors at high-leverage points, rather than trying to spot problems in a 2,000-line PR where the wrong approach has already been baked in.</a:t>
            </a:r>
          </a:p>
          <a:p>
            <a:r>
              <a:rPr lang="en-US" dirty="0"/>
              <a:t>This also connects to Horthy's critical tenet: do not outsource the thinking. The human's role shifts from writing code to managing the workflow and validating the reasoning. You're still deeply engaged, just at a higher leverage point in the process.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bring this home to our specific situation. We run a microservice architecture, and that creates unique challenges that make context engineering even more critical.</a:t>
            </a:r>
          </a:p>
          <a:p>
            <a:r>
              <a:rPr lang="en-US" dirty="0"/>
              <a:t>Cross-Service Context: When a single feature touches 4-5 services, an AI agent without proper context steering only sees one service at a time. It can't reason about the full picture. Research agents solve this by mapping the cross-service dependencies upfront and producing a complete picture before any code is written.</a:t>
            </a:r>
          </a:p>
          <a:p>
            <a:r>
              <a:rPr lang="en-US" dirty="0"/>
              <a:t>Shared Contracts and Schemas: Our API contracts, message formats, and shared DTOs must stay consistent across services. A change in one place that breaks a contract in another is exactly the kind of bug that costs days to debug. Research agents can map these dependencies first so the plan accounts for all affected touchpoints.</a:t>
            </a:r>
          </a:p>
          <a:p>
            <a:r>
              <a:rPr lang="en-US" dirty="0"/>
              <a:t>Complex Data Flows: Events, queues, and async patterns that span services are notoriously hard for AI to reason about without proper context. Plans need to capture the full flow, from event producer through consumers, before any coding begins.</a:t>
            </a:r>
          </a:p>
          <a:p>
            <a:r>
              <a:rPr lang="en-US" dirty="0"/>
              <a:t>Team Mental Alignment: When AI writes 90% of the code, the specs and plans become the shared language of the team. Instead of reviewing PRs, we review plans. This actually improves alignment because everyone understands the intent, not just the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the specific tooling. GitHub Copilot CLI is the tool we'll be using to implement this workflow. It can be installed via npm and works directly in your terminal.</a:t>
            </a:r>
          </a:p>
          <a:p>
            <a:r>
              <a:rPr lang="en-US" dirty="0"/>
              <a:t>The key commands are: /model to select which AI model to use, such as Claude Sonnet or GPT-5. /init to set up instruction files in your repository. And the @file syntax to explicitly include specific files in context, giving you precise control over what the agent sees.</a:t>
            </a:r>
          </a:p>
          <a:p>
            <a:r>
              <a:rPr lang="en-US" dirty="0"/>
              <a:t>On the right is the instruction file hierarchy. Copilot CLI automatically reads these files in order, starting with CLAUDE.md or AGENTS.md at the git root. Then it reads files in .github/instructions, then copilot-instructions.md, then your home directory config, and finally any custom directories you specify.</a:t>
            </a:r>
          </a:p>
          <a:p>
            <a:r>
              <a:rPr lang="en-US" dirty="0"/>
              <a:t>This hierarchy is important because it means we can set global conventions at the org level, project-specific context at the repo level, and personal preferences in the home directory. The agent reads all of these automatically, so every session starts with the right context without manual setup.</a:t>
            </a:r>
          </a:p>
          <a:p>
            <a:r>
              <a:rPr lang="en-US" dirty="0"/>
              <a:t>We have companion training docs on installation and setup that cover the details. See 01-copilot-cli-installation.md in our training folder.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.github folder is where all the magic lives. Think of it as your AI configuration directory. Everything the AI agent needs to know about your project, your workflows, and your team's conventions goes here.</a:t>
            </a:r>
          </a:p>
          <a:p>
            <a:r>
              <a:rPr lang="en-US" dirty="0"/>
              <a:t>The agents/ folder contains markdown files that define specialized subagents. Each agent has a name, description, tools list, and detailed instructions. When the main agent needs to search the codebase or analyze dependencies, it spawns these subagents in isolated contexts.</a:t>
            </a:r>
          </a:p>
          <a:p>
            <a:r>
              <a:rPr lang="en-US" dirty="0"/>
              <a:t>The commands/ folder defines slash commands that you invoke interactively. /create_plan starts the planning workflow. /commit creates well-structured git commits. /describe_pr generates PR descriptions. These make the Research, Plan, Implement workflow easy to use.</a:t>
            </a:r>
          </a:p>
          <a:p>
            <a:r>
              <a:rPr lang="en-US" dirty="0"/>
              <a:t>The prompts/ folder holds reusable templates. research_codebase.prompt.md, create_plan.prompt.md, and implement_plan.prompt.md are the three core templates from the ACE-FCA framework. We also have session management prompts for creating and resuming handoffs.</a:t>
            </a:r>
          </a:p>
          <a:p>
            <a:r>
              <a:rPr lang="en-US" dirty="0"/>
              <a:t>The skills/ folder extends capabilities for specific file types or tasks. And copilot-instructions.md is the global config that tells the agent what the project is, what our core principles are, and when to use each agent and prompt. See the companion doc 02-github-folder-structure.md for the full details.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real teams applying context engineering, and they're remarkable.</a:t>
            </a:r>
          </a:p>
          <a:p>
            <a:r>
              <a:rPr lang="en-US" dirty="0"/>
              <a:t>35,000 lines of code shipped in 7 hours on a 300,000 LOC Rust codebase called BAML. That's the kind of velocity that would normally take a team weeks. And this wasn't throwaway code. It passed expert review and was merge-worthy.</a:t>
            </a:r>
          </a:p>
          <a:p>
            <a:r>
              <a:rPr lang="en-US" dirty="0"/>
              <a:t>6 PRs per day as sustained developer output using the Research, Plan, Implement workflow. This isn't a one-day spike. It's a sustainable pace that teams maintain over weeks and months. The structured workflow reduces context-switching overhead and prevents the rework cycles the Stanford study identified.</a:t>
            </a:r>
          </a:p>
          <a:p>
            <a:r>
              <a:rPr lang="en-US" dirty="0"/>
              <a:t>Perhaps most impressive: 10 PRs in 8 days by an intern in their first week. The structured workflow lowers the barrier to entry dramatically. Because the research and plans are documented, even someone new to the codebase can start contributing meaningful work quickly. The plans serve as both instructions and documentation.</a:t>
            </a:r>
          </a:p>
          <a:p>
            <a:r>
              <a:rPr lang="en-US" dirty="0"/>
              <a:t>These results are achievable because the methodology prevents the rework problem. When you verify research, validate plans, and implement phase by phase with compaction, the code that ships is correct the first time.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upfront: this is not a magic solution. It requires real engagement and expertise. The worst thing we can do is treat this as autopilot.</a:t>
            </a:r>
          </a:p>
          <a:p>
            <a:r>
              <a:rPr lang="en-US" dirty="0"/>
              <a:t>On the positive side, this approach works in brownfield codebases like ours, which is exactly where the Stanford study showed AI tools typically fail. It produces merge-worthy code without the slop problem. And it maintains team mental alignment because everyone reviews the same plans and research docs.</a:t>
            </a:r>
          </a:p>
          <a:p>
            <a:r>
              <a:rPr lang="en-US" dirty="0"/>
              <a:t>But there are real caveats. You must engage deeply. Reviewing research and plans is not optional, it's where you catch the expensive mistakes before they cascade. Research can be wrong, so always verify the AI's understanding against your own domain expertise. Complex dependency trees can mislead the agent into incorrect assumptions about system behavior.</a:t>
            </a:r>
          </a:p>
          <a:p>
            <a:r>
              <a:rPr lang="en-US" dirty="0"/>
              <a:t>You need at least one domain expert involved. The AI amplifies your expertise, but it can't replace it. And some problems are genuinely hard regardless of tooling. This won't turn a junior developer into a senior architect overnight, but it will make experienced developers significantly more productive.</a:t>
            </a:r>
          </a:p>
          <a:p>
            <a:r>
              <a:rPr lang="en-US" dirty="0"/>
              <a:t>Remember Horthy's principle: do not outsource the thinking. You're still the architect. The AI is the builder that follows your blueprints.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three concrete steps we can take as a team to start applying these techniques.</a:t>
            </a:r>
          </a:p>
          <a:p>
            <a:r>
              <a:rPr lang="en-US" dirty="0"/>
              <a:t>Step 1, Setup Instructions: We need to add copilot-instructions.md and CLAUDE.md files to our key repositories. These files should contain project context, architecture overview, core principles, coding conventions, and links to relevant documentation. This is the foundation, the global context that every AI session starts with.</a:t>
            </a:r>
          </a:p>
          <a:p>
            <a:r>
              <a:rPr lang="en-US" dirty="0"/>
              <a:t>Step 2, Build Custom Agents: We should create specialized subagents tailored to our microservice architecture. A service-locator agent that knows our repo structure. A database-query agent that understands our schema. An integration-pattern agent that knows our event bus and messaging patterns. These agents become the research backbone of the workflow.</a:t>
            </a:r>
          </a:p>
          <a:p>
            <a:r>
              <a:rPr lang="en-US" dirty="0"/>
              <a:t>Step 3, Adopt the Workflow: Pick the next complex ticket and run it through the full Research, Plan, Implement cycle as a pilot. The entire team should review the research doc and the plan before implementation begins. This gives us a chance to see the workflow in action and calibrate our approach.</a:t>
            </a:r>
          </a:p>
          <a:p>
            <a:r>
              <a:rPr lang="en-US" dirty="0"/>
              <a:t>I'm happy to help anyone get set up. The training docs in our shared folder cover installation and the .github folder structure in detail. Let's discuss which repos and which ticket to pilot with.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90D9"/>
          </a:solidFill>
          <a:ln/>
        </p:spPr>
        <p:txBody>
          <a:bodyPr/>
          <a:lstStyle/>
          <a:p>
            <a:endParaRPr lang="en-US"/>
          </a:p>
        </p:txBody>
      </p:sp>
      <p:sp>
        <p:nvSpPr>
          <p:cNvPr id="3" name="Shape 1"/>
          <p:cNvSpPr/>
          <p:nvPr/>
        </p:nvSpPr>
        <p:spPr>
          <a:xfrm>
            <a:off x="0" y="5070348"/>
            <a:ext cx="9144000" cy="73152"/>
          </a:xfrm>
          <a:prstGeom prst="rect">
            <a:avLst/>
          </a:prstGeom>
          <a:solidFill>
            <a:srgbClr val="4A90D9"/>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114800" y="548640"/>
            <a:ext cx="914400" cy="914400"/>
          </a:xfrm>
          <a:prstGeom prst="rect">
            <a:avLst/>
          </a:prstGeom>
        </p:spPr>
      </p:pic>
      <p:sp>
        <p:nvSpPr>
          <p:cNvPr id="5" name="Text 2"/>
          <p:cNvSpPr/>
          <p:nvPr/>
        </p:nvSpPr>
        <p:spPr>
          <a:xfrm>
            <a:off x="457200" y="1554480"/>
            <a:ext cx="822960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Context Engineering</a:t>
            </a:r>
            <a:endParaRPr lang="en-US" sz="4400" dirty="0"/>
          </a:p>
        </p:txBody>
      </p:sp>
      <p:sp>
        <p:nvSpPr>
          <p:cNvPr id="6" name="Text 3"/>
          <p:cNvSpPr/>
          <p:nvPr/>
        </p:nvSpPr>
        <p:spPr>
          <a:xfrm>
            <a:off x="457200" y="2423160"/>
            <a:ext cx="8229600" cy="640080"/>
          </a:xfrm>
          <a:prstGeom prst="rect">
            <a:avLst/>
          </a:prstGeom>
          <a:noFill/>
          <a:ln/>
        </p:spPr>
        <p:txBody>
          <a:bodyPr wrap="square" lIns="0" tIns="0" rIns="0" bIns="0" rtlCol="0" anchor="ctr"/>
          <a:lstStyle/>
          <a:p>
            <a:pPr marL="0" indent="0" algn="ctr">
              <a:buNone/>
            </a:pPr>
            <a:r>
              <a:rPr lang="en-US" sz="3200" dirty="0">
                <a:solidFill>
                  <a:srgbClr val="CADCFC"/>
                </a:solidFill>
                <a:latin typeface="Georgia" pitchFamily="34" charset="0"/>
                <a:ea typeface="Georgia" pitchFamily="34" charset="-122"/>
                <a:cs typeface="Georgia" pitchFamily="34" charset="-120"/>
              </a:rPr>
              <a:t>for AI Coding Agents</a:t>
            </a:r>
            <a:endParaRPr lang="en-US" sz="3200" dirty="0"/>
          </a:p>
        </p:txBody>
      </p:sp>
      <p:sp>
        <p:nvSpPr>
          <p:cNvPr id="7" name="Text 4"/>
          <p:cNvSpPr/>
          <p:nvPr/>
        </p:nvSpPr>
        <p:spPr>
          <a:xfrm>
            <a:off x="1371600" y="3291840"/>
            <a:ext cx="6400800" cy="457200"/>
          </a:xfrm>
          <a:prstGeom prst="rect">
            <a:avLst/>
          </a:prstGeom>
          <a:noFill/>
          <a:ln/>
        </p:spPr>
        <p:txBody>
          <a:bodyPr wrap="square" rtlCol="0" anchor="ctr"/>
          <a:lstStyle/>
          <a:p>
            <a:pPr marL="0" indent="0" algn="ctr">
              <a:buNone/>
            </a:pPr>
            <a:r>
              <a:rPr lang="en-US" sz="1600" dirty="0">
                <a:solidFill>
                  <a:srgbClr val="8899BB"/>
                </a:solidFill>
                <a:latin typeface="Calibri" pitchFamily="34" charset="0"/>
                <a:ea typeface="Calibri" pitchFamily="34" charset="-122"/>
                <a:cs typeface="Calibri" pitchFamily="34" charset="-120"/>
              </a:rPr>
              <a:t>Getting AI to Deliver Real Results in Our Microservice Codebase</a:t>
            </a:r>
            <a:endParaRPr lang="en-US" sz="1600" dirty="0"/>
          </a:p>
        </p:txBody>
      </p:sp>
      <p:sp>
        <p:nvSpPr>
          <p:cNvPr id="8" name="Shape 5"/>
          <p:cNvSpPr/>
          <p:nvPr/>
        </p:nvSpPr>
        <p:spPr>
          <a:xfrm>
            <a:off x="3200400" y="3840480"/>
            <a:ext cx="2743200" cy="27432"/>
          </a:xfrm>
          <a:prstGeom prst="rect">
            <a:avLst/>
          </a:prstGeom>
          <a:solidFill>
            <a:srgbClr val="3D4E8A"/>
          </a:solidFill>
          <a:ln/>
        </p:spPr>
        <p:txBody>
          <a:bodyPr/>
          <a:lstStyle/>
          <a:p>
            <a:endParaRPr lang="en-US"/>
          </a:p>
        </p:txBody>
      </p:sp>
      <p:sp>
        <p:nvSpPr>
          <p:cNvPr id="9" name="Text 6"/>
          <p:cNvSpPr/>
          <p:nvPr/>
        </p:nvSpPr>
        <p:spPr>
          <a:xfrm>
            <a:off x="1371600" y="4114800"/>
            <a:ext cx="6400800" cy="365760"/>
          </a:xfrm>
          <a:prstGeom prst="rect">
            <a:avLst/>
          </a:prstGeom>
          <a:noFill/>
          <a:ln/>
        </p:spPr>
        <p:txBody>
          <a:bodyPr wrap="square" rtlCol="0" anchor="ctr"/>
          <a:lstStyle/>
          <a:p>
            <a:pPr marL="0" indent="0" algn="ctr">
              <a:buNone/>
            </a:pPr>
            <a:r>
              <a:rPr lang="en-US" sz="1400" dirty="0">
                <a:solidFill>
                  <a:srgbClr val="8899BB"/>
                </a:solidFill>
                <a:latin typeface="Calibri" pitchFamily="34" charset="0"/>
                <a:ea typeface="Calibri" pitchFamily="34" charset="-122"/>
                <a:cs typeface="Calibri" pitchFamily="34" charset="-120"/>
              </a:rPr>
              <a:t>February 2026</a:t>
            </a:r>
            <a:endParaRPr lang="en-US" sz="1400" dirty="0"/>
          </a:p>
        </p:txBody>
      </p:sp>
      <p:sp>
        <p:nvSpPr>
          <p:cNvPr id="10" name="Text 7"/>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1 / 14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lIns="0" tIns="0" rIns="0" bIns="0" rtlCol="0" anchor="ctr"/>
          <a:lstStyle/>
          <a:p>
            <a:pPr marL="0" indent="0">
              <a:buNone/>
            </a:pPr>
            <a:r>
              <a:rPr lang="en-US" sz="3600" b="1" dirty="0">
                <a:solidFill>
                  <a:srgbClr val="1A1F36"/>
                </a:solidFill>
                <a:latin typeface="Georgia" pitchFamily="34" charset="0"/>
                <a:ea typeface="Georgia" pitchFamily="34" charset="-122"/>
                <a:cs typeface="Georgia" pitchFamily="34" charset="-120"/>
              </a:rPr>
              <a:t>The Problem: AI in Complex Codebases</a:t>
            </a:r>
            <a:endParaRPr lang="en-US" sz="3600" dirty="0"/>
          </a:p>
        </p:txBody>
      </p:sp>
      <p:sp>
        <p:nvSpPr>
          <p:cNvPr id="4" name="Shape 2"/>
          <p:cNvSpPr/>
          <p:nvPr/>
        </p:nvSpPr>
        <p:spPr>
          <a:xfrm>
            <a:off x="457200" y="1188720"/>
            <a:ext cx="3931920" cy="347472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457200" y="1188720"/>
            <a:ext cx="73152" cy="3474720"/>
          </a:xfrm>
          <a:prstGeom prst="rect">
            <a:avLst/>
          </a:prstGeom>
          <a:solidFill>
            <a:srgbClr val="F87171"/>
          </a:solidFill>
          <a:ln/>
        </p:spPr>
        <p:txBody>
          <a:bodyPr/>
          <a:lstStyle/>
          <a:p>
            <a:endParaRPr lang="en-US"/>
          </a:p>
        </p:txBody>
      </p:sp>
      <p:sp>
        <p:nvSpPr>
          <p:cNvPr id="6" name="Text 4"/>
          <p:cNvSpPr/>
          <p:nvPr/>
        </p:nvSpPr>
        <p:spPr>
          <a:xfrm>
            <a:off x="777240" y="1325880"/>
            <a:ext cx="3474720" cy="411480"/>
          </a:xfrm>
          <a:prstGeom prst="rect">
            <a:avLst/>
          </a:prstGeom>
          <a:noFill/>
          <a:ln/>
        </p:spPr>
        <p:txBody>
          <a:bodyPr wrap="square" lIns="0" tIns="0" rIns="0" bIns="0" rtlCol="0" anchor="ctr"/>
          <a:lstStyle/>
          <a:p>
            <a:pPr marL="0" indent="0">
              <a:buNone/>
            </a:pPr>
            <a:r>
              <a:rPr lang="en-US" sz="1800" b="1" dirty="0">
                <a:solidFill>
                  <a:srgbClr val="1A1F36"/>
                </a:solidFill>
                <a:latin typeface="Georgia" pitchFamily="34" charset="0"/>
                <a:ea typeface="Georgia" pitchFamily="34" charset="-122"/>
                <a:cs typeface="Georgia" pitchFamily="34" charset="-120"/>
              </a:rPr>
              <a:t>Stanford Study Findings</a:t>
            </a:r>
            <a:endParaRPr lang="en-US" sz="1800" dirty="0"/>
          </a:p>
        </p:txBody>
      </p:sp>
      <p:sp>
        <p:nvSpPr>
          <p:cNvPr id="7" name="Text 5"/>
          <p:cNvSpPr/>
          <p:nvPr/>
        </p:nvSpPr>
        <p:spPr>
          <a:xfrm>
            <a:off x="777240" y="1828800"/>
            <a:ext cx="3383280" cy="640080"/>
          </a:xfrm>
          <a:prstGeom prst="rect">
            <a:avLst/>
          </a:prstGeom>
          <a:noFill/>
          <a:ln/>
        </p:spPr>
        <p:txBody>
          <a:bodyPr wrap="square" rtlCol="0" anchor="ctr"/>
          <a:lstStyle/>
          <a:p>
            <a:pPr marL="0" indent="0">
              <a:spcAft>
                <a:spcPts val="600"/>
              </a:spcAft>
              <a:buNone/>
            </a:pPr>
            <a:r>
              <a:rPr lang="en-US" sz="1300" dirty="0">
                <a:solidFill>
                  <a:srgbClr val="1A1F36"/>
                </a:solidFill>
                <a:latin typeface="Calibri" pitchFamily="34" charset="0"/>
                <a:ea typeface="Calibri" pitchFamily="34" charset="-122"/>
                <a:cs typeface="Calibri" pitchFamily="34" charset="-120"/>
              </a:rPr>
              <a:t xml:space="preserve">AI-generated code often results in </a:t>
            </a:r>
            <a:r>
              <a:rPr lang="en-US" sz="1300" b="1" dirty="0">
                <a:solidFill>
                  <a:srgbClr val="1A1F36"/>
                </a:solidFill>
                <a:latin typeface="Calibri" pitchFamily="34" charset="0"/>
                <a:ea typeface="Calibri" pitchFamily="34" charset="-122"/>
                <a:cs typeface="Calibri" pitchFamily="34" charset="-120"/>
              </a:rPr>
              <a:t>rework</a:t>
            </a:r>
            <a:r>
              <a:rPr lang="en-US" sz="1300" dirty="0">
                <a:solidFill>
                  <a:srgbClr val="1A1F36"/>
                </a:solidFill>
                <a:latin typeface="Calibri" pitchFamily="34" charset="0"/>
                <a:ea typeface="Calibri" pitchFamily="34" charset="-122"/>
                <a:cs typeface="Calibri" pitchFamily="34" charset="-120"/>
              </a:rPr>
              <a:t xml:space="preserve"> — diminishing perceived productivity gains</a:t>
            </a:r>
            <a:endParaRPr lang="en-US" sz="1300" dirty="0"/>
          </a:p>
        </p:txBody>
      </p:sp>
      <p:sp>
        <p:nvSpPr>
          <p:cNvPr id="8" name="Text 6"/>
          <p:cNvSpPr/>
          <p:nvPr/>
        </p:nvSpPr>
        <p:spPr>
          <a:xfrm>
            <a:off x="777240" y="2606040"/>
            <a:ext cx="3383280" cy="731520"/>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 xml:space="preserve">AI tools are </a:t>
            </a:r>
            <a:r>
              <a:rPr lang="en-US" sz="1300" b="1" dirty="0">
                <a:solidFill>
                  <a:srgbClr val="1A1F36"/>
                </a:solidFill>
                <a:latin typeface="Calibri" pitchFamily="34" charset="0"/>
                <a:ea typeface="Calibri" pitchFamily="34" charset="-122"/>
                <a:cs typeface="Calibri" pitchFamily="34" charset="-120"/>
              </a:rPr>
              <a:t>counter-productive</a:t>
            </a:r>
            <a:r>
              <a:rPr lang="en-US" sz="1300" dirty="0">
                <a:solidFill>
                  <a:srgbClr val="1A1F36"/>
                </a:solidFill>
                <a:latin typeface="Calibri" pitchFamily="34" charset="0"/>
                <a:ea typeface="Calibri" pitchFamily="34" charset="-122"/>
                <a:cs typeface="Calibri" pitchFamily="34" charset="-120"/>
              </a:rPr>
              <a:t xml:space="preserve"> in large established codebases and complex tasks</a:t>
            </a:r>
            <a:endParaRPr lang="en-US" sz="1300" dirty="0"/>
          </a:p>
        </p:txBody>
      </p:sp>
      <p:sp>
        <p:nvSpPr>
          <p:cNvPr id="9" name="Text 7"/>
          <p:cNvSpPr/>
          <p:nvPr/>
        </p:nvSpPr>
        <p:spPr>
          <a:xfrm>
            <a:off x="777240" y="3474720"/>
            <a:ext cx="3383280" cy="457200"/>
          </a:xfrm>
          <a:prstGeom prst="rect">
            <a:avLst/>
          </a:prstGeom>
          <a:noFill/>
          <a:ln/>
        </p:spPr>
        <p:txBody>
          <a:bodyPr wrap="square" rtlCol="0" anchor="ctr"/>
          <a:lstStyle/>
          <a:p>
            <a:pPr marL="0" indent="0">
              <a:buNone/>
            </a:pPr>
            <a:r>
              <a:rPr lang="en-US" sz="1400" i="1" dirty="0">
                <a:solidFill>
                  <a:srgbClr val="4A90D9"/>
                </a:solidFill>
                <a:latin typeface="Calibri" pitchFamily="34" charset="0"/>
                <a:ea typeface="Calibri" pitchFamily="34" charset="-122"/>
                <a:cs typeface="Calibri" pitchFamily="34" charset="-120"/>
              </a:rPr>
              <a:t>Great for greenfield. Struggles with brownfield.</a:t>
            </a:r>
            <a:endParaRPr lang="en-US" sz="1400" dirty="0"/>
          </a:p>
        </p:txBody>
      </p:sp>
      <p:sp>
        <p:nvSpPr>
          <p:cNvPr id="10" name="Shape 8"/>
          <p:cNvSpPr/>
          <p:nvPr/>
        </p:nvSpPr>
        <p:spPr>
          <a:xfrm>
            <a:off x="4754880" y="1188720"/>
            <a:ext cx="3931920" cy="347472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754880" y="1188720"/>
            <a:ext cx="73152" cy="3474720"/>
          </a:xfrm>
          <a:prstGeom prst="rect">
            <a:avLst/>
          </a:prstGeom>
          <a:solidFill>
            <a:srgbClr val="FBBF24"/>
          </a:solidFill>
          <a:ln/>
        </p:spPr>
        <p:txBody>
          <a:bodyPr/>
          <a:lstStyle/>
          <a:p>
            <a:endParaRPr lang="en-US"/>
          </a:p>
        </p:txBody>
      </p:sp>
      <p:sp>
        <p:nvSpPr>
          <p:cNvPr id="12" name="Text 10"/>
          <p:cNvSpPr/>
          <p:nvPr/>
        </p:nvSpPr>
        <p:spPr>
          <a:xfrm>
            <a:off x="5074920" y="1325880"/>
            <a:ext cx="3474720" cy="411480"/>
          </a:xfrm>
          <a:prstGeom prst="rect">
            <a:avLst/>
          </a:prstGeom>
          <a:noFill/>
          <a:ln/>
        </p:spPr>
        <p:txBody>
          <a:bodyPr wrap="square" lIns="0" tIns="0" rIns="0" bIns="0" rtlCol="0" anchor="ctr"/>
          <a:lstStyle/>
          <a:p>
            <a:pPr marL="0" indent="0">
              <a:buNone/>
            </a:pPr>
            <a:r>
              <a:rPr lang="en-US" sz="1800" b="1" dirty="0">
                <a:solidFill>
                  <a:srgbClr val="1A1F36"/>
                </a:solidFill>
                <a:latin typeface="Georgia" pitchFamily="34" charset="0"/>
                <a:ea typeface="Georgia" pitchFamily="34" charset="-122"/>
                <a:cs typeface="Georgia" pitchFamily="34" charset="-120"/>
              </a:rPr>
              <a:t>What Teams Say</a:t>
            </a:r>
            <a:endParaRPr lang="en-US" sz="1800" dirty="0"/>
          </a:p>
        </p:txBody>
      </p:sp>
      <p:pic>
        <p:nvPicPr>
          <p:cNvPr id="13" name="Image 0" descr="preencoded.png"/>
          <p:cNvPicPr>
            <a:picLocks noChangeAspect="1"/>
          </p:cNvPicPr>
          <p:nvPr/>
        </p:nvPicPr>
        <p:blipFill>
          <a:blip r:embed="rId3"/>
          <a:stretch>
            <a:fillRect/>
          </a:stretch>
        </p:blipFill>
        <p:spPr>
          <a:xfrm>
            <a:off x="5074920" y="1874520"/>
            <a:ext cx="274320" cy="274320"/>
          </a:xfrm>
          <a:prstGeom prst="rect">
            <a:avLst/>
          </a:prstGeom>
        </p:spPr>
      </p:pic>
      <p:sp>
        <p:nvSpPr>
          <p:cNvPr id="14" name="Text 11"/>
          <p:cNvSpPr/>
          <p:nvPr/>
        </p:nvSpPr>
        <p:spPr>
          <a:xfrm>
            <a:off x="5440680" y="1874520"/>
            <a:ext cx="3017520" cy="365760"/>
          </a:xfrm>
          <a:prstGeom prst="rect">
            <a:avLst/>
          </a:prstGeom>
          <a:noFill/>
          <a:ln/>
        </p:spPr>
        <p:txBody>
          <a:bodyPr wrap="square" rtlCol="0" anchor="ctr"/>
          <a:lstStyle/>
          <a:p>
            <a:pPr marL="0" indent="0">
              <a:buNone/>
            </a:pPr>
            <a:r>
              <a:rPr lang="en-US" sz="1400" dirty="0">
                <a:solidFill>
                  <a:srgbClr val="1A1F36"/>
                </a:solidFill>
                <a:latin typeface="Calibri" pitchFamily="34" charset="0"/>
                <a:ea typeface="Calibri" pitchFamily="34" charset="-122"/>
                <a:cs typeface="Calibri" pitchFamily="34" charset="-120"/>
              </a:rPr>
              <a:t>"Too much slop."</a:t>
            </a:r>
            <a:endParaRPr lang="en-US" sz="1400" dirty="0"/>
          </a:p>
        </p:txBody>
      </p:sp>
      <p:pic>
        <p:nvPicPr>
          <p:cNvPr id="15" name="Image 1" descr="preencoded.png"/>
          <p:cNvPicPr>
            <a:picLocks noChangeAspect="1"/>
          </p:cNvPicPr>
          <p:nvPr/>
        </p:nvPicPr>
        <p:blipFill>
          <a:blip r:embed="rId3"/>
          <a:stretch>
            <a:fillRect/>
          </a:stretch>
        </p:blipFill>
        <p:spPr>
          <a:xfrm>
            <a:off x="5074920" y="2468880"/>
            <a:ext cx="274320" cy="274320"/>
          </a:xfrm>
          <a:prstGeom prst="rect">
            <a:avLst/>
          </a:prstGeom>
        </p:spPr>
      </p:pic>
      <p:sp>
        <p:nvSpPr>
          <p:cNvPr id="16" name="Text 12"/>
          <p:cNvSpPr/>
          <p:nvPr/>
        </p:nvSpPr>
        <p:spPr>
          <a:xfrm>
            <a:off x="5440680" y="2468880"/>
            <a:ext cx="3017520" cy="365760"/>
          </a:xfrm>
          <a:prstGeom prst="rect">
            <a:avLst/>
          </a:prstGeom>
          <a:noFill/>
          <a:ln/>
        </p:spPr>
        <p:txBody>
          <a:bodyPr wrap="square" rtlCol="0" anchor="ctr"/>
          <a:lstStyle/>
          <a:p>
            <a:pPr marL="0" indent="0">
              <a:buNone/>
            </a:pPr>
            <a:r>
              <a:rPr lang="en-US" sz="1400" dirty="0">
                <a:solidFill>
                  <a:srgbClr val="1A1F36"/>
                </a:solidFill>
                <a:latin typeface="Calibri" pitchFamily="34" charset="0"/>
                <a:ea typeface="Calibri" pitchFamily="34" charset="-122"/>
                <a:cs typeface="Calibri" pitchFamily="34" charset="-120"/>
              </a:rPr>
              <a:t>"Tech debt factory."</a:t>
            </a:r>
            <a:endParaRPr lang="en-US" sz="1400" dirty="0"/>
          </a:p>
        </p:txBody>
      </p:sp>
      <p:pic>
        <p:nvPicPr>
          <p:cNvPr id="17" name="Image 2" descr="preencoded.png"/>
          <p:cNvPicPr>
            <a:picLocks noChangeAspect="1"/>
          </p:cNvPicPr>
          <p:nvPr/>
        </p:nvPicPr>
        <p:blipFill>
          <a:blip r:embed="rId3"/>
          <a:stretch>
            <a:fillRect/>
          </a:stretch>
        </p:blipFill>
        <p:spPr>
          <a:xfrm>
            <a:off x="5074920" y="3063240"/>
            <a:ext cx="274320" cy="274320"/>
          </a:xfrm>
          <a:prstGeom prst="rect">
            <a:avLst/>
          </a:prstGeom>
        </p:spPr>
      </p:pic>
      <p:sp>
        <p:nvSpPr>
          <p:cNvPr id="18" name="Text 13"/>
          <p:cNvSpPr/>
          <p:nvPr/>
        </p:nvSpPr>
        <p:spPr>
          <a:xfrm>
            <a:off x="5440680" y="3063240"/>
            <a:ext cx="3017520" cy="365760"/>
          </a:xfrm>
          <a:prstGeom prst="rect">
            <a:avLst/>
          </a:prstGeom>
          <a:noFill/>
          <a:ln/>
        </p:spPr>
        <p:txBody>
          <a:bodyPr wrap="square" rtlCol="0" anchor="ctr"/>
          <a:lstStyle/>
          <a:p>
            <a:pPr marL="0" indent="0">
              <a:buNone/>
            </a:pPr>
            <a:r>
              <a:rPr lang="en-US" sz="1400" dirty="0">
                <a:solidFill>
                  <a:srgbClr val="1A1F36"/>
                </a:solidFill>
                <a:latin typeface="Calibri" pitchFamily="34" charset="0"/>
                <a:ea typeface="Calibri" pitchFamily="34" charset="-122"/>
                <a:cs typeface="Calibri" pitchFamily="34" charset="-120"/>
              </a:rPr>
              <a:t>"Doesn't work in big repos."</a:t>
            </a:r>
            <a:endParaRPr lang="en-US" sz="1400" dirty="0"/>
          </a:p>
        </p:txBody>
      </p:sp>
      <p:pic>
        <p:nvPicPr>
          <p:cNvPr id="19" name="Image 3" descr="preencoded.png"/>
          <p:cNvPicPr>
            <a:picLocks noChangeAspect="1"/>
          </p:cNvPicPr>
          <p:nvPr/>
        </p:nvPicPr>
        <p:blipFill>
          <a:blip r:embed="rId3"/>
          <a:stretch>
            <a:fillRect/>
          </a:stretch>
        </p:blipFill>
        <p:spPr>
          <a:xfrm>
            <a:off x="5074920" y="3657600"/>
            <a:ext cx="274320" cy="274320"/>
          </a:xfrm>
          <a:prstGeom prst="rect">
            <a:avLst/>
          </a:prstGeom>
        </p:spPr>
      </p:pic>
      <p:sp>
        <p:nvSpPr>
          <p:cNvPr id="20" name="Text 14"/>
          <p:cNvSpPr/>
          <p:nvPr/>
        </p:nvSpPr>
        <p:spPr>
          <a:xfrm>
            <a:off x="5440680" y="3657600"/>
            <a:ext cx="3017520" cy="365760"/>
          </a:xfrm>
          <a:prstGeom prst="rect">
            <a:avLst/>
          </a:prstGeom>
          <a:noFill/>
          <a:ln/>
        </p:spPr>
        <p:txBody>
          <a:bodyPr wrap="square" rtlCol="0" anchor="ctr"/>
          <a:lstStyle/>
          <a:p>
            <a:pPr marL="0" indent="0">
              <a:buNone/>
            </a:pPr>
            <a:r>
              <a:rPr lang="en-US" sz="1400" dirty="0">
                <a:solidFill>
                  <a:srgbClr val="1A1F36"/>
                </a:solidFill>
                <a:latin typeface="Calibri" pitchFamily="34" charset="0"/>
                <a:ea typeface="Calibri" pitchFamily="34" charset="-122"/>
                <a:cs typeface="Calibri" pitchFamily="34" charset="-120"/>
              </a:rPr>
              <a:t>"Doesn't work for complex systems."</a:t>
            </a:r>
            <a:endParaRPr lang="en-US" sz="1400" dirty="0"/>
          </a:p>
        </p:txBody>
      </p:sp>
      <p:sp>
        <p:nvSpPr>
          <p:cNvPr id="21" name="Text 15"/>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The Root Cause</a:t>
            </a:r>
            <a:endParaRPr lang="en-US" sz="3600" dirty="0"/>
          </a:p>
        </p:txBody>
      </p:sp>
      <p:sp>
        <p:nvSpPr>
          <p:cNvPr id="3" name="Shape 1"/>
          <p:cNvSpPr/>
          <p:nvPr/>
        </p:nvSpPr>
        <p:spPr>
          <a:xfrm>
            <a:off x="731520" y="1188720"/>
            <a:ext cx="7680960" cy="146304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1005840" y="1417320"/>
            <a:ext cx="640080" cy="640080"/>
          </a:xfrm>
          <a:prstGeom prst="rect">
            <a:avLst/>
          </a:prstGeom>
        </p:spPr>
      </p:pic>
      <p:sp>
        <p:nvSpPr>
          <p:cNvPr id="5" name="Text 2"/>
          <p:cNvSpPr/>
          <p:nvPr/>
        </p:nvSpPr>
        <p:spPr>
          <a:xfrm>
            <a:off x="1828800" y="1280160"/>
            <a:ext cx="6309360" cy="1280160"/>
          </a:xfrm>
          <a:prstGeom prst="rect">
            <a:avLst/>
          </a:prstGeom>
          <a:noFill/>
          <a:ln/>
        </p:spPr>
        <p:txBody>
          <a:bodyPr wrap="square" rtlCol="0" anchor="ctr"/>
          <a:lstStyle/>
          <a:p>
            <a:pPr marL="0" indent="0">
              <a:buNone/>
            </a:pPr>
            <a:r>
              <a:rPr lang="en-US" sz="1800" dirty="0">
                <a:solidFill>
                  <a:srgbClr val="FFFFFF"/>
                </a:solidFill>
                <a:latin typeface="Georgia" pitchFamily="34" charset="0"/>
                <a:ea typeface="Georgia" pitchFamily="34" charset="-122"/>
                <a:cs typeface="Georgia" pitchFamily="34" charset="-120"/>
              </a:rPr>
              <a:t>LLMs are stateless functions. The context window is the ONLY lever you have to affect output quality.</a:t>
            </a:r>
            <a:endParaRPr lang="en-US" sz="1800" dirty="0"/>
          </a:p>
        </p:txBody>
      </p:sp>
      <p:sp>
        <p:nvSpPr>
          <p:cNvPr id="6" name="Shape 3"/>
          <p:cNvSpPr/>
          <p:nvPr/>
        </p:nvSpPr>
        <p:spPr>
          <a:xfrm>
            <a:off x="731520" y="3017520"/>
            <a:ext cx="1828800" cy="164592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pic>
        <p:nvPicPr>
          <p:cNvPr id="7" name="Image 1" descr="preencoded.png"/>
          <p:cNvPicPr>
            <a:picLocks noChangeAspect="1"/>
          </p:cNvPicPr>
          <p:nvPr/>
        </p:nvPicPr>
        <p:blipFill>
          <a:blip r:embed="rId4"/>
          <a:stretch>
            <a:fillRect/>
          </a:stretch>
        </p:blipFill>
        <p:spPr>
          <a:xfrm>
            <a:off x="1417320" y="3154680"/>
            <a:ext cx="457200" cy="457200"/>
          </a:xfrm>
          <a:prstGeom prst="rect">
            <a:avLst/>
          </a:prstGeom>
        </p:spPr>
      </p:pic>
      <p:sp>
        <p:nvSpPr>
          <p:cNvPr id="8" name="Text 4"/>
          <p:cNvSpPr/>
          <p:nvPr/>
        </p:nvSpPr>
        <p:spPr>
          <a:xfrm>
            <a:off x="731520" y="3657600"/>
            <a:ext cx="1828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Correctness</a:t>
            </a:r>
            <a:endParaRPr lang="en-US" sz="1600" dirty="0"/>
          </a:p>
        </p:txBody>
      </p:sp>
      <p:sp>
        <p:nvSpPr>
          <p:cNvPr id="9" name="Text 5"/>
          <p:cNvSpPr/>
          <p:nvPr/>
        </p:nvSpPr>
        <p:spPr>
          <a:xfrm>
            <a:off x="731520" y="4023360"/>
            <a:ext cx="1828800" cy="365760"/>
          </a:xfrm>
          <a:prstGeom prst="rect">
            <a:avLst/>
          </a:prstGeom>
          <a:noFill/>
          <a:ln/>
        </p:spPr>
        <p:txBody>
          <a:bodyPr wrap="square" rtlCol="0" anchor="ctr"/>
          <a:lstStyle/>
          <a:p>
            <a:pPr marL="0" indent="0" algn="ctr">
              <a:buNone/>
            </a:pPr>
            <a:r>
              <a:rPr lang="en-US" sz="1200" dirty="0">
                <a:solidFill>
                  <a:srgbClr val="8899BB"/>
                </a:solidFill>
                <a:latin typeface="Calibri" pitchFamily="34" charset="0"/>
                <a:ea typeface="Calibri" pitchFamily="34" charset="-122"/>
                <a:cs typeface="Calibri" pitchFamily="34" charset="-120"/>
              </a:rPr>
              <a:t>No wrong information</a:t>
            </a:r>
            <a:endParaRPr lang="en-US" sz="1200" dirty="0"/>
          </a:p>
        </p:txBody>
      </p:sp>
      <p:sp>
        <p:nvSpPr>
          <p:cNvPr id="10" name="Shape 6"/>
          <p:cNvSpPr/>
          <p:nvPr/>
        </p:nvSpPr>
        <p:spPr>
          <a:xfrm>
            <a:off x="2743200" y="3017520"/>
            <a:ext cx="1828800" cy="164592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pic>
        <p:nvPicPr>
          <p:cNvPr id="11" name="Image 2" descr="preencoded.png"/>
          <p:cNvPicPr>
            <a:picLocks noChangeAspect="1"/>
          </p:cNvPicPr>
          <p:nvPr/>
        </p:nvPicPr>
        <p:blipFill>
          <a:blip r:embed="rId5"/>
          <a:stretch>
            <a:fillRect/>
          </a:stretch>
        </p:blipFill>
        <p:spPr>
          <a:xfrm>
            <a:off x="3429000" y="3154680"/>
            <a:ext cx="457200" cy="457200"/>
          </a:xfrm>
          <a:prstGeom prst="rect">
            <a:avLst/>
          </a:prstGeom>
        </p:spPr>
      </p:pic>
      <p:sp>
        <p:nvSpPr>
          <p:cNvPr id="12" name="Text 7"/>
          <p:cNvSpPr/>
          <p:nvPr/>
        </p:nvSpPr>
        <p:spPr>
          <a:xfrm>
            <a:off x="2743200" y="3657600"/>
            <a:ext cx="1828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Completeness</a:t>
            </a:r>
            <a:endParaRPr lang="en-US" sz="1600" dirty="0"/>
          </a:p>
        </p:txBody>
      </p:sp>
      <p:sp>
        <p:nvSpPr>
          <p:cNvPr id="13" name="Text 8"/>
          <p:cNvSpPr/>
          <p:nvPr/>
        </p:nvSpPr>
        <p:spPr>
          <a:xfrm>
            <a:off x="2743200" y="4023360"/>
            <a:ext cx="1828800" cy="365760"/>
          </a:xfrm>
          <a:prstGeom prst="rect">
            <a:avLst/>
          </a:prstGeom>
          <a:noFill/>
          <a:ln/>
        </p:spPr>
        <p:txBody>
          <a:bodyPr wrap="square" rtlCol="0" anchor="ctr"/>
          <a:lstStyle/>
          <a:p>
            <a:pPr marL="0" indent="0" algn="ctr">
              <a:buNone/>
            </a:pPr>
            <a:r>
              <a:rPr lang="en-US" sz="1200" dirty="0">
                <a:solidFill>
                  <a:srgbClr val="8899BB"/>
                </a:solidFill>
                <a:latin typeface="Calibri" pitchFamily="34" charset="0"/>
                <a:ea typeface="Calibri" pitchFamily="34" charset="-122"/>
                <a:cs typeface="Calibri" pitchFamily="34" charset="-120"/>
              </a:rPr>
              <a:t>No missing context</a:t>
            </a:r>
            <a:endParaRPr lang="en-US" sz="1200" dirty="0"/>
          </a:p>
        </p:txBody>
      </p:sp>
      <p:sp>
        <p:nvSpPr>
          <p:cNvPr id="14" name="Shape 9"/>
          <p:cNvSpPr/>
          <p:nvPr/>
        </p:nvSpPr>
        <p:spPr>
          <a:xfrm>
            <a:off x="4754880" y="3017520"/>
            <a:ext cx="1828800" cy="164592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pic>
        <p:nvPicPr>
          <p:cNvPr id="15" name="Image 3" descr="preencoded.png"/>
          <p:cNvPicPr>
            <a:picLocks noChangeAspect="1"/>
          </p:cNvPicPr>
          <p:nvPr/>
        </p:nvPicPr>
        <p:blipFill>
          <a:blip r:embed="rId6"/>
          <a:stretch>
            <a:fillRect/>
          </a:stretch>
        </p:blipFill>
        <p:spPr>
          <a:xfrm>
            <a:off x="5440680" y="3154680"/>
            <a:ext cx="457200" cy="457200"/>
          </a:xfrm>
          <a:prstGeom prst="rect">
            <a:avLst/>
          </a:prstGeom>
        </p:spPr>
      </p:pic>
      <p:sp>
        <p:nvSpPr>
          <p:cNvPr id="16" name="Text 10"/>
          <p:cNvSpPr/>
          <p:nvPr/>
        </p:nvSpPr>
        <p:spPr>
          <a:xfrm>
            <a:off x="4754880" y="3657600"/>
            <a:ext cx="1828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Size</a:t>
            </a:r>
            <a:endParaRPr lang="en-US" sz="1600" dirty="0"/>
          </a:p>
        </p:txBody>
      </p:sp>
      <p:sp>
        <p:nvSpPr>
          <p:cNvPr id="17" name="Text 11"/>
          <p:cNvSpPr/>
          <p:nvPr/>
        </p:nvSpPr>
        <p:spPr>
          <a:xfrm>
            <a:off x="4754880" y="4023360"/>
            <a:ext cx="1828800" cy="365760"/>
          </a:xfrm>
          <a:prstGeom prst="rect">
            <a:avLst/>
          </a:prstGeom>
          <a:noFill/>
          <a:ln/>
        </p:spPr>
        <p:txBody>
          <a:bodyPr wrap="square" rtlCol="0" anchor="ctr"/>
          <a:lstStyle/>
          <a:p>
            <a:pPr marL="0" indent="0" algn="ctr">
              <a:buNone/>
            </a:pPr>
            <a:r>
              <a:rPr lang="en-US" sz="1200" dirty="0">
                <a:solidFill>
                  <a:srgbClr val="8899BB"/>
                </a:solidFill>
                <a:latin typeface="Calibri" pitchFamily="34" charset="0"/>
                <a:ea typeface="Calibri" pitchFamily="34" charset="-122"/>
                <a:cs typeface="Calibri" pitchFamily="34" charset="-120"/>
              </a:rPr>
              <a:t>Minimal noise</a:t>
            </a:r>
            <a:endParaRPr lang="en-US" sz="1200" dirty="0"/>
          </a:p>
        </p:txBody>
      </p:sp>
      <p:sp>
        <p:nvSpPr>
          <p:cNvPr id="18" name="Shape 12"/>
          <p:cNvSpPr/>
          <p:nvPr/>
        </p:nvSpPr>
        <p:spPr>
          <a:xfrm>
            <a:off x="6766560" y="3017520"/>
            <a:ext cx="1828800" cy="164592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pic>
        <p:nvPicPr>
          <p:cNvPr id="19" name="Image 4" descr="preencoded.png"/>
          <p:cNvPicPr>
            <a:picLocks noChangeAspect="1"/>
          </p:cNvPicPr>
          <p:nvPr/>
        </p:nvPicPr>
        <p:blipFill>
          <a:blip r:embed="rId7"/>
          <a:stretch>
            <a:fillRect/>
          </a:stretch>
        </p:blipFill>
        <p:spPr>
          <a:xfrm>
            <a:off x="7452360" y="3154680"/>
            <a:ext cx="457200" cy="457200"/>
          </a:xfrm>
          <a:prstGeom prst="rect">
            <a:avLst/>
          </a:prstGeom>
        </p:spPr>
      </p:pic>
      <p:sp>
        <p:nvSpPr>
          <p:cNvPr id="20" name="Text 13"/>
          <p:cNvSpPr/>
          <p:nvPr/>
        </p:nvSpPr>
        <p:spPr>
          <a:xfrm>
            <a:off x="6766560" y="3657600"/>
            <a:ext cx="1828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Trajectory</a:t>
            </a:r>
            <a:endParaRPr lang="en-US" sz="1600" dirty="0"/>
          </a:p>
        </p:txBody>
      </p:sp>
      <p:sp>
        <p:nvSpPr>
          <p:cNvPr id="21" name="Text 14"/>
          <p:cNvSpPr/>
          <p:nvPr/>
        </p:nvSpPr>
        <p:spPr>
          <a:xfrm>
            <a:off x="6766560" y="4023360"/>
            <a:ext cx="1828800" cy="365760"/>
          </a:xfrm>
          <a:prstGeom prst="rect">
            <a:avLst/>
          </a:prstGeom>
          <a:noFill/>
          <a:ln/>
        </p:spPr>
        <p:txBody>
          <a:bodyPr wrap="square" rtlCol="0" anchor="ctr"/>
          <a:lstStyle/>
          <a:p>
            <a:pPr marL="0" indent="0" algn="ctr">
              <a:buNone/>
            </a:pPr>
            <a:r>
              <a:rPr lang="en-US" sz="1200" dirty="0">
                <a:solidFill>
                  <a:srgbClr val="8899BB"/>
                </a:solidFill>
                <a:latin typeface="Calibri" pitchFamily="34" charset="0"/>
                <a:ea typeface="Calibri" pitchFamily="34" charset="-122"/>
                <a:cs typeface="Calibri" pitchFamily="34" charset="-120"/>
              </a:rPr>
              <a:t>Stay on track</a:t>
            </a:r>
            <a:endParaRPr lang="en-US" sz="1200" dirty="0"/>
          </a:p>
        </p:txBody>
      </p:sp>
      <p:sp>
        <p:nvSpPr>
          <p:cNvPr id="22" name="Text 15"/>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lIns="0" tIns="0" rIns="0" bIns="0" rtlCol="0" anchor="ctr"/>
          <a:lstStyle/>
          <a:p>
            <a:pPr marL="0" indent="0">
              <a:buNone/>
            </a:pPr>
            <a:r>
              <a:rPr lang="en-US" sz="3600" b="1" dirty="0">
                <a:solidFill>
                  <a:srgbClr val="1A1F36"/>
                </a:solidFill>
                <a:latin typeface="Georgia" pitchFamily="34" charset="0"/>
                <a:ea typeface="Georgia" pitchFamily="34" charset="-122"/>
                <a:cs typeface="Georgia" pitchFamily="34" charset="-120"/>
              </a:rPr>
              <a:t>The Naive Approach</a:t>
            </a:r>
            <a:endParaRPr lang="en-US" sz="3600" dirty="0"/>
          </a:p>
        </p:txBody>
      </p:sp>
      <p:sp>
        <p:nvSpPr>
          <p:cNvPr id="4" name="Text 2"/>
          <p:cNvSpPr/>
          <p:nvPr/>
        </p:nvSpPr>
        <p:spPr>
          <a:xfrm>
            <a:off x="548640" y="960120"/>
            <a:ext cx="8046720" cy="365760"/>
          </a:xfrm>
          <a:prstGeom prst="rect">
            <a:avLst/>
          </a:prstGeom>
          <a:noFill/>
          <a:ln/>
        </p:spPr>
        <p:txBody>
          <a:bodyPr wrap="square" rtlCol="0" anchor="ctr"/>
          <a:lstStyle/>
          <a:p>
            <a:pPr marL="0" indent="0">
              <a:buNone/>
            </a:pPr>
            <a:r>
              <a:rPr lang="en-US" sz="1400" dirty="0">
                <a:solidFill>
                  <a:srgbClr val="8899BB"/>
                </a:solidFill>
                <a:latin typeface="Calibri" pitchFamily="34" charset="0"/>
                <a:ea typeface="Calibri" pitchFamily="34" charset="-122"/>
                <a:cs typeface="Calibri" pitchFamily="34" charset="-120"/>
              </a:rPr>
              <a:t>How most of us start with AI coding agents</a:t>
            </a:r>
            <a:endParaRPr lang="en-US" sz="1400" dirty="0"/>
          </a:p>
        </p:txBody>
      </p:sp>
      <p:sp>
        <p:nvSpPr>
          <p:cNvPr id="5" name="Shape 3"/>
          <p:cNvSpPr/>
          <p:nvPr/>
        </p:nvSpPr>
        <p:spPr>
          <a:xfrm>
            <a:off x="457200" y="1463040"/>
            <a:ext cx="3931920" cy="320040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457200" y="1463040"/>
            <a:ext cx="73152" cy="3200400"/>
          </a:xfrm>
          <a:prstGeom prst="rect">
            <a:avLst/>
          </a:prstGeom>
          <a:solidFill>
            <a:srgbClr val="F8717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77240" y="1600200"/>
            <a:ext cx="365760" cy="365760"/>
          </a:xfrm>
          <a:prstGeom prst="rect">
            <a:avLst/>
          </a:prstGeom>
        </p:spPr>
      </p:pic>
      <p:sp>
        <p:nvSpPr>
          <p:cNvPr id="8" name="Text 5"/>
          <p:cNvSpPr/>
          <p:nvPr/>
        </p:nvSpPr>
        <p:spPr>
          <a:xfrm>
            <a:off x="1234440" y="1600200"/>
            <a:ext cx="2926080" cy="365760"/>
          </a:xfrm>
          <a:prstGeom prst="rect">
            <a:avLst/>
          </a:prstGeom>
          <a:noFill/>
          <a:ln/>
        </p:spPr>
        <p:txBody>
          <a:bodyPr wrap="square" lIns="0" tIns="0" rIns="0" bIns="0" rtlCol="0" anchor="ctr"/>
          <a:lstStyle/>
          <a:p>
            <a:pPr marL="0" indent="0">
              <a:buNone/>
            </a:pPr>
            <a:r>
              <a:rPr lang="en-US" sz="1700" b="1" dirty="0">
                <a:solidFill>
                  <a:srgbClr val="1A1F36"/>
                </a:solidFill>
                <a:latin typeface="Georgia" pitchFamily="34" charset="0"/>
                <a:ea typeface="Georgia" pitchFamily="34" charset="-122"/>
                <a:cs typeface="Georgia" pitchFamily="34" charset="-120"/>
              </a:rPr>
              <a:t>Chat Until It Breaks</a:t>
            </a:r>
            <a:endParaRPr lang="en-US" sz="1700" dirty="0"/>
          </a:p>
        </p:txBody>
      </p:sp>
      <p:sp>
        <p:nvSpPr>
          <p:cNvPr id="9" name="Text 6"/>
          <p:cNvSpPr/>
          <p:nvPr/>
        </p:nvSpPr>
        <p:spPr>
          <a:xfrm>
            <a:off x="777240" y="2103120"/>
            <a:ext cx="3383280" cy="2286000"/>
          </a:xfrm>
          <a:prstGeom prst="rect">
            <a:avLst/>
          </a:prstGeom>
          <a:noFill/>
          <a:ln/>
        </p:spPr>
        <p:txBody>
          <a:bodyPr wrap="square" rtlCol="0" anchor="ctr"/>
          <a:lstStyle/>
          <a:p>
            <a:pPr marL="0" indent="0">
              <a:spcAft>
                <a:spcPts val="400"/>
              </a:spcAft>
              <a:buNone/>
            </a:pPr>
            <a:r>
              <a:rPr lang="en-US" sz="1300" dirty="0">
                <a:solidFill>
                  <a:srgbClr val="1A1F36"/>
                </a:solidFill>
                <a:latin typeface="Calibri" pitchFamily="34" charset="0"/>
                <a:ea typeface="Calibri" pitchFamily="34" charset="-122"/>
                <a:cs typeface="Calibri" pitchFamily="34" charset="-120"/>
              </a:rPr>
              <a:t>Talk back and forth until you:</a:t>
            </a:r>
            <a:endParaRPr lang="en-US" sz="1300" dirty="0"/>
          </a:p>
          <a:p>
            <a:pPr marL="342900" indent="-342900">
              <a:spcAft>
                <a:spcPts val="400"/>
              </a:spcAft>
              <a:buSzPct val="100000"/>
              <a:buChar char="•"/>
            </a:pPr>
            <a:r>
              <a:rPr lang="en-US" sz="1300" dirty="0">
                <a:solidFill>
                  <a:srgbClr val="1A1F36"/>
                </a:solidFill>
                <a:latin typeface="Calibri" pitchFamily="34" charset="0"/>
                <a:ea typeface="Calibri" pitchFamily="34" charset="-122"/>
                <a:cs typeface="Calibri" pitchFamily="34" charset="-120"/>
              </a:rPr>
              <a:t>Run out of context</a:t>
            </a:r>
            <a:endParaRPr lang="en-US" sz="1300" dirty="0"/>
          </a:p>
          <a:p>
            <a:pPr marL="342900" indent="-342900">
              <a:spcAft>
                <a:spcPts val="400"/>
              </a:spcAft>
              <a:buSzPct val="100000"/>
              <a:buChar char="•"/>
            </a:pPr>
            <a:r>
              <a:rPr lang="en-US" sz="1300" dirty="0">
                <a:solidFill>
                  <a:srgbClr val="1A1F36"/>
                </a:solidFill>
                <a:latin typeface="Calibri" pitchFamily="34" charset="0"/>
                <a:ea typeface="Calibri" pitchFamily="34" charset="-122"/>
                <a:cs typeface="Calibri" pitchFamily="34" charset="-120"/>
              </a:rPr>
              <a:t>Give up in frustration</a:t>
            </a:r>
            <a:endParaRPr lang="en-US" sz="1300" dirty="0"/>
          </a:p>
          <a:p>
            <a:pPr marL="342900" indent="-342900">
              <a:spcAft>
                <a:spcPts val="400"/>
              </a:spcAft>
              <a:buSzPct val="100000"/>
              <a:buChar char="•"/>
            </a:pPr>
            <a:r>
              <a:rPr lang="en-US" sz="1300" dirty="0">
                <a:solidFill>
                  <a:srgbClr val="1A1F36"/>
                </a:solidFill>
                <a:latin typeface="Calibri" pitchFamily="34" charset="0"/>
                <a:ea typeface="Calibri" pitchFamily="34" charset="-122"/>
                <a:cs typeface="Calibri" pitchFamily="34" charset="-120"/>
              </a:rPr>
              <a:t>The agent starts apologizing</a:t>
            </a:r>
            <a:endParaRPr lang="en-US" sz="1300" dirty="0"/>
          </a:p>
          <a:p>
            <a:pPr marL="0" indent="0">
              <a:spcAft>
                <a:spcPts val="400"/>
              </a:spcAft>
              <a:buNone/>
            </a:pPr>
            <a:endParaRPr lang="en-US" sz="1300" dirty="0"/>
          </a:p>
          <a:p>
            <a:pPr marL="0" indent="0">
              <a:spcAft>
                <a:spcPts val="400"/>
              </a:spcAft>
              <a:buNone/>
            </a:pPr>
            <a:r>
              <a:rPr lang="en-US" sz="1300" i="1" dirty="0">
                <a:solidFill>
                  <a:srgbClr val="1A1F36"/>
                </a:solidFill>
                <a:latin typeface="Calibri" pitchFamily="34" charset="0"/>
                <a:ea typeface="Calibri" pitchFamily="34" charset="-122"/>
                <a:cs typeface="Calibri" pitchFamily="34" charset="-120"/>
              </a:rPr>
              <a:t>Context fills with glob/grep/read noise, leaving little room for actual problem-solving.</a:t>
            </a:r>
            <a:endParaRPr lang="en-US" sz="1300" dirty="0"/>
          </a:p>
        </p:txBody>
      </p:sp>
      <p:sp>
        <p:nvSpPr>
          <p:cNvPr id="10" name="Shape 7"/>
          <p:cNvSpPr/>
          <p:nvPr/>
        </p:nvSpPr>
        <p:spPr>
          <a:xfrm>
            <a:off x="4754880" y="1463040"/>
            <a:ext cx="3931920" cy="320040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11" name="Shape 8"/>
          <p:cNvSpPr/>
          <p:nvPr/>
        </p:nvSpPr>
        <p:spPr>
          <a:xfrm>
            <a:off x="4754880" y="1463040"/>
            <a:ext cx="73152" cy="3200400"/>
          </a:xfrm>
          <a:prstGeom prst="rect">
            <a:avLst/>
          </a:prstGeom>
          <a:solidFill>
            <a:srgbClr val="FBBF24"/>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5074920" y="1600200"/>
            <a:ext cx="365760" cy="365760"/>
          </a:xfrm>
          <a:prstGeom prst="rect">
            <a:avLst/>
          </a:prstGeom>
        </p:spPr>
      </p:pic>
      <p:sp>
        <p:nvSpPr>
          <p:cNvPr id="13" name="Text 9"/>
          <p:cNvSpPr/>
          <p:nvPr/>
        </p:nvSpPr>
        <p:spPr>
          <a:xfrm>
            <a:off x="5532120" y="1600200"/>
            <a:ext cx="2926080" cy="365760"/>
          </a:xfrm>
          <a:prstGeom prst="rect">
            <a:avLst/>
          </a:prstGeom>
          <a:noFill/>
          <a:ln/>
        </p:spPr>
        <p:txBody>
          <a:bodyPr wrap="square" lIns="0" tIns="0" rIns="0" bIns="0" rtlCol="0" anchor="ctr"/>
          <a:lstStyle/>
          <a:p>
            <a:pPr marL="0" indent="0">
              <a:buNone/>
            </a:pPr>
            <a:r>
              <a:rPr lang="en-US" sz="1700" b="1" dirty="0">
                <a:solidFill>
                  <a:srgbClr val="1A1F36"/>
                </a:solidFill>
                <a:latin typeface="Georgia" pitchFamily="34" charset="0"/>
                <a:ea typeface="Georgia" pitchFamily="34" charset="-122"/>
                <a:cs typeface="Georgia" pitchFamily="34" charset="-120"/>
              </a:rPr>
              <a:t>Start Over With Steering</a:t>
            </a:r>
            <a:endParaRPr lang="en-US" sz="1700" dirty="0"/>
          </a:p>
        </p:txBody>
      </p:sp>
      <p:sp>
        <p:nvSpPr>
          <p:cNvPr id="14" name="Text 10"/>
          <p:cNvSpPr/>
          <p:nvPr/>
        </p:nvSpPr>
        <p:spPr>
          <a:xfrm>
            <a:off x="5074920" y="2103120"/>
            <a:ext cx="3383280" cy="2286000"/>
          </a:xfrm>
          <a:prstGeom prst="rect">
            <a:avLst/>
          </a:prstGeom>
          <a:noFill/>
          <a:ln/>
        </p:spPr>
        <p:txBody>
          <a:bodyPr wrap="square" rtlCol="0" anchor="ctr"/>
          <a:lstStyle/>
          <a:p>
            <a:pPr marL="0" indent="0">
              <a:spcAft>
                <a:spcPts val="400"/>
              </a:spcAft>
              <a:buNone/>
            </a:pPr>
            <a:r>
              <a:rPr lang="en-US" sz="1300" dirty="0">
                <a:solidFill>
                  <a:srgbClr val="1A1F36"/>
                </a:solidFill>
                <a:latin typeface="Calibri" pitchFamily="34" charset="0"/>
                <a:ea typeface="Calibri" pitchFamily="34" charset="-122"/>
                <a:cs typeface="Calibri" pitchFamily="34" charset="-120"/>
              </a:rPr>
              <a:t>Restart sessions with more guidance:</a:t>
            </a:r>
            <a:endParaRPr lang="en-US" sz="1300" dirty="0"/>
          </a:p>
          <a:p>
            <a:pPr marL="0" indent="0">
              <a:spcAft>
                <a:spcPts val="400"/>
              </a:spcAft>
              <a:buNone/>
            </a:pPr>
            <a:r>
              <a:rPr lang="en-US" sz="1300" i="1" dirty="0">
                <a:solidFill>
                  <a:srgbClr val="1A1F36"/>
                </a:solidFill>
                <a:latin typeface="Calibri" pitchFamily="34" charset="0"/>
                <a:ea typeface="Calibri" pitchFamily="34" charset="-122"/>
                <a:cs typeface="Calibri" pitchFamily="34" charset="-120"/>
              </a:rPr>
              <a:t>"Use XYZ approach because ABC won't work"</a:t>
            </a:r>
            <a:endParaRPr lang="en-US" sz="1300" dirty="0"/>
          </a:p>
          <a:p>
            <a:pPr marL="0" indent="0">
              <a:spcAft>
                <a:spcPts val="400"/>
              </a:spcAft>
              <a:buNone/>
            </a:pPr>
            <a:endParaRPr lang="en-US" sz="1300" dirty="0"/>
          </a:p>
          <a:p>
            <a:pPr marL="0" indent="0">
              <a:spcAft>
                <a:spcPts val="400"/>
              </a:spcAft>
              <a:buNone/>
            </a:pPr>
            <a:r>
              <a:rPr lang="en-US" sz="1300" dirty="0">
                <a:solidFill>
                  <a:srgbClr val="1A1F36"/>
                </a:solidFill>
                <a:latin typeface="Calibri" pitchFamily="34" charset="0"/>
                <a:ea typeface="Calibri" pitchFamily="34" charset="-122"/>
                <a:cs typeface="Calibri" pitchFamily="34" charset="-120"/>
              </a:rPr>
              <a:t>Better, but still reactive. You're fixing errors after they happen instead of preventing them.</a:t>
            </a:r>
            <a:endParaRPr lang="en-US" sz="1300" dirty="0"/>
          </a:p>
        </p:txBody>
      </p:sp>
      <p:sp>
        <p:nvSpPr>
          <p:cNvPr id="15" name="Text 11"/>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lIns="0" tIns="0" rIns="0" bIns="0" rtlCol="0" anchor="ctr"/>
          <a:lstStyle/>
          <a:p>
            <a:pPr marL="0" indent="0">
              <a:buNone/>
            </a:pPr>
            <a:r>
              <a:rPr lang="en-US" sz="3600" b="1" dirty="0">
                <a:solidFill>
                  <a:srgbClr val="1A1F36"/>
                </a:solidFill>
                <a:latin typeface="Georgia" pitchFamily="34" charset="0"/>
                <a:ea typeface="Georgia" pitchFamily="34" charset="-122"/>
                <a:cs typeface="Georgia" pitchFamily="34" charset="-120"/>
              </a:rPr>
              <a:t>Intentional Compaction</a:t>
            </a:r>
            <a:endParaRPr lang="en-US" sz="3600" dirty="0"/>
          </a:p>
        </p:txBody>
      </p:sp>
      <p:sp>
        <p:nvSpPr>
          <p:cNvPr id="4" name="Text 2"/>
          <p:cNvSpPr/>
          <p:nvPr/>
        </p:nvSpPr>
        <p:spPr>
          <a:xfrm>
            <a:off x="548640" y="960120"/>
            <a:ext cx="8046720" cy="365760"/>
          </a:xfrm>
          <a:prstGeom prst="rect">
            <a:avLst/>
          </a:prstGeom>
          <a:noFill/>
          <a:ln/>
        </p:spPr>
        <p:txBody>
          <a:bodyPr wrap="square" rtlCol="0" anchor="ctr"/>
          <a:lstStyle/>
          <a:p>
            <a:pPr marL="0" indent="0">
              <a:buNone/>
            </a:pPr>
            <a:r>
              <a:rPr lang="en-US" sz="1400" dirty="0">
                <a:solidFill>
                  <a:srgbClr val="8899BB"/>
                </a:solidFill>
                <a:latin typeface="Calibri" pitchFamily="34" charset="0"/>
                <a:ea typeface="Calibri" pitchFamily="34" charset="-122"/>
                <a:cs typeface="Calibri" pitchFamily="34" charset="-120"/>
              </a:rPr>
              <a:t>The breakthrough: treat context as a managed resource</a:t>
            </a:r>
            <a:endParaRPr lang="en-US" sz="1400" dirty="0"/>
          </a:p>
        </p:txBody>
      </p:sp>
      <p:sp>
        <p:nvSpPr>
          <p:cNvPr id="5" name="Shape 3"/>
          <p:cNvSpPr/>
          <p:nvPr/>
        </p:nvSpPr>
        <p:spPr>
          <a:xfrm>
            <a:off x="457200" y="1463040"/>
            <a:ext cx="3931920" cy="320040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457200" y="1463040"/>
            <a:ext cx="73152" cy="3200400"/>
          </a:xfrm>
          <a:prstGeom prst="rect">
            <a:avLst/>
          </a:prstGeom>
          <a:solidFill>
            <a:srgbClr val="F87171"/>
          </a:solidFill>
          <a:ln/>
        </p:spPr>
        <p:txBody>
          <a:bodyPr/>
          <a:lstStyle/>
          <a:p>
            <a:endParaRPr lang="en-US"/>
          </a:p>
        </p:txBody>
      </p:sp>
      <p:sp>
        <p:nvSpPr>
          <p:cNvPr id="7" name="Text 5"/>
          <p:cNvSpPr/>
          <p:nvPr/>
        </p:nvSpPr>
        <p:spPr>
          <a:xfrm>
            <a:off x="777240" y="1554480"/>
            <a:ext cx="3383280" cy="411480"/>
          </a:xfrm>
          <a:prstGeom prst="rect">
            <a:avLst/>
          </a:prstGeom>
          <a:noFill/>
          <a:ln/>
        </p:spPr>
        <p:txBody>
          <a:bodyPr wrap="square" lIns="0" tIns="0" rIns="0" bIns="0" rtlCol="0" anchor="ctr"/>
          <a:lstStyle/>
          <a:p>
            <a:pPr marL="0" indent="0">
              <a:buNone/>
            </a:pPr>
            <a:r>
              <a:rPr lang="en-US" sz="1700" b="1" dirty="0">
                <a:solidFill>
                  <a:srgbClr val="1A1F36"/>
                </a:solidFill>
                <a:latin typeface="Georgia" pitchFamily="34" charset="0"/>
                <a:ea typeface="Georgia" pitchFamily="34" charset="-122"/>
                <a:cs typeface="Georgia" pitchFamily="34" charset="-120"/>
              </a:rPr>
              <a:t>What Eats Context?</a:t>
            </a:r>
            <a:endParaRPr lang="en-US" sz="1700" dirty="0"/>
          </a:p>
        </p:txBody>
      </p:sp>
      <p:sp>
        <p:nvSpPr>
          <p:cNvPr id="8" name="Text 6"/>
          <p:cNvSpPr/>
          <p:nvPr/>
        </p:nvSpPr>
        <p:spPr>
          <a:xfrm>
            <a:off x="777240" y="210312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Searching for files across services</a:t>
            </a:r>
            <a:endParaRPr lang="en-US" sz="1300" dirty="0"/>
          </a:p>
        </p:txBody>
      </p:sp>
      <p:sp>
        <p:nvSpPr>
          <p:cNvPr id="9" name="Text 7"/>
          <p:cNvSpPr/>
          <p:nvPr/>
        </p:nvSpPr>
        <p:spPr>
          <a:xfrm>
            <a:off x="777240" y="256032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Understanding code flow &amp; dependencies</a:t>
            </a:r>
            <a:endParaRPr lang="en-US" sz="1300" dirty="0"/>
          </a:p>
        </p:txBody>
      </p:sp>
      <p:sp>
        <p:nvSpPr>
          <p:cNvPr id="10" name="Text 8"/>
          <p:cNvSpPr/>
          <p:nvPr/>
        </p:nvSpPr>
        <p:spPr>
          <a:xfrm>
            <a:off x="777240" y="301752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Applying and reverting edits</a:t>
            </a:r>
            <a:endParaRPr lang="en-US" sz="1300" dirty="0"/>
          </a:p>
        </p:txBody>
      </p:sp>
      <p:sp>
        <p:nvSpPr>
          <p:cNvPr id="11" name="Text 9"/>
          <p:cNvSpPr/>
          <p:nvPr/>
        </p:nvSpPr>
        <p:spPr>
          <a:xfrm>
            <a:off x="777240" y="347472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Test/build output logs</a:t>
            </a:r>
            <a:endParaRPr lang="en-US" sz="1300" dirty="0"/>
          </a:p>
        </p:txBody>
      </p:sp>
      <p:sp>
        <p:nvSpPr>
          <p:cNvPr id="12" name="Text 10"/>
          <p:cNvSpPr/>
          <p:nvPr/>
        </p:nvSpPr>
        <p:spPr>
          <a:xfrm>
            <a:off x="777240" y="393192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Huge JSON blobs from tool calls</a:t>
            </a:r>
            <a:endParaRPr lang="en-US" sz="1300" dirty="0"/>
          </a:p>
        </p:txBody>
      </p:sp>
      <p:sp>
        <p:nvSpPr>
          <p:cNvPr id="13" name="Shape 11"/>
          <p:cNvSpPr/>
          <p:nvPr/>
        </p:nvSpPr>
        <p:spPr>
          <a:xfrm>
            <a:off x="4754880" y="1463040"/>
            <a:ext cx="3931920" cy="320040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14" name="Shape 12"/>
          <p:cNvSpPr/>
          <p:nvPr/>
        </p:nvSpPr>
        <p:spPr>
          <a:xfrm>
            <a:off x="4754880" y="1463040"/>
            <a:ext cx="73152" cy="3200400"/>
          </a:xfrm>
          <a:prstGeom prst="rect">
            <a:avLst/>
          </a:prstGeom>
          <a:solidFill>
            <a:srgbClr val="34D399"/>
          </a:solidFill>
          <a:ln/>
        </p:spPr>
        <p:txBody>
          <a:bodyPr/>
          <a:lstStyle/>
          <a:p>
            <a:endParaRPr lang="en-US"/>
          </a:p>
        </p:txBody>
      </p:sp>
      <p:sp>
        <p:nvSpPr>
          <p:cNvPr id="15" name="Text 13"/>
          <p:cNvSpPr/>
          <p:nvPr/>
        </p:nvSpPr>
        <p:spPr>
          <a:xfrm>
            <a:off x="5074920" y="1554480"/>
            <a:ext cx="3383280" cy="411480"/>
          </a:xfrm>
          <a:prstGeom prst="rect">
            <a:avLst/>
          </a:prstGeom>
          <a:noFill/>
          <a:ln/>
        </p:spPr>
        <p:txBody>
          <a:bodyPr wrap="square" lIns="0" tIns="0" rIns="0" bIns="0" rtlCol="0" anchor="ctr"/>
          <a:lstStyle/>
          <a:p>
            <a:pPr marL="0" indent="0">
              <a:buNone/>
            </a:pPr>
            <a:r>
              <a:rPr lang="en-US" sz="1700" b="1" dirty="0">
                <a:solidFill>
                  <a:srgbClr val="1A1F36"/>
                </a:solidFill>
                <a:latin typeface="Georgia" pitchFamily="34" charset="0"/>
                <a:ea typeface="Georgia" pitchFamily="34" charset="-122"/>
                <a:cs typeface="Georgia" pitchFamily="34" charset="-120"/>
              </a:rPr>
              <a:t>The Solution</a:t>
            </a:r>
            <a:endParaRPr lang="en-US" sz="1700" dirty="0"/>
          </a:p>
        </p:txBody>
      </p:sp>
      <p:sp>
        <p:nvSpPr>
          <p:cNvPr id="16" name="Text 14"/>
          <p:cNvSpPr/>
          <p:nvPr/>
        </p:nvSpPr>
        <p:spPr>
          <a:xfrm>
            <a:off x="5074920" y="2103120"/>
            <a:ext cx="3383280" cy="2286000"/>
          </a:xfrm>
          <a:prstGeom prst="rect">
            <a:avLst/>
          </a:prstGeom>
          <a:noFill/>
          <a:ln/>
        </p:spPr>
        <p:txBody>
          <a:bodyPr wrap="square" rtlCol="0" anchor="ctr"/>
          <a:lstStyle/>
          <a:p>
            <a:pPr marL="0" indent="0">
              <a:spcAft>
                <a:spcPts val="400"/>
              </a:spcAft>
              <a:buNone/>
            </a:pPr>
            <a:r>
              <a:rPr lang="en-US" sz="1300" dirty="0">
                <a:solidFill>
                  <a:srgbClr val="1A1F36"/>
                </a:solidFill>
                <a:latin typeface="Calibri" pitchFamily="34" charset="0"/>
                <a:ea typeface="Calibri" pitchFamily="34" charset="-122"/>
                <a:cs typeface="Calibri" pitchFamily="34" charset="-120"/>
              </a:rPr>
              <a:t>Pause and distill work into structured artifacts before context fills up.</a:t>
            </a:r>
            <a:endParaRPr lang="en-US" sz="1300" dirty="0"/>
          </a:p>
          <a:p>
            <a:pPr marL="0" indent="0">
              <a:spcAft>
                <a:spcPts val="400"/>
              </a:spcAft>
              <a:buNone/>
            </a:pPr>
            <a:endParaRPr lang="en-US" sz="1300" dirty="0"/>
          </a:p>
          <a:p>
            <a:pPr marL="0" indent="0">
              <a:spcAft>
                <a:spcPts val="400"/>
              </a:spcAft>
              <a:buNone/>
            </a:pPr>
            <a:r>
              <a:rPr lang="en-US" sz="1300" i="1" dirty="0">
                <a:solidFill>
                  <a:srgbClr val="1A1F36"/>
                </a:solidFill>
                <a:latin typeface="Calibri" pitchFamily="34" charset="0"/>
                <a:ea typeface="Calibri" pitchFamily="34" charset="-122"/>
                <a:cs typeface="Calibri" pitchFamily="34" charset="-120"/>
              </a:rPr>
              <a:t>"Write everything so far to progress.md — the goal, approach, steps done, and current issue."</a:t>
            </a:r>
            <a:endParaRPr lang="en-US" sz="1300" dirty="0"/>
          </a:p>
          <a:p>
            <a:pPr marL="0" indent="0">
              <a:spcAft>
                <a:spcPts val="400"/>
              </a:spcAft>
              <a:buNone/>
            </a:pPr>
            <a:endParaRPr lang="en-US" sz="1300" dirty="0"/>
          </a:p>
          <a:p>
            <a:pPr marL="0" indent="0">
              <a:spcAft>
                <a:spcPts val="400"/>
              </a:spcAft>
              <a:buNone/>
            </a:pPr>
            <a:r>
              <a:rPr lang="en-US" sz="1300" b="1" dirty="0">
                <a:solidFill>
                  <a:srgbClr val="1A1F36"/>
                </a:solidFill>
                <a:latin typeface="Calibri" pitchFamily="34" charset="0"/>
                <a:ea typeface="Calibri" pitchFamily="34" charset="-122"/>
                <a:cs typeface="Calibri" pitchFamily="34" charset="-120"/>
              </a:rPr>
              <a:t>Keep context utilization in the 40-60% range.</a:t>
            </a:r>
            <a:endParaRPr lang="en-US" sz="1300" dirty="0"/>
          </a:p>
        </p:txBody>
      </p:sp>
      <p:sp>
        <p:nvSpPr>
          <p:cNvPr id="17" name="Text 15"/>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The Framework: Research, Plan, Implement</a:t>
            </a:r>
            <a:endParaRPr lang="en-US" sz="3400" dirty="0"/>
          </a:p>
        </p:txBody>
      </p:sp>
      <p:sp>
        <p:nvSpPr>
          <p:cNvPr id="3" name="Text 1"/>
          <p:cNvSpPr/>
          <p:nvPr/>
        </p:nvSpPr>
        <p:spPr>
          <a:xfrm>
            <a:off x="548640" y="960120"/>
            <a:ext cx="8046720" cy="365760"/>
          </a:xfrm>
          <a:prstGeom prst="rect">
            <a:avLst/>
          </a:prstGeom>
          <a:noFill/>
          <a:ln/>
        </p:spPr>
        <p:txBody>
          <a:bodyPr wrap="square" rtlCol="0" anchor="ctr"/>
          <a:lstStyle/>
          <a:p>
            <a:pPr marL="0" indent="0">
              <a:buNone/>
            </a:pPr>
            <a:r>
              <a:rPr lang="en-US" sz="1400" dirty="0">
                <a:solidFill>
                  <a:srgbClr val="8899BB"/>
                </a:solidFill>
                <a:latin typeface="Calibri" pitchFamily="34" charset="0"/>
                <a:ea typeface="Calibri" pitchFamily="34" charset="-122"/>
                <a:cs typeface="Calibri" pitchFamily="34" charset="-120"/>
              </a:rPr>
              <a:t>Design your entire workflow around context management</a:t>
            </a:r>
            <a:endParaRPr lang="en-US" sz="1400" dirty="0"/>
          </a:p>
        </p:txBody>
      </p:sp>
      <p:sp>
        <p:nvSpPr>
          <p:cNvPr id="4" name="Shape 2"/>
          <p:cNvSpPr/>
          <p:nvPr/>
        </p:nvSpPr>
        <p:spPr>
          <a:xfrm>
            <a:off x="548640" y="1554480"/>
            <a:ext cx="2560320" cy="301752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548640" y="1554480"/>
            <a:ext cx="2560320" cy="73152"/>
          </a:xfrm>
          <a:prstGeom prst="rect">
            <a:avLst/>
          </a:prstGeom>
          <a:solidFill>
            <a:srgbClr val="4A90D9"/>
          </a:solidFill>
          <a:ln/>
        </p:spPr>
        <p:txBody>
          <a:bodyPr/>
          <a:lstStyle/>
          <a:p>
            <a:endParaRPr lang="en-US"/>
          </a:p>
        </p:txBody>
      </p:sp>
      <p:sp>
        <p:nvSpPr>
          <p:cNvPr id="6" name="Shape 4"/>
          <p:cNvSpPr/>
          <p:nvPr/>
        </p:nvSpPr>
        <p:spPr>
          <a:xfrm>
            <a:off x="1554480" y="1828800"/>
            <a:ext cx="548640" cy="548640"/>
          </a:xfrm>
          <a:prstGeom prst="line">
            <a:avLst/>
          </a:prstGeom>
          <a:solidFill>
            <a:srgbClr val="4A90D9"/>
          </a:solidFill>
          <a:ln/>
        </p:spPr>
        <p:txBody>
          <a:bodyPr/>
          <a:lstStyle/>
          <a:p>
            <a:endParaRPr lang="en-US"/>
          </a:p>
        </p:txBody>
      </p:sp>
      <p:sp>
        <p:nvSpPr>
          <p:cNvPr id="7" name="Text 5"/>
          <p:cNvSpPr/>
          <p:nvPr/>
        </p:nvSpPr>
        <p:spPr>
          <a:xfrm>
            <a:off x="1554480" y="182880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548640" y="2560320"/>
            <a:ext cx="25603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Research</a:t>
            </a:r>
            <a:endParaRPr lang="en-US" sz="2000" dirty="0"/>
          </a:p>
        </p:txBody>
      </p:sp>
      <p:sp>
        <p:nvSpPr>
          <p:cNvPr id="9" name="Text 7"/>
          <p:cNvSpPr/>
          <p:nvPr/>
        </p:nvSpPr>
        <p:spPr>
          <a:xfrm>
            <a:off x="731520" y="3063240"/>
            <a:ext cx="2194560" cy="1280160"/>
          </a:xfrm>
          <a:prstGeom prst="rect">
            <a:avLst/>
          </a:prstGeom>
          <a:noFill/>
          <a:ln/>
        </p:spPr>
        <p:txBody>
          <a:bodyPr wrap="square" rtlCol="0" anchor="t"/>
          <a:lstStyle/>
          <a:p>
            <a:pPr marL="0" indent="0" algn="l">
              <a:spcAft>
                <a:spcPts val="400"/>
              </a:spcAft>
              <a:buNone/>
            </a:pPr>
            <a:r>
              <a:rPr lang="en-US" sz="1250" dirty="0">
                <a:solidFill>
                  <a:srgbClr val="CADCFC"/>
                </a:solidFill>
                <a:latin typeface="Calibri" pitchFamily="34" charset="0"/>
                <a:ea typeface="Calibri" pitchFamily="34" charset="-122"/>
                <a:cs typeface="Calibri" pitchFamily="34" charset="-120"/>
              </a:rPr>
              <a:t>Understand the codebase, relevant files, data flow, and potential causes. Use subagents to keep the main context clean.</a:t>
            </a:r>
            <a:endParaRPr lang="en-US" sz="1250" dirty="0"/>
          </a:p>
        </p:txBody>
      </p:sp>
      <p:pic>
        <p:nvPicPr>
          <p:cNvPr id="10" name="Image 0" descr="preencoded.png"/>
          <p:cNvPicPr>
            <a:picLocks noChangeAspect="1"/>
          </p:cNvPicPr>
          <p:nvPr/>
        </p:nvPicPr>
        <p:blipFill>
          <a:blip r:embed="rId3"/>
          <a:stretch>
            <a:fillRect/>
          </a:stretch>
        </p:blipFill>
        <p:spPr>
          <a:xfrm>
            <a:off x="3127248" y="2880360"/>
            <a:ext cx="137160" cy="137160"/>
          </a:xfrm>
          <a:prstGeom prst="rect">
            <a:avLst/>
          </a:prstGeom>
        </p:spPr>
      </p:pic>
      <p:sp>
        <p:nvSpPr>
          <p:cNvPr id="11" name="Shape 8"/>
          <p:cNvSpPr/>
          <p:nvPr/>
        </p:nvSpPr>
        <p:spPr>
          <a:xfrm>
            <a:off x="3291840" y="1554480"/>
            <a:ext cx="2560320" cy="301752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sp>
        <p:nvSpPr>
          <p:cNvPr id="12" name="Shape 9"/>
          <p:cNvSpPr/>
          <p:nvPr/>
        </p:nvSpPr>
        <p:spPr>
          <a:xfrm>
            <a:off x="3291840" y="1554480"/>
            <a:ext cx="2560320" cy="73152"/>
          </a:xfrm>
          <a:prstGeom prst="rect">
            <a:avLst/>
          </a:prstGeom>
          <a:solidFill>
            <a:srgbClr val="5BA3F5"/>
          </a:solidFill>
          <a:ln/>
        </p:spPr>
        <p:txBody>
          <a:bodyPr/>
          <a:lstStyle/>
          <a:p>
            <a:endParaRPr lang="en-US"/>
          </a:p>
        </p:txBody>
      </p:sp>
      <p:sp>
        <p:nvSpPr>
          <p:cNvPr id="13" name="Shape 10"/>
          <p:cNvSpPr/>
          <p:nvPr/>
        </p:nvSpPr>
        <p:spPr>
          <a:xfrm>
            <a:off x="4297680" y="1828800"/>
            <a:ext cx="548640" cy="548640"/>
          </a:xfrm>
          <a:prstGeom prst="line">
            <a:avLst/>
          </a:prstGeom>
          <a:solidFill>
            <a:srgbClr val="5BA3F5"/>
          </a:solidFill>
          <a:ln/>
        </p:spPr>
        <p:txBody>
          <a:bodyPr/>
          <a:lstStyle/>
          <a:p>
            <a:endParaRPr lang="en-US"/>
          </a:p>
        </p:txBody>
      </p:sp>
      <p:sp>
        <p:nvSpPr>
          <p:cNvPr id="14" name="Text 11"/>
          <p:cNvSpPr/>
          <p:nvPr/>
        </p:nvSpPr>
        <p:spPr>
          <a:xfrm>
            <a:off x="4297680" y="182880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5" name="Text 12"/>
          <p:cNvSpPr/>
          <p:nvPr/>
        </p:nvSpPr>
        <p:spPr>
          <a:xfrm>
            <a:off x="3291840" y="2560320"/>
            <a:ext cx="25603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Plan</a:t>
            </a:r>
            <a:endParaRPr lang="en-US" sz="2000" dirty="0"/>
          </a:p>
        </p:txBody>
      </p:sp>
      <p:sp>
        <p:nvSpPr>
          <p:cNvPr id="16" name="Text 13"/>
          <p:cNvSpPr/>
          <p:nvPr/>
        </p:nvSpPr>
        <p:spPr>
          <a:xfrm>
            <a:off x="3474720" y="3063240"/>
            <a:ext cx="2194560" cy="1280160"/>
          </a:xfrm>
          <a:prstGeom prst="rect">
            <a:avLst/>
          </a:prstGeom>
          <a:noFill/>
          <a:ln/>
        </p:spPr>
        <p:txBody>
          <a:bodyPr wrap="square" rtlCol="0" anchor="t"/>
          <a:lstStyle/>
          <a:p>
            <a:pPr marL="0" indent="0" algn="l">
              <a:spcAft>
                <a:spcPts val="400"/>
              </a:spcAft>
              <a:buNone/>
            </a:pPr>
            <a:r>
              <a:rPr lang="en-US" sz="1250" dirty="0">
                <a:solidFill>
                  <a:srgbClr val="CADCFC"/>
                </a:solidFill>
                <a:latin typeface="Calibri" pitchFamily="34" charset="0"/>
                <a:ea typeface="Calibri" pitchFamily="34" charset="-122"/>
                <a:cs typeface="Calibri" pitchFamily="34" charset="-120"/>
              </a:rPr>
              <a:t>Outline exact steps, files to edit, and precise testing/verification for each phase. Human reviews the plan.</a:t>
            </a:r>
            <a:endParaRPr lang="en-US" sz="1250" dirty="0"/>
          </a:p>
        </p:txBody>
      </p:sp>
      <p:pic>
        <p:nvPicPr>
          <p:cNvPr id="17" name="Image 1" descr="preencoded.png"/>
          <p:cNvPicPr>
            <a:picLocks noChangeAspect="1"/>
          </p:cNvPicPr>
          <p:nvPr/>
        </p:nvPicPr>
        <p:blipFill>
          <a:blip r:embed="rId3"/>
          <a:stretch>
            <a:fillRect/>
          </a:stretch>
        </p:blipFill>
        <p:spPr>
          <a:xfrm>
            <a:off x="5870448" y="2880360"/>
            <a:ext cx="137160" cy="137160"/>
          </a:xfrm>
          <a:prstGeom prst="rect">
            <a:avLst/>
          </a:prstGeom>
        </p:spPr>
      </p:pic>
      <p:sp>
        <p:nvSpPr>
          <p:cNvPr id="18" name="Shape 14"/>
          <p:cNvSpPr/>
          <p:nvPr/>
        </p:nvSpPr>
        <p:spPr>
          <a:xfrm>
            <a:off x="6035040" y="1554480"/>
            <a:ext cx="2560320" cy="301752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sp>
        <p:nvSpPr>
          <p:cNvPr id="19" name="Shape 15"/>
          <p:cNvSpPr/>
          <p:nvPr/>
        </p:nvSpPr>
        <p:spPr>
          <a:xfrm>
            <a:off x="6035040" y="1554480"/>
            <a:ext cx="2560320" cy="73152"/>
          </a:xfrm>
          <a:prstGeom prst="rect">
            <a:avLst/>
          </a:prstGeom>
          <a:solidFill>
            <a:srgbClr val="34D399"/>
          </a:solidFill>
          <a:ln/>
        </p:spPr>
        <p:txBody>
          <a:bodyPr/>
          <a:lstStyle/>
          <a:p>
            <a:endParaRPr lang="en-US"/>
          </a:p>
        </p:txBody>
      </p:sp>
      <p:sp>
        <p:nvSpPr>
          <p:cNvPr id="20" name="Shape 16"/>
          <p:cNvSpPr/>
          <p:nvPr/>
        </p:nvSpPr>
        <p:spPr>
          <a:xfrm>
            <a:off x="7040880" y="1828800"/>
            <a:ext cx="548640" cy="548640"/>
          </a:xfrm>
          <a:prstGeom prst="line">
            <a:avLst/>
          </a:prstGeom>
          <a:solidFill>
            <a:srgbClr val="34D399"/>
          </a:solidFill>
          <a:ln/>
        </p:spPr>
        <p:txBody>
          <a:bodyPr/>
          <a:lstStyle/>
          <a:p>
            <a:endParaRPr lang="en-US"/>
          </a:p>
        </p:txBody>
      </p:sp>
      <p:sp>
        <p:nvSpPr>
          <p:cNvPr id="21" name="Text 17"/>
          <p:cNvSpPr/>
          <p:nvPr/>
        </p:nvSpPr>
        <p:spPr>
          <a:xfrm>
            <a:off x="7040880" y="182880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22" name="Text 18"/>
          <p:cNvSpPr/>
          <p:nvPr/>
        </p:nvSpPr>
        <p:spPr>
          <a:xfrm>
            <a:off x="6035040" y="2560320"/>
            <a:ext cx="256032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Implement</a:t>
            </a:r>
            <a:endParaRPr lang="en-US" sz="2000" dirty="0"/>
          </a:p>
        </p:txBody>
      </p:sp>
      <p:sp>
        <p:nvSpPr>
          <p:cNvPr id="23" name="Text 19"/>
          <p:cNvSpPr/>
          <p:nvPr/>
        </p:nvSpPr>
        <p:spPr>
          <a:xfrm>
            <a:off x="6217920" y="3063240"/>
            <a:ext cx="2194560" cy="1280160"/>
          </a:xfrm>
          <a:prstGeom prst="rect">
            <a:avLst/>
          </a:prstGeom>
          <a:noFill/>
          <a:ln/>
        </p:spPr>
        <p:txBody>
          <a:bodyPr wrap="square" rtlCol="0" anchor="t"/>
          <a:lstStyle/>
          <a:p>
            <a:pPr marL="0" indent="0" algn="l">
              <a:spcAft>
                <a:spcPts val="400"/>
              </a:spcAft>
              <a:buNone/>
            </a:pPr>
            <a:r>
              <a:rPr lang="en-US" sz="1250" dirty="0">
                <a:solidFill>
                  <a:srgbClr val="CADCFC"/>
                </a:solidFill>
                <a:latin typeface="Calibri" pitchFamily="34" charset="0"/>
                <a:ea typeface="Calibri" pitchFamily="34" charset="-122"/>
                <a:cs typeface="Calibri" pitchFamily="34" charset="-120"/>
              </a:rPr>
              <a:t>Execute phase by phase. Compact status back into the plan file after each phase is verified.</a:t>
            </a:r>
            <a:endParaRPr lang="en-US" sz="1250" dirty="0"/>
          </a:p>
        </p:txBody>
      </p:sp>
      <p:sp>
        <p:nvSpPr>
          <p:cNvPr id="24" name="Text 20"/>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lIns="0" tIns="0" rIns="0" bIns="0" rtlCol="0" anchor="ctr"/>
          <a:lstStyle/>
          <a:p>
            <a:pPr marL="0" indent="0">
              <a:buNone/>
            </a:pPr>
            <a:r>
              <a:rPr lang="en-US" sz="3600" b="1" dirty="0">
                <a:solidFill>
                  <a:srgbClr val="1A1F36"/>
                </a:solidFill>
                <a:latin typeface="Georgia" pitchFamily="34" charset="0"/>
                <a:ea typeface="Georgia" pitchFamily="34" charset="-122"/>
                <a:cs typeface="Georgia" pitchFamily="34" charset="-120"/>
              </a:rPr>
              <a:t>Sub-Agents: Context Control</a:t>
            </a:r>
            <a:endParaRPr lang="en-US" sz="3600" dirty="0"/>
          </a:p>
        </p:txBody>
      </p:sp>
      <p:sp>
        <p:nvSpPr>
          <p:cNvPr id="4" name="Text 2"/>
          <p:cNvSpPr/>
          <p:nvPr/>
        </p:nvSpPr>
        <p:spPr>
          <a:xfrm>
            <a:off x="548640" y="960120"/>
            <a:ext cx="8046720" cy="365760"/>
          </a:xfrm>
          <a:prstGeom prst="rect">
            <a:avLst/>
          </a:prstGeom>
          <a:noFill/>
          <a:ln/>
        </p:spPr>
        <p:txBody>
          <a:bodyPr wrap="square" rtlCol="0" anchor="ctr"/>
          <a:lstStyle/>
          <a:p>
            <a:pPr marL="0" indent="0">
              <a:buNone/>
            </a:pPr>
            <a:r>
              <a:rPr lang="en-US" sz="1400" dirty="0">
                <a:solidFill>
                  <a:srgbClr val="8899BB"/>
                </a:solidFill>
                <a:latin typeface="Calibri" pitchFamily="34" charset="0"/>
                <a:ea typeface="Calibri" pitchFamily="34" charset="-122"/>
                <a:cs typeface="Calibri" pitchFamily="34" charset="-120"/>
              </a:rPr>
              <a:t>Subagents aren't about role-playing. They're about keeping context clean.</a:t>
            </a:r>
            <a:endParaRPr lang="en-US" sz="1400" dirty="0"/>
          </a:p>
        </p:txBody>
      </p:sp>
      <p:sp>
        <p:nvSpPr>
          <p:cNvPr id="5" name="Shape 3"/>
          <p:cNvSpPr/>
          <p:nvPr/>
        </p:nvSpPr>
        <p:spPr>
          <a:xfrm>
            <a:off x="457200" y="1463040"/>
            <a:ext cx="3931920" cy="320040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457200" y="1463040"/>
            <a:ext cx="73152" cy="3200400"/>
          </a:xfrm>
          <a:prstGeom prst="rect">
            <a:avLst/>
          </a:prstGeom>
          <a:solidFill>
            <a:srgbClr val="4A90D9"/>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77240" y="1600200"/>
            <a:ext cx="365760" cy="365760"/>
          </a:xfrm>
          <a:prstGeom prst="rect">
            <a:avLst/>
          </a:prstGeom>
        </p:spPr>
      </p:pic>
      <p:sp>
        <p:nvSpPr>
          <p:cNvPr id="8" name="Text 5"/>
          <p:cNvSpPr/>
          <p:nvPr/>
        </p:nvSpPr>
        <p:spPr>
          <a:xfrm>
            <a:off x="1234440" y="1600200"/>
            <a:ext cx="2926080" cy="365760"/>
          </a:xfrm>
          <a:prstGeom prst="rect">
            <a:avLst/>
          </a:prstGeom>
          <a:noFill/>
          <a:ln/>
        </p:spPr>
        <p:txBody>
          <a:bodyPr wrap="square" lIns="0" tIns="0" rIns="0" bIns="0" rtlCol="0" anchor="ctr"/>
          <a:lstStyle/>
          <a:p>
            <a:pPr marL="0" indent="0">
              <a:buNone/>
            </a:pPr>
            <a:r>
              <a:rPr lang="en-US" sz="1700" b="1" dirty="0">
                <a:solidFill>
                  <a:srgbClr val="1A1F36"/>
                </a:solidFill>
                <a:latin typeface="Georgia" pitchFamily="34" charset="0"/>
                <a:ea typeface="Georgia" pitchFamily="34" charset="-122"/>
                <a:cs typeface="Georgia" pitchFamily="34" charset="-120"/>
              </a:rPr>
              <a:t>How It Works</a:t>
            </a:r>
            <a:endParaRPr lang="en-US" sz="1700" dirty="0"/>
          </a:p>
        </p:txBody>
      </p:sp>
      <p:sp>
        <p:nvSpPr>
          <p:cNvPr id="9" name="Text 6"/>
          <p:cNvSpPr/>
          <p:nvPr/>
        </p:nvSpPr>
        <p:spPr>
          <a:xfrm>
            <a:off x="777240" y="2103120"/>
            <a:ext cx="3383280" cy="2286000"/>
          </a:xfrm>
          <a:prstGeom prst="rect">
            <a:avLst/>
          </a:prstGeom>
          <a:noFill/>
          <a:ln/>
        </p:spPr>
        <p:txBody>
          <a:bodyPr wrap="square" rtlCol="0" anchor="ctr"/>
          <a:lstStyle/>
          <a:p>
            <a:pPr marL="342900" indent="-342900">
              <a:spcAft>
                <a:spcPts val="600"/>
              </a:spcAft>
              <a:buSzPct val="100000"/>
              <a:buChar char="•"/>
            </a:pPr>
            <a:r>
              <a:rPr lang="en-US" sz="1300" dirty="0">
                <a:solidFill>
                  <a:srgbClr val="1A1F36"/>
                </a:solidFill>
                <a:latin typeface="Calibri" pitchFamily="34" charset="0"/>
                <a:ea typeface="Calibri" pitchFamily="34" charset="-122"/>
                <a:cs typeface="Calibri" pitchFamily="34" charset="-120"/>
              </a:rPr>
              <a:t>Main agent stays focused on the task</a:t>
            </a:r>
            <a:endParaRPr lang="en-US" sz="1300" dirty="0"/>
          </a:p>
          <a:p>
            <a:pPr marL="342900" indent="-342900">
              <a:spcAft>
                <a:spcPts val="600"/>
              </a:spcAft>
              <a:buSzPct val="100000"/>
              <a:buChar char="•"/>
            </a:pPr>
            <a:r>
              <a:rPr lang="en-US" sz="1300" dirty="0">
                <a:solidFill>
                  <a:srgbClr val="1A1F36"/>
                </a:solidFill>
                <a:latin typeface="Calibri" pitchFamily="34" charset="0"/>
                <a:ea typeface="Calibri" pitchFamily="34" charset="-122"/>
                <a:cs typeface="Calibri" pitchFamily="34" charset="-120"/>
              </a:rPr>
              <a:t>Subagents do searching/summarizing in a fresh context window</a:t>
            </a:r>
            <a:endParaRPr lang="en-US" sz="1300" dirty="0"/>
          </a:p>
          <a:p>
            <a:pPr marL="342900" indent="-342900">
              <a:spcAft>
                <a:spcPts val="600"/>
              </a:spcAft>
              <a:buSzPct val="100000"/>
              <a:buChar char="•"/>
            </a:pPr>
            <a:r>
              <a:rPr lang="en-US" sz="1300" dirty="0">
                <a:solidFill>
                  <a:srgbClr val="1A1F36"/>
                </a:solidFill>
                <a:latin typeface="Calibri" pitchFamily="34" charset="0"/>
                <a:ea typeface="Calibri" pitchFamily="34" charset="-122"/>
                <a:cs typeface="Calibri" pitchFamily="34" charset="-120"/>
              </a:rPr>
              <a:t>Results return as compact, structured summaries</a:t>
            </a:r>
            <a:endParaRPr lang="en-US" sz="1300" dirty="0"/>
          </a:p>
          <a:p>
            <a:pPr marL="342900" indent="-342900">
              <a:spcAft>
                <a:spcPts val="600"/>
              </a:spcAft>
              <a:buSzPct val="100000"/>
              <a:buChar char="•"/>
            </a:pPr>
            <a:r>
              <a:rPr lang="en-US" sz="1300" dirty="0">
                <a:solidFill>
                  <a:srgbClr val="1A1F36"/>
                </a:solidFill>
                <a:latin typeface="Calibri" pitchFamily="34" charset="0"/>
                <a:ea typeface="Calibri" pitchFamily="34" charset="-122"/>
                <a:cs typeface="Calibri" pitchFamily="34" charset="-120"/>
              </a:rPr>
              <a:t>Main context never fills with glob/grep/read noise</a:t>
            </a:r>
            <a:endParaRPr lang="en-US" sz="1300" dirty="0"/>
          </a:p>
        </p:txBody>
      </p:sp>
      <p:sp>
        <p:nvSpPr>
          <p:cNvPr id="10" name="Shape 7"/>
          <p:cNvSpPr/>
          <p:nvPr/>
        </p:nvSpPr>
        <p:spPr>
          <a:xfrm>
            <a:off x="4754880" y="1463040"/>
            <a:ext cx="3931920" cy="320040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11" name="Shape 8"/>
          <p:cNvSpPr/>
          <p:nvPr/>
        </p:nvSpPr>
        <p:spPr>
          <a:xfrm>
            <a:off x="4754880" y="1463040"/>
            <a:ext cx="73152" cy="3200400"/>
          </a:xfrm>
          <a:prstGeom prst="rect">
            <a:avLst/>
          </a:prstGeom>
          <a:solidFill>
            <a:srgbClr val="4A90D9"/>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5074920" y="1600200"/>
            <a:ext cx="365760" cy="365760"/>
          </a:xfrm>
          <a:prstGeom prst="rect">
            <a:avLst/>
          </a:prstGeom>
        </p:spPr>
      </p:pic>
      <p:sp>
        <p:nvSpPr>
          <p:cNvPr id="13" name="Text 9"/>
          <p:cNvSpPr/>
          <p:nvPr/>
        </p:nvSpPr>
        <p:spPr>
          <a:xfrm>
            <a:off x="5532120" y="1600200"/>
            <a:ext cx="3017520" cy="365760"/>
          </a:xfrm>
          <a:prstGeom prst="rect">
            <a:avLst/>
          </a:prstGeom>
          <a:noFill/>
          <a:ln/>
        </p:spPr>
        <p:txBody>
          <a:bodyPr wrap="square" lIns="0" tIns="0" rIns="0" bIns="0" rtlCol="0" anchor="ctr"/>
          <a:lstStyle/>
          <a:p>
            <a:pPr marL="0" indent="0">
              <a:buNone/>
            </a:pPr>
            <a:r>
              <a:rPr lang="en-US" sz="1700" b="1" dirty="0">
                <a:solidFill>
                  <a:srgbClr val="1A1F36"/>
                </a:solidFill>
                <a:latin typeface="Georgia" pitchFamily="34" charset="0"/>
                <a:ea typeface="Georgia" pitchFamily="34" charset="-122"/>
                <a:cs typeface="Georgia" pitchFamily="34" charset="-120"/>
              </a:rPr>
              <a:t>Example Agents</a:t>
            </a:r>
            <a:endParaRPr lang="en-US" sz="1700" dirty="0"/>
          </a:p>
        </p:txBody>
      </p:sp>
      <p:sp>
        <p:nvSpPr>
          <p:cNvPr id="14" name="Text 10"/>
          <p:cNvSpPr/>
          <p:nvPr/>
        </p:nvSpPr>
        <p:spPr>
          <a:xfrm>
            <a:off x="5074920" y="2148840"/>
            <a:ext cx="1645920" cy="320040"/>
          </a:xfrm>
          <a:prstGeom prst="rect">
            <a:avLst/>
          </a:prstGeom>
          <a:noFill/>
          <a:ln/>
        </p:spPr>
        <p:txBody>
          <a:bodyPr wrap="square" rtlCol="0" anchor="ctr"/>
          <a:lstStyle/>
          <a:p>
            <a:pPr marL="0" indent="0">
              <a:buNone/>
            </a:pPr>
            <a:r>
              <a:rPr lang="en-US" sz="1100" b="1" dirty="0">
                <a:solidFill>
                  <a:srgbClr val="4A90D9"/>
                </a:solidFill>
                <a:latin typeface="Consolas" pitchFamily="34" charset="0"/>
                <a:ea typeface="Consolas" pitchFamily="34" charset="-122"/>
                <a:cs typeface="Consolas" pitchFamily="34" charset="-120"/>
              </a:rPr>
              <a:t>codebase-locator</a:t>
            </a:r>
            <a:endParaRPr lang="en-US" sz="1100" dirty="0"/>
          </a:p>
        </p:txBody>
      </p:sp>
      <p:sp>
        <p:nvSpPr>
          <p:cNvPr id="15" name="Text 11"/>
          <p:cNvSpPr/>
          <p:nvPr/>
        </p:nvSpPr>
        <p:spPr>
          <a:xfrm>
            <a:off x="6720840" y="2148840"/>
            <a:ext cx="1828800" cy="320040"/>
          </a:xfrm>
          <a:prstGeom prst="rect">
            <a:avLst/>
          </a:prstGeom>
          <a:noFill/>
          <a:ln/>
        </p:spPr>
        <p:txBody>
          <a:bodyPr wrap="square" rtlCol="0" anchor="ctr"/>
          <a:lstStyle/>
          <a:p>
            <a:pPr marL="0" indent="0">
              <a:buNone/>
            </a:pPr>
            <a:r>
              <a:rPr lang="en-US" sz="1100" dirty="0">
                <a:solidFill>
                  <a:srgbClr val="1A1F36"/>
                </a:solidFill>
                <a:latin typeface="Calibri" pitchFamily="34" charset="0"/>
                <a:ea typeface="Calibri" pitchFamily="34" charset="-122"/>
                <a:cs typeface="Calibri" pitchFamily="34" charset="-120"/>
              </a:rPr>
              <a:t>Find WHERE files live</a:t>
            </a:r>
            <a:endParaRPr lang="en-US" sz="1100" dirty="0"/>
          </a:p>
        </p:txBody>
      </p:sp>
      <p:sp>
        <p:nvSpPr>
          <p:cNvPr id="16" name="Text 12"/>
          <p:cNvSpPr/>
          <p:nvPr/>
        </p:nvSpPr>
        <p:spPr>
          <a:xfrm>
            <a:off x="5074920" y="2606040"/>
            <a:ext cx="1645920" cy="320040"/>
          </a:xfrm>
          <a:prstGeom prst="rect">
            <a:avLst/>
          </a:prstGeom>
          <a:noFill/>
          <a:ln/>
        </p:spPr>
        <p:txBody>
          <a:bodyPr wrap="square" rtlCol="0" anchor="ctr"/>
          <a:lstStyle/>
          <a:p>
            <a:pPr marL="0" indent="0">
              <a:buNone/>
            </a:pPr>
            <a:r>
              <a:rPr lang="en-US" sz="1100" b="1" dirty="0">
                <a:solidFill>
                  <a:srgbClr val="4A90D9"/>
                </a:solidFill>
                <a:latin typeface="Consolas" pitchFamily="34" charset="0"/>
                <a:ea typeface="Consolas" pitchFamily="34" charset="-122"/>
                <a:cs typeface="Consolas" pitchFamily="34" charset="-120"/>
              </a:rPr>
              <a:t>codebase-analyzer</a:t>
            </a:r>
            <a:endParaRPr lang="en-US" sz="1100" dirty="0"/>
          </a:p>
        </p:txBody>
      </p:sp>
      <p:sp>
        <p:nvSpPr>
          <p:cNvPr id="17" name="Text 13"/>
          <p:cNvSpPr/>
          <p:nvPr/>
        </p:nvSpPr>
        <p:spPr>
          <a:xfrm>
            <a:off x="6720840" y="2606040"/>
            <a:ext cx="1828800" cy="320040"/>
          </a:xfrm>
          <a:prstGeom prst="rect">
            <a:avLst/>
          </a:prstGeom>
          <a:noFill/>
          <a:ln/>
        </p:spPr>
        <p:txBody>
          <a:bodyPr wrap="square" rtlCol="0" anchor="ctr"/>
          <a:lstStyle/>
          <a:p>
            <a:pPr marL="0" indent="0">
              <a:buNone/>
            </a:pPr>
            <a:r>
              <a:rPr lang="en-US" sz="1100" dirty="0">
                <a:solidFill>
                  <a:srgbClr val="1A1F36"/>
                </a:solidFill>
                <a:latin typeface="Calibri" pitchFamily="34" charset="0"/>
                <a:ea typeface="Calibri" pitchFamily="34" charset="-122"/>
                <a:cs typeface="Calibri" pitchFamily="34" charset="-120"/>
              </a:rPr>
              <a:t>Understand HOW code works</a:t>
            </a:r>
            <a:endParaRPr lang="en-US" sz="1100" dirty="0"/>
          </a:p>
        </p:txBody>
      </p:sp>
      <p:sp>
        <p:nvSpPr>
          <p:cNvPr id="18" name="Text 14"/>
          <p:cNvSpPr/>
          <p:nvPr/>
        </p:nvSpPr>
        <p:spPr>
          <a:xfrm>
            <a:off x="5074920" y="3063240"/>
            <a:ext cx="1645920" cy="320040"/>
          </a:xfrm>
          <a:prstGeom prst="rect">
            <a:avLst/>
          </a:prstGeom>
          <a:noFill/>
          <a:ln/>
        </p:spPr>
        <p:txBody>
          <a:bodyPr wrap="square" rtlCol="0" anchor="ctr"/>
          <a:lstStyle/>
          <a:p>
            <a:pPr marL="0" indent="0">
              <a:buNone/>
            </a:pPr>
            <a:r>
              <a:rPr lang="en-US" sz="1100" b="1" dirty="0">
                <a:solidFill>
                  <a:srgbClr val="4A90D9"/>
                </a:solidFill>
                <a:latin typeface="Consolas" pitchFamily="34" charset="0"/>
                <a:ea typeface="Consolas" pitchFamily="34" charset="-122"/>
                <a:cs typeface="Consolas" pitchFamily="34" charset="-120"/>
              </a:rPr>
              <a:t>pattern-finder</a:t>
            </a:r>
            <a:endParaRPr lang="en-US" sz="1100" dirty="0"/>
          </a:p>
        </p:txBody>
      </p:sp>
      <p:sp>
        <p:nvSpPr>
          <p:cNvPr id="19" name="Text 15"/>
          <p:cNvSpPr/>
          <p:nvPr/>
        </p:nvSpPr>
        <p:spPr>
          <a:xfrm>
            <a:off x="6720840" y="3063240"/>
            <a:ext cx="1828800" cy="320040"/>
          </a:xfrm>
          <a:prstGeom prst="rect">
            <a:avLst/>
          </a:prstGeom>
          <a:noFill/>
          <a:ln/>
        </p:spPr>
        <p:txBody>
          <a:bodyPr wrap="square" rtlCol="0" anchor="ctr"/>
          <a:lstStyle/>
          <a:p>
            <a:pPr marL="0" indent="0">
              <a:buNone/>
            </a:pPr>
            <a:r>
              <a:rPr lang="en-US" sz="1100" dirty="0">
                <a:solidFill>
                  <a:srgbClr val="1A1F36"/>
                </a:solidFill>
                <a:latin typeface="Calibri" pitchFamily="34" charset="0"/>
                <a:ea typeface="Calibri" pitchFamily="34" charset="-122"/>
                <a:cs typeface="Calibri" pitchFamily="34" charset="-120"/>
              </a:rPr>
              <a:t>Find similar implementations</a:t>
            </a:r>
            <a:endParaRPr lang="en-US" sz="1100" dirty="0"/>
          </a:p>
        </p:txBody>
      </p:sp>
      <p:sp>
        <p:nvSpPr>
          <p:cNvPr id="20" name="Text 16"/>
          <p:cNvSpPr/>
          <p:nvPr/>
        </p:nvSpPr>
        <p:spPr>
          <a:xfrm>
            <a:off x="5074920" y="3520440"/>
            <a:ext cx="1645920" cy="320040"/>
          </a:xfrm>
          <a:prstGeom prst="rect">
            <a:avLst/>
          </a:prstGeom>
          <a:noFill/>
          <a:ln/>
        </p:spPr>
        <p:txBody>
          <a:bodyPr wrap="square" rtlCol="0" anchor="ctr"/>
          <a:lstStyle/>
          <a:p>
            <a:pPr marL="0" indent="0">
              <a:buNone/>
            </a:pPr>
            <a:r>
              <a:rPr lang="en-US" sz="1100" b="1" dirty="0">
                <a:solidFill>
                  <a:srgbClr val="4A90D9"/>
                </a:solidFill>
                <a:latin typeface="Consolas" pitchFamily="34" charset="0"/>
                <a:ea typeface="Consolas" pitchFamily="34" charset="-122"/>
                <a:cs typeface="Consolas" pitchFamily="34" charset="-120"/>
              </a:rPr>
              <a:t>database-query</a:t>
            </a:r>
            <a:endParaRPr lang="en-US" sz="1100" dirty="0"/>
          </a:p>
        </p:txBody>
      </p:sp>
      <p:sp>
        <p:nvSpPr>
          <p:cNvPr id="21" name="Text 17"/>
          <p:cNvSpPr/>
          <p:nvPr/>
        </p:nvSpPr>
        <p:spPr>
          <a:xfrm>
            <a:off x="6720840" y="3520440"/>
            <a:ext cx="1828800" cy="320040"/>
          </a:xfrm>
          <a:prstGeom prst="rect">
            <a:avLst/>
          </a:prstGeom>
          <a:noFill/>
          <a:ln/>
        </p:spPr>
        <p:txBody>
          <a:bodyPr wrap="square" rtlCol="0" anchor="ctr"/>
          <a:lstStyle/>
          <a:p>
            <a:pPr marL="0" indent="0">
              <a:buNone/>
            </a:pPr>
            <a:r>
              <a:rPr lang="en-US" sz="1100" dirty="0">
                <a:solidFill>
                  <a:srgbClr val="1A1F36"/>
                </a:solidFill>
                <a:latin typeface="Calibri" pitchFamily="34" charset="0"/>
                <a:ea typeface="Calibri" pitchFamily="34" charset="-122"/>
                <a:cs typeface="Calibri" pitchFamily="34" charset="-120"/>
              </a:rPr>
              <a:t>Query schemas &amp; data</a:t>
            </a:r>
            <a:endParaRPr lang="en-US" sz="1100" dirty="0"/>
          </a:p>
        </p:txBody>
      </p:sp>
      <p:sp>
        <p:nvSpPr>
          <p:cNvPr id="22" name="Text 18"/>
          <p:cNvSpPr/>
          <p:nvPr/>
        </p:nvSpPr>
        <p:spPr>
          <a:xfrm>
            <a:off x="5074920" y="3977640"/>
            <a:ext cx="1645920" cy="320040"/>
          </a:xfrm>
          <a:prstGeom prst="rect">
            <a:avLst/>
          </a:prstGeom>
          <a:noFill/>
          <a:ln/>
        </p:spPr>
        <p:txBody>
          <a:bodyPr wrap="square" rtlCol="0" anchor="ctr"/>
          <a:lstStyle/>
          <a:p>
            <a:pPr marL="0" indent="0">
              <a:buNone/>
            </a:pPr>
            <a:r>
              <a:rPr lang="en-US" sz="1100" b="1" dirty="0">
                <a:solidFill>
                  <a:srgbClr val="4A90D9"/>
                </a:solidFill>
                <a:latin typeface="Consolas" pitchFamily="34" charset="0"/>
                <a:ea typeface="Consolas" pitchFamily="34" charset="-122"/>
                <a:cs typeface="Consolas" pitchFamily="34" charset="-120"/>
              </a:rPr>
              <a:t>docs-locator</a:t>
            </a:r>
            <a:endParaRPr lang="en-US" sz="1100" dirty="0"/>
          </a:p>
        </p:txBody>
      </p:sp>
      <p:sp>
        <p:nvSpPr>
          <p:cNvPr id="23" name="Text 19"/>
          <p:cNvSpPr/>
          <p:nvPr/>
        </p:nvSpPr>
        <p:spPr>
          <a:xfrm>
            <a:off x="6720840" y="3977640"/>
            <a:ext cx="1828800" cy="320040"/>
          </a:xfrm>
          <a:prstGeom prst="rect">
            <a:avLst/>
          </a:prstGeom>
          <a:noFill/>
          <a:ln/>
        </p:spPr>
        <p:txBody>
          <a:bodyPr wrap="square" rtlCol="0" anchor="ctr"/>
          <a:lstStyle/>
          <a:p>
            <a:pPr marL="0" indent="0">
              <a:buNone/>
            </a:pPr>
            <a:r>
              <a:rPr lang="en-US" sz="1100" dirty="0">
                <a:solidFill>
                  <a:srgbClr val="1A1F36"/>
                </a:solidFill>
                <a:latin typeface="Calibri" pitchFamily="34" charset="0"/>
                <a:ea typeface="Calibri" pitchFamily="34" charset="-122"/>
                <a:cs typeface="Calibri" pitchFamily="34" charset="-120"/>
              </a:rPr>
              <a:t>Find existing documentation</a:t>
            </a:r>
            <a:endParaRPr lang="en-US" sz="1100" dirty="0"/>
          </a:p>
        </p:txBody>
      </p:sp>
      <p:sp>
        <p:nvSpPr>
          <p:cNvPr id="24" name="Text 20"/>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Human Leverage: Where to Focus Review</a:t>
            </a:r>
            <a:endParaRPr lang="en-US" sz="3400" dirty="0"/>
          </a:p>
        </p:txBody>
      </p:sp>
      <p:sp>
        <p:nvSpPr>
          <p:cNvPr id="3" name="Shape 1"/>
          <p:cNvSpPr/>
          <p:nvPr/>
        </p:nvSpPr>
        <p:spPr>
          <a:xfrm>
            <a:off x="731520" y="1211580"/>
            <a:ext cx="7680960" cy="109728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1005840" y="1280160"/>
            <a:ext cx="548640" cy="548640"/>
          </a:xfrm>
          <a:prstGeom prst="rect">
            <a:avLst/>
          </a:prstGeom>
        </p:spPr>
      </p:pic>
      <p:sp>
        <p:nvSpPr>
          <p:cNvPr id="5" name="Text 2"/>
          <p:cNvSpPr/>
          <p:nvPr/>
        </p:nvSpPr>
        <p:spPr>
          <a:xfrm>
            <a:off x="1737360" y="1143000"/>
            <a:ext cx="6400800" cy="1005840"/>
          </a:xfrm>
          <a:prstGeom prst="rect">
            <a:avLst/>
          </a:prstGeom>
          <a:noFill/>
          <a:ln/>
        </p:spPr>
        <p:txBody>
          <a:bodyPr wrap="square" rtlCol="0" anchor="ctr"/>
          <a:lstStyle/>
          <a:p>
            <a:pPr marL="0" indent="0">
              <a:buNone/>
            </a:pPr>
            <a:r>
              <a:rPr lang="en-US" sz="1500" dirty="0">
                <a:solidFill>
                  <a:srgbClr val="FFFFFF"/>
                </a:solidFill>
                <a:latin typeface="Georgia" pitchFamily="34" charset="0"/>
                <a:ea typeface="Georgia" pitchFamily="34" charset="-122"/>
                <a:cs typeface="Georgia" pitchFamily="34" charset="-120"/>
              </a:rPr>
              <a:t>A bad line of code is a bad line. A bad line in a plan leads to hundreds of bad lines. A bad line of research leads to thousands.</a:t>
            </a:r>
            <a:endParaRPr lang="en-US" sz="1500" dirty="0"/>
          </a:p>
        </p:txBody>
      </p:sp>
      <p:sp>
        <p:nvSpPr>
          <p:cNvPr id="6" name="Shape 3"/>
          <p:cNvSpPr/>
          <p:nvPr/>
        </p:nvSpPr>
        <p:spPr>
          <a:xfrm>
            <a:off x="731520" y="3200400"/>
            <a:ext cx="2560320" cy="1280160"/>
          </a:xfrm>
          <a:prstGeom prst="rect">
            <a:avLst/>
          </a:prstGeom>
          <a:solidFill>
            <a:srgbClr val="F87171">
              <a:alpha val="80000"/>
            </a:srgbClr>
          </a:solidFill>
          <a:ln/>
          <a:effectLst>
            <a:outerShdw blurRad="101600" dist="38100" dir="8100000" algn="bl" rotWithShape="0">
              <a:srgbClr val="000000">
                <a:alpha val="18000"/>
              </a:srgbClr>
            </a:outerShdw>
          </a:effectLst>
        </p:spPr>
        <p:txBody>
          <a:bodyPr/>
          <a:lstStyle/>
          <a:p>
            <a:endParaRPr lang="en-US"/>
          </a:p>
        </p:txBody>
      </p:sp>
      <p:sp>
        <p:nvSpPr>
          <p:cNvPr id="7" name="Text 4"/>
          <p:cNvSpPr/>
          <p:nvPr/>
        </p:nvSpPr>
        <p:spPr>
          <a:xfrm>
            <a:off x="731520" y="3337560"/>
            <a:ext cx="2560320" cy="320040"/>
          </a:xfrm>
          <a:prstGeom prst="rect">
            <a:avLst/>
          </a:prstGeom>
          <a:noFill/>
          <a:ln/>
        </p:spPr>
        <p:txBody>
          <a:bodyPr wrap="square" rtlCol="0" anchor="ctr"/>
          <a:lstStyle/>
          <a:p>
            <a:pPr marL="0" indent="0" algn="ctr">
              <a:buNone/>
            </a:pPr>
            <a:r>
              <a:rPr lang="en-US" sz="1400" b="1" kern="0" spc="400" dirty="0">
                <a:solidFill>
                  <a:srgbClr val="F87171"/>
                </a:solidFill>
                <a:latin typeface="Calibri" pitchFamily="34" charset="0"/>
                <a:ea typeface="Calibri" pitchFamily="34" charset="-122"/>
                <a:cs typeface="Calibri" pitchFamily="34" charset="-120"/>
              </a:rPr>
              <a:t>LOW</a:t>
            </a:r>
            <a:endParaRPr lang="en-US" sz="1400" dirty="0"/>
          </a:p>
        </p:txBody>
      </p:sp>
      <p:sp>
        <p:nvSpPr>
          <p:cNvPr id="8" name="Text 5"/>
          <p:cNvSpPr/>
          <p:nvPr/>
        </p:nvSpPr>
        <p:spPr>
          <a:xfrm>
            <a:off x="731520" y="3657600"/>
            <a:ext cx="256032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Code Review</a:t>
            </a:r>
            <a:endParaRPr lang="en-US" sz="1700" dirty="0"/>
          </a:p>
        </p:txBody>
      </p:sp>
      <p:sp>
        <p:nvSpPr>
          <p:cNvPr id="9" name="Text 6"/>
          <p:cNvSpPr/>
          <p:nvPr/>
        </p:nvSpPr>
        <p:spPr>
          <a:xfrm>
            <a:off x="868680" y="4023360"/>
            <a:ext cx="2286000" cy="36576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Catch bugs line by line</a:t>
            </a:r>
            <a:endParaRPr lang="en-US" sz="1100" dirty="0"/>
          </a:p>
        </p:txBody>
      </p:sp>
      <p:sp>
        <p:nvSpPr>
          <p:cNvPr id="10" name="Shape 7"/>
          <p:cNvSpPr/>
          <p:nvPr/>
        </p:nvSpPr>
        <p:spPr>
          <a:xfrm>
            <a:off x="3474720" y="2834640"/>
            <a:ext cx="2560320" cy="1645920"/>
          </a:xfrm>
          <a:prstGeom prst="rect">
            <a:avLst/>
          </a:prstGeom>
          <a:solidFill>
            <a:srgbClr val="FBBF24">
              <a:alpha val="80000"/>
            </a:srgbClr>
          </a:solidFill>
          <a:ln/>
          <a:effectLst>
            <a:outerShdw blurRad="101600" dist="38100" dir="8100000" algn="bl" rotWithShape="0">
              <a:srgbClr val="000000">
                <a:alpha val="18000"/>
              </a:srgbClr>
            </a:outerShdw>
          </a:effectLst>
        </p:spPr>
        <p:txBody>
          <a:bodyPr/>
          <a:lstStyle/>
          <a:p>
            <a:endParaRPr lang="en-US"/>
          </a:p>
        </p:txBody>
      </p:sp>
      <p:sp>
        <p:nvSpPr>
          <p:cNvPr id="11" name="Text 8"/>
          <p:cNvSpPr/>
          <p:nvPr/>
        </p:nvSpPr>
        <p:spPr>
          <a:xfrm>
            <a:off x="3474720" y="2971800"/>
            <a:ext cx="2560320" cy="320040"/>
          </a:xfrm>
          <a:prstGeom prst="rect">
            <a:avLst/>
          </a:prstGeom>
          <a:noFill/>
          <a:ln/>
        </p:spPr>
        <p:txBody>
          <a:bodyPr wrap="square" rtlCol="0" anchor="ctr"/>
          <a:lstStyle/>
          <a:p>
            <a:pPr marL="0" indent="0" algn="ctr">
              <a:buNone/>
            </a:pPr>
            <a:r>
              <a:rPr lang="en-US" sz="1400" b="1" kern="0" spc="400" dirty="0">
                <a:solidFill>
                  <a:srgbClr val="FBBF24"/>
                </a:solidFill>
                <a:latin typeface="Calibri" pitchFamily="34" charset="0"/>
                <a:ea typeface="Calibri" pitchFamily="34" charset="-122"/>
                <a:cs typeface="Calibri" pitchFamily="34" charset="-120"/>
              </a:rPr>
              <a:t>MEDIUM</a:t>
            </a:r>
            <a:endParaRPr lang="en-US" sz="1400" dirty="0"/>
          </a:p>
        </p:txBody>
      </p:sp>
      <p:sp>
        <p:nvSpPr>
          <p:cNvPr id="12" name="Text 9"/>
          <p:cNvSpPr/>
          <p:nvPr/>
        </p:nvSpPr>
        <p:spPr>
          <a:xfrm>
            <a:off x="3474720" y="3291840"/>
            <a:ext cx="256032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Plan Review</a:t>
            </a:r>
            <a:endParaRPr lang="en-US" sz="1700" dirty="0"/>
          </a:p>
        </p:txBody>
      </p:sp>
      <p:sp>
        <p:nvSpPr>
          <p:cNvPr id="13" name="Text 10"/>
          <p:cNvSpPr/>
          <p:nvPr/>
        </p:nvSpPr>
        <p:spPr>
          <a:xfrm>
            <a:off x="3611880" y="4023360"/>
            <a:ext cx="2286000" cy="36576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Catch wrong approaches before 100s of lines</a:t>
            </a:r>
            <a:endParaRPr lang="en-US" sz="1100" dirty="0"/>
          </a:p>
        </p:txBody>
      </p:sp>
      <p:sp>
        <p:nvSpPr>
          <p:cNvPr id="14" name="Shape 11"/>
          <p:cNvSpPr/>
          <p:nvPr/>
        </p:nvSpPr>
        <p:spPr>
          <a:xfrm>
            <a:off x="6217920" y="2468880"/>
            <a:ext cx="2560320" cy="2011680"/>
          </a:xfrm>
          <a:prstGeom prst="rect">
            <a:avLst/>
          </a:prstGeom>
          <a:solidFill>
            <a:srgbClr val="34D399">
              <a:alpha val="80000"/>
            </a:srgbClr>
          </a:solidFill>
          <a:ln/>
          <a:effectLst>
            <a:outerShdw blurRad="101600" dist="38100" dir="8100000" algn="bl" rotWithShape="0">
              <a:srgbClr val="000000">
                <a:alpha val="18000"/>
              </a:srgbClr>
            </a:outerShdw>
          </a:effectLst>
        </p:spPr>
        <p:txBody>
          <a:bodyPr/>
          <a:lstStyle/>
          <a:p>
            <a:endParaRPr lang="en-US"/>
          </a:p>
        </p:txBody>
      </p:sp>
      <p:sp>
        <p:nvSpPr>
          <p:cNvPr id="15" name="Text 12"/>
          <p:cNvSpPr/>
          <p:nvPr/>
        </p:nvSpPr>
        <p:spPr>
          <a:xfrm>
            <a:off x="6217920" y="2606040"/>
            <a:ext cx="2560320" cy="320040"/>
          </a:xfrm>
          <a:prstGeom prst="rect">
            <a:avLst/>
          </a:prstGeom>
          <a:noFill/>
          <a:ln/>
        </p:spPr>
        <p:txBody>
          <a:bodyPr wrap="square" rtlCol="0" anchor="ctr"/>
          <a:lstStyle/>
          <a:p>
            <a:pPr marL="0" indent="0" algn="ctr">
              <a:buNone/>
            </a:pPr>
            <a:r>
              <a:rPr lang="en-US" sz="1400" b="1" kern="0" spc="400" dirty="0">
                <a:solidFill>
                  <a:srgbClr val="34D399"/>
                </a:solidFill>
                <a:latin typeface="Calibri" pitchFamily="34" charset="0"/>
                <a:ea typeface="Calibri" pitchFamily="34" charset="-122"/>
                <a:cs typeface="Calibri" pitchFamily="34" charset="-120"/>
              </a:rPr>
              <a:t>HIGH</a:t>
            </a:r>
            <a:endParaRPr lang="en-US" sz="1400" dirty="0"/>
          </a:p>
        </p:txBody>
      </p:sp>
      <p:sp>
        <p:nvSpPr>
          <p:cNvPr id="16" name="Text 13"/>
          <p:cNvSpPr/>
          <p:nvPr/>
        </p:nvSpPr>
        <p:spPr>
          <a:xfrm>
            <a:off x="6217920" y="2926080"/>
            <a:ext cx="256032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Research Review</a:t>
            </a:r>
            <a:endParaRPr lang="en-US" sz="1700" dirty="0"/>
          </a:p>
        </p:txBody>
      </p:sp>
      <p:sp>
        <p:nvSpPr>
          <p:cNvPr id="17" name="Text 14"/>
          <p:cNvSpPr/>
          <p:nvPr/>
        </p:nvSpPr>
        <p:spPr>
          <a:xfrm>
            <a:off x="6355080" y="4023360"/>
            <a:ext cx="2286000" cy="36576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Catch wrong assumptions before 1000s of lines</a:t>
            </a:r>
            <a:endParaRPr lang="en-US" sz="1100" dirty="0"/>
          </a:p>
        </p:txBody>
      </p:sp>
      <p:sp>
        <p:nvSpPr>
          <p:cNvPr id="18" name="Text 15"/>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lIns="0" tIns="0" rIns="0" bIns="0" rtlCol="0" anchor="ctr"/>
          <a:lstStyle/>
          <a:p>
            <a:pPr marL="0" indent="0">
              <a:buNone/>
            </a:pPr>
            <a:r>
              <a:rPr lang="en-US" sz="3400" b="1" dirty="0">
                <a:solidFill>
                  <a:srgbClr val="1A1F36"/>
                </a:solidFill>
                <a:latin typeface="Georgia" pitchFamily="34" charset="0"/>
                <a:ea typeface="Georgia" pitchFamily="34" charset="-122"/>
                <a:cs typeface="Georgia" pitchFamily="34" charset="-120"/>
              </a:rPr>
              <a:t>Why This Matters for Our Microservices</a:t>
            </a:r>
            <a:endParaRPr lang="en-US" sz="3400" dirty="0"/>
          </a:p>
        </p:txBody>
      </p:sp>
      <p:sp>
        <p:nvSpPr>
          <p:cNvPr id="4" name="Shape 2"/>
          <p:cNvSpPr/>
          <p:nvPr/>
        </p:nvSpPr>
        <p:spPr>
          <a:xfrm>
            <a:off x="457200" y="1188720"/>
            <a:ext cx="3931920" cy="164592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640080" y="1371600"/>
            <a:ext cx="411480" cy="411480"/>
          </a:xfrm>
          <a:prstGeom prst="rect">
            <a:avLst/>
          </a:prstGeom>
        </p:spPr>
      </p:pic>
      <p:sp>
        <p:nvSpPr>
          <p:cNvPr id="6" name="Text 3"/>
          <p:cNvSpPr/>
          <p:nvPr/>
        </p:nvSpPr>
        <p:spPr>
          <a:xfrm>
            <a:off x="1143000" y="1371600"/>
            <a:ext cx="3108960" cy="365760"/>
          </a:xfrm>
          <a:prstGeom prst="rect">
            <a:avLst/>
          </a:prstGeom>
          <a:noFill/>
          <a:ln/>
        </p:spPr>
        <p:txBody>
          <a:bodyPr wrap="square" lIns="0" tIns="0" rIns="0" bIns="0" rtlCol="0" anchor="ctr"/>
          <a:lstStyle/>
          <a:p>
            <a:pPr marL="0" indent="0">
              <a:buNone/>
            </a:pPr>
            <a:r>
              <a:rPr lang="en-US" sz="1600" b="1" dirty="0">
                <a:solidFill>
                  <a:srgbClr val="1A1F36"/>
                </a:solidFill>
                <a:latin typeface="Georgia" pitchFamily="34" charset="0"/>
                <a:ea typeface="Georgia" pitchFamily="34" charset="-122"/>
                <a:cs typeface="Georgia" pitchFamily="34" charset="-120"/>
              </a:rPr>
              <a:t>Cross-Service Context</a:t>
            </a:r>
            <a:endParaRPr lang="en-US" sz="1600" dirty="0"/>
          </a:p>
        </p:txBody>
      </p:sp>
      <p:sp>
        <p:nvSpPr>
          <p:cNvPr id="7" name="Text 4"/>
          <p:cNvSpPr/>
          <p:nvPr/>
        </p:nvSpPr>
        <p:spPr>
          <a:xfrm>
            <a:off x="640080" y="1874520"/>
            <a:ext cx="3566160" cy="822960"/>
          </a:xfrm>
          <a:prstGeom prst="rect">
            <a:avLst/>
          </a:prstGeom>
          <a:noFill/>
          <a:ln/>
        </p:spPr>
        <p:txBody>
          <a:bodyPr wrap="square" rtlCol="0" anchor="ctr"/>
          <a:lstStyle/>
          <a:p>
            <a:pPr marL="0" indent="0">
              <a:buNone/>
            </a:pPr>
            <a:r>
              <a:rPr lang="en-US" sz="1200" dirty="0">
                <a:solidFill>
                  <a:srgbClr val="1A1F36"/>
                </a:solidFill>
                <a:latin typeface="Calibri" pitchFamily="34" charset="0"/>
                <a:ea typeface="Calibri" pitchFamily="34" charset="-122"/>
                <a:cs typeface="Calibri" pitchFamily="34" charset="-120"/>
              </a:rPr>
              <a:t>A single feature may touch 4-5 services. Without context steering, the agent only sees one service at a time.</a:t>
            </a:r>
            <a:endParaRPr lang="en-US" sz="1200" dirty="0"/>
          </a:p>
        </p:txBody>
      </p:sp>
      <p:sp>
        <p:nvSpPr>
          <p:cNvPr id="8" name="Shape 5"/>
          <p:cNvSpPr/>
          <p:nvPr/>
        </p:nvSpPr>
        <p:spPr>
          <a:xfrm>
            <a:off x="4754880" y="1188720"/>
            <a:ext cx="3931920" cy="164592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937760" y="1371600"/>
            <a:ext cx="411480" cy="411480"/>
          </a:xfrm>
          <a:prstGeom prst="rect">
            <a:avLst/>
          </a:prstGeom>
        </p:spPr>
      </p:pic>
      <p:sp>
        <p:nvSpPr>
          <p:cNvPr id="10" name="Text 6"/>
          <p:cNvSpPr/>
          <p:nvPr/>
        </p:nvSpPr>
        <p:spPr>
          <a:xfrm>
            <a:off x="5440680" y="1371600"/>
            <a:ext cx="3108960" cy="365760"/>
          </a:xfrm>
          <a:prstGeom prst="rect">
            <a:avLst/>
          </a:prstGeom>
          <a:noFill/>
          <a:ln/>
        </p:spPr>
        <p:txBody>
          <a:bodyPr wrap="square" lIns="0" tIns="0" rIns="0" bIns="0" rtlCol="0" anchor="ctr"/>
          <a:lstStyle/>
          <a:p>
            <a:pPr marL="0" indent="0">
              <a:buNone/>
            </a:pPr>
            <a:r>
              <a:rPr lang="en-US" sz="1600" b="1" dirty="0">
                <a:solidFill>
                  <a:srgbClr val="1A1F36"/>
                </a:solidFill>
                <a:latin typeface="Georgia" pitchFamily="34" charset="0"/>
                <a:ea typeface="Georgia" pitchFamily="34" charset="-122"/>
                <a:cs typeface="Georgia" pitchFamily="34" charset="-120"/>
              </a:rPr>
              <a:t>Shared Contracts &amp; Schemas</a:t>
            </a:r>
            <a:endParaRPr lang="en-US" sz="1600" dirty="0"/>
          </a:p>
        </p:txBody>
      </p:sp>
      <p:sp>
        <p:nvSpPr>
          <p:cNvPr id="11" name="Text 7"/>
          <p:cNvSpPr/>
          <p:nvPr/>
        </p:nvSpPr>
        <p:spPr>
          <a:xfrm>
            <a:off x="4937760" y="1874520"/>
            <a:ext cx="3566160" cy="822960"/>
          </a:xfrm>
          <a:prstGeom prst="rect">
            <a:avLst/>
          </a:prstGeom>
          <a:noFill/>
          <a:ln/>
        </p:spPr>
        <p:txBody>
          <a:bodyPr wrap="square" rtlCol="0" anchor="ctr"/>
          <a:lstStyle/>
          <a:p>
            <a:pPr marL="0" indent="0">
              <a:buNone/>
            </a:pPr>
            <a:r>
              <a:rPr lang="en-US" sz="1200" dirty="0">
                <a:solidFill>
                  <a:srgbClr val="1A1F36"/>
                </a:solidFill>
                <a:latin typeface="Calibri" pitchFamily="34" charset="0"/>
                <a:ea typeface="Calibri" pitchFamily="34" charset="-122"/>
                <a:cs typeface="Calibri" pitchFamily="34" charset="-120"/>
              </a:rPr>
              <a:t>API contracts, message formats, and shared DTOs must stay consistent. Research agents can map dependencies first.</a:t>
            </a:r>
            <a:endParaRPr lang="en-US" sz="1200" dirty="0"/>
          </a:p>
        </p:txBody>
      </p:sp>
      <p:sp>
        <p:nvSpPr>
          <p:cNvPr id="12" name="Shape 8"/>
          <p:cNvSpPr/>
          <p:nvPr/>
        </p:nvSpPr>
        <p:spPr>
          <a:xfrm>
            <a:off x="457200" y="3108960"/>
            <a:ext cx="3931920" cy="164592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640080" y="3291840"/>
            <a:ext cx="411480" cy="411480"/>
          </a:xfrm>
          <a:prstGeom prst="rect">
            <a:avLst/>
          </a:prstGeom>
        </p:spPr>
      </p:pic>
      <p:sp>
        <p:nvSpPr>
          <p:cNvPr id="14" name="Text 9"/>
          <p:cNvSpPr/>
          <p:nvPr/>
        </p:nvSpPr>
        <p:spPr>
          <a:xfrm>
            <a:off x="1143000" y="3291840"/>
            <a:ext cx="3108960" cy="365760"/>
          </a:xfrm>
          <a:prstGeom prst="rect">
            <a:avLst/>
          </a:prstGeom>
          <a:noFill/>
          <a:ln/>
        </p:spPr>
        <p:txBody>
          <a:bodyPr wrap="square" lIns="0" tIns="0" rIns="0" bIns="0" rtlCol="0" anchor="ctr"/>
          <a:lstStyle/>
          <a:p>
            <a:pPr marL="0" indent="0">
              <a:buNone/>
            </a:pPr>
            <a:r>
              <a:rPr lang="en-US" sz="1600" b="1" dirty="0">
                <a:solidFill>
                  <a:srgbClr val="1A1F36"/>
                </a:solidFill>
                <a:latin typeface="Georgia" pitchFamily="34" charset="0"/>
                <a:ea typeface="Georgia" pitchFamily="34" charset="-122"/>
                <a:cs typeface="Georgia" pitchFamily="34" charset="-120"/>
              </a:rPr>
              <a:t>Complex Data Flows</a:t>
            </a:r>
            <a:endParaRPr lang="en-US" sz="1600" dirty="0"/>
          </a:p>
        </p:txBody>
      </p:sp>
      <p:sp>
        <p:nvSpPr>
          <p:cNvPr id="15" name="Text 10"/>
          <p:cNvSpPr/>
          <p:nvPr/>
        </p:nvSpPr>
        <p:spPr>
          <a:xfrm>
            <a:off x="640080" y="3794760"/>
            <a:ext cx="3566160" cy="822960"/>
          </a:xfrm>
          <a:prstGeom prst="rect">
            <a:avLst/>
          </a:prstGeom>
          <a:noFill/>
          <a:ln/>
        </p:spPr>
        <p:txBody>
          <a:bodyPr wrap="square" rtlCol="0" anchor="ctr"/>
          <a:lstStyle/>
          <a:p>
            <a:pPr marL="0" indent="0">
              <a:buNone/>
            </a:pPr>
            <a:r>
              <a:rPr lang="en-US" sz="1200" dirty="0">
                <a:solidFill>
                  <a:srgbClr val="1A1F36"/>
                </a:solidFill>
                <a:latin typeface="Calibri" pitchFamily="34" charset="0"/>
                <a:ea typeface="Calibri" pitchFamily="34" charset="-122"/>
                <a:cs typeface="Calibri" pitchFamily="34" charset="-120"/>
              </a:rPr>
              <a:t>Events, queues, and async patterns that span services. Plans need to capture the full flow before coding begins.</a:t>
            </a:r>
            <a:endParaRPr lang="en-US" sz="1200" dirty="0"/>
          </a:p>
        </p:txBody>
      </p:sp>
      <p:sp>
        <p:nvSpPr>
          <p:cNvPr id="16" name="Shape 11"/>
          <p:cNvSpPr/>
          <p:nvPr/>
        </p:nvSpPr>
        <p:spPr>
          <a:xfrm>
            <a:off x="4754880" y="3108960"/>
            <a:ext cx="3931920" cy="164592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4937760" y="3291840"/>
            <a:ext cx="411480" cy="411480"/>
          </a:xfrm>
          <a:prstGeom prst="rect">
            <a:avLst/>
          </a:prstGeom>
        </p:spPr>
      </p:pic>
      <p:sp>
        <p:nvSpPr>
          <p:cNvPr id="18" name="Text 12"/>
          <p:cNvSpPr/>
          <p:nvPr/>
        </p:nvSpPr>
        <p:spPr>
          <a:xfrm>
            <a:off x="5440680" y="3291840"/>
            <a:ext cx="3108960" cy="365760"/>
          </a:xfrm>
          <a:prstGeom prst="rect">
            <a:avLst/>
          </a:prstGeom>
          <a:noFill/>
          <a:ln/>
        </p:spPr>
        <p:txBody>
          <a:bodyPr wrap="square" lIns="0" tIns="0" rIns="0" bIns="0" rtlCol="0" anchor="ctr"/>
          <a:lstStyle/>
          <a:p>
            <a:pPr marL="0" indent="0">
              <a:buNone/>
            </a:pPr>
            <a:r>
              <a:rPr lang="en-US" sz="1600" b="1" dirty="0">
                <a:solidFill>
                  <a:srgbClr val="1A1F36"/>
                </a:solidFill>
                <a:latin typeface="Georgia" pitchFamily="34" charset="0"/>
                <a:ea typeface="Georgia" pitchFamily="34" charset="-122"/>
                <a:cs typeface="Georgia" pitchFamily="34" charset="-120"/>
              </a:rPr>
              <a:t>Team Mental Alignment</a:t>
            </a:r>
            <a:endParaRPr lang="en-US" sz="1600" dirty="0"/>
          </a:p>
        </p:txBody>
      </p:sp>
      <p:sp>
        <p:nvSpPr>
          <p:cNvPr id="19" name="Text 13"/>
          <p:cNvSpPr/>
          <p:nvPr/>
        </p:nvSpPr>
        <p:spPr>
          <a:xfrm>
            <a:off x="4937760" y="3794760"/>
            <a:ext cx="3566160" cy="822960"/>
          </a:xfrm>
          <a:prstGeom prst="rect">
            <a:avLst/>
          </a:prstGeom>
          <a:noFill/>
          <a:ln/>
        </p:spPr>
        <p:txBody>
          <a:bodyPr wrap="square" rtlCol="0" anchor="ctr"/>
          <a:lstStyle/>
          <a:p>
            <a:pPr marL="0" indent="0">
              <a:buNone/>
            </a:pPr>
            <a:r>
              <a:rPr lang="en-US" sz="1200" dirty="0">
                <a:solidFill>
                  <a:srgbClr val="1A1F36"/>
                </a:solidFill>
                <a:latin typeface="Calibri" pitchFamily="34" charset="0"/>
                <a:ea typeface="Calibri" pitchFamily="34" charset="-122"/>
                <a:cs typeface="Calibri" pitchFamily="34" charset="-120"/>
              </a:rPr>
              <a:t>When AI writes 90% of the code, specs and plans become the shared language. Review plans, not just PRs.</a:t>
            </a:r>
            <a:endParaRPr lang="en-US" sz="1200" dirty="0"/>
          </a:p>
        </p:txBody>
      </p:sp>
      <p:sp>
        <p:nvSpPr>
          <p:cNvPr id="20" name="Text 14"/>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lIns="0" tIns="0" rIns="0" bIns="0" rtlCol="0" anchor="ctr"/>
          <a:lstStyle/>
          <a:p>
            <a:pPr marL="0" indent="0">
              <a:buNone/>
            </a:pPr>
            <a:r>
              <a:rPr lang="en-US" sz="3400" b="1" dirty="0">
                <a:solidFill>
                  <a:srgbClr val="1A1F36"/>
                </a:solidFill>
                <a:latin typeface="Georgia" pitchFamily="34" charset="0"/>
                <a:ea typeface="Georgia" pitchFamily="34" charset="-122"/>
                <a:cs typeface="Georgia" pitchFamily="34" charset="-120"/>
              </a:rPr>
              <a:t>Tooling: Copilot CLI &amp; Instruction Files</a:t>
            </a:r>
            <a:endParaRPr lang="en-US" sz="3400" dirty="0"/>
          </a:p>
        </p:txBody>
      </p:sp>
      <p:sp>
        <p:nvSpPr>
          <p:cNvPr id="4" name="Shape 2"/>
          <p:cNvSpPr/>
          <p:nvPr/>
        </p:nvSpPr>
        <p:spPr>
          <a:xfrm>
            <a:off x="457200" y="1097280"/>
            <a:ext cx="3931920" cy="338328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457200" y="1097280"/>
            <a:ext cx="73152" cy="3383280"/>
          </a:xfrm>
          <a:prstGeom prst="rect">
            <a:avLst/>
          </a:prstGeom>
          <a:solidFill>
            <a:srgbClr val="4A90D9"/>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77240" y="1234440"/>
            <a:ext cx="365760" cy="365760"/>
          </a:xfrm>
          <a:prstGeom prst="rect">
            <a:avLst/>
          </a:prstGeom>
        </p:spPr>
      </p:pic>
      <p:sp>
        <p:nvSpPr>
          <p:cNvPr id="7" name="Text 4"/>
          <p:cNvSpPr/>
          <p:nvPr/>
        </p:nvSpPr>
        <p:spPr>
          <a:xfrm>
            <a:off x="1234440" y="1234440"/>
            <a:ext cx="2926080" cy="365760"/>
          </a:xfrm>
          <a:prstGeom prst="rect">
            <a:avLst/>
          </a:prstGeom>
          <a:noFill/>
          <a:ln/>
        </p:spPr>
        <p:txBody>
          <a:bodyPr wrap="square" lIns="0" tIns="0" rIns="0" bIns="0" rtlCol="0" anchor="ctr"/>
          <a:lstStyle/>
          <a:p>
            <a:pPr marL="0" indent="0">
              <a:buNone/>
            </a:pPr>
            <a:r>
              <a:rPr lang="en-US" sz="1700" b="1" dirty="0">
                <a:solidFill>
                  <a:srgbClr val="1A1F36"/>
                </a:solidFill>
                <a:latin typeface="Georgia" pitchFamily="34" charset="0"/>
                <a:ea typeface="Georgia" pitchFamily="34" charset="-122"/>
                <a:cs typeface="Georgia" pitchFamily="34" charset="-120"/>
              </a:rPr>
              <a:t>Copilot CLI</a:t>
            </a:r>
            <a:endParaRPr lang="en-US" sz="1700" dirty="0"/>
          </a:p>
        </p:txBody>
      </p:sp>
      <p:sp>
        <p:nvSpPr>
          <p:cNvPr id="8" name="Text 5"/>
          <p:cNvSpPr/>
          <p:nvPr/>
        </p:nvSpPr>
        <p:spPr>
          <a:xfrm>
            <a:off x="777240" y="1737360"/>
            <a:ext cx="3383280" cy="2743200"/>
          </a:xfrm>
          <a:prstGeom prst="rect">
            <a:avLst/>
          </a:prstGeom>
          <a:noFill/>
          <a:ln/>
        </p:spPr>
        <p:txBody>
          <a:bodyPr wrap="square" rtlCol="0" anchor="ctr"/>
          <a:lstStyle/>
          <a:p>
            <a:pPr marL="0" indent="0">
              <a:spcAft>
                <a:spcPts val="200"/>
              </a:spcAft>
              <a:buNone/>
            </a:pPr>
            <a:r>
              <a:rPr lang="en-US" sz="1300" b="1" dirty="0">
                <a:solidFill>
                  <a:srgbClr val="1A1F36"/>
                </a:solidFill>
                <a:latin typeface="Calibri" pitchFamily="34" charset="0"/>
                <a:ea typeface="Calibri" pitchFamily="34" charset="-122"/>
                <a:cs typeface="Calibri" pitchFamily="34" charset="-120"/>
              </a:rPr>
              <a:t>Install:</a:t>
            </a:r>
            <a:endParaRPr lang="en-US" sz="1300" dirty="0"/>
          </a:p>
          <a:p>
            <a:pPr marL="0" indent="0">
              <a:spcAft>
                <a:spcPts val="200"/>
              </a:spcAft>
              <a:buNone/>
            </a:pPr>
            <a:r>
              <a:rPr lang="en-US" sz="1100" dirty="0">
                <a:solidFill>
                  <a:srgbClr val="1A1F36"/>
                </a:solidFill>
                <a:latin typeface="Consolas" pitchFamily="34" charset="0"/>
                <a:ea typeface="Consolas" pitchFamily="34" charset="-122"/>
                <a:cs typeface="Consolas" pitchFamily="34" charset="-120"/>
              </a:rPr>
              <a:t xml:space="preserve">  npm install -g @github/copilot</a:t>
            </a:r>
            <a:endParaRPr lang="en-US" sz="1300" dirty="0"/>
          </a:p>
          <a:p>
            <a:pPr marL="0" indent="0">
              <a:spcAft>
                <a:spcPts val="200"/>
              </a:spcAft>
              <a:buNone/>
            </a:pPr>
            <a:endParaRPr lang="en-US" sz="1300" dirty="0"/>
          </a:p>
          <a:p>
            <a:pPr marL="0" indent="0">
              <a:spcAft>
                <a:spcPts val="200"/>
              </a:spcAft>
              <a:buNone/>
            </a:pPr>
            <a:r>
              <a:rPr lang="en-US" sz="1300" b="1" dirty="0">
                <a:solidFill>
                  <a:srgbClr val="1A1F36"/>
                </a:solidFill>
                <a:latin typeface="Calibri" pitchFamily="34" charset="0"/>
                <a:ea typeface="Calibri" pitchFamily="34" charset="-122"/>
                <a:cs typeface="Calibri" pitchFamily="34" charset="-120"/>
              </a:rPr>
              <a:t>Key Commands:</a:t>
            </a:r>
            <a:endParaRPr lang="en-US" sz="1300" dirty="0"/>
          </a:p>
          <a:p>
            <a:pPr marL="0" indent="0">
              <a:spcAft>
                <a:spcPts val="200"/>
              </a:spcAft>
              <a:buNone/>
            </a:pPr>
            <a:r>
              <a:rPr lang="en-US" sz="1100" dirty="0">
                <a:solidFill>
                  <a:srgbClr val="1A1F36"/>
                </a:solidFill>
                <a:latin typeface="Consolas" pitchFamily="34" charset="0"/>
                <a:ea typeface="Consolas" pitchFamily="34" charset="-122"/>
                <a:cs typeface="Consolas" pitchFamily="34" charset="-120"/>
              </a:rPr>
              <a:t xml:space="preserve">  /model  — select AI model</a:t>
            </a:r>
            <a:endParaRPr lang="en-US" sz="1300" dirty="0"/>
          </a:p>
          <a:p>
            <a:pPr marL="0" indent="0">
              <a:spcAft>
                <a:spcPts val="200"/>
              </a:spcAft>
              <a:buNone/>
            </a:pPr>
            <a:r>
              <a:rPr lang="en-US" sz="1100" dirty="0">
                <a:solidFill>
                  <a:srgbClr val="1A1F36"/>
                </a:solidFill>
                <a:latin typeface="Consolas" pitchFamily="34" charset="0"/>
                <a:ea typeface="Consolas" pitchFamily="34" charset="-122"/>
                <a:cs typeface="Consolas" pitchFamily="34" charset="-120"/>
              </a:rPr>
              <a:t xml:space="preserve">  /init   — setup instructions</a:t>
            </a:r>
            <a:endParaRPr lang="en-US" sz="1300" dirty="0"/>
          </a:p>
          <a:p>
            <a:pPr marL="0" indent="0">
              <a:spcAft>
                <a:spcPts val="200"/>
              </a:spcAft>
              <a:buNone/>
            </a:pPr>
            <a:r>
              <a:rPr lang="en-US" sz="1100" dirty="0">
                <a:solidFill>
                  <a:srgbClr val="1A1F36"/>
                </a:solidFill>
                <a:latin typeface="Consolas" pitchFamily="34" charset="0"/>
                <a:ea typeface="Consolas" pitchFamily="34" charset="-122"/>
                <a:cs typeface="Consolas" pitchFamily="34" charset="-120"/>
              </a:rPr>
              <a:t xml:space="preserve">  @file   — include files in context</a:t>
            </a:r>
            <a:endParaRPr lang="en-US" sz="1300" dirty="0"/>
          </a:p>
          <a:p>
            <a:pPr marL="0" indent="0">
              <a:spcAft>
                <a:spcPts val="200"/>
              </a:spcAft>
              <a:buNone/>
            </a:pPr>
            <a:endParaRPr lang="en-US" sz="1300" dirty="0"/>
          </a:p>
          <a:p>
            <a:pPr marL="0" indent="0">
              <a:spcAft>
                <a:spcPts val="200"/>
              </a:spcAft>
              <a:buNone/>
            </a:pPr>
            <a:r>
              <a:rPr lang="en-US" sz="1300" i="1" dirty="0">
                <a:solidFill>
                  <a:srgbClr val="1A1F36"/>
                </a:solidFill>
                <a:latin typeface="Calibri" pitchFamily="34" charset="0"/>
                <a:ea typeface="Calibri" pitchFamily="34" charset="-122"/>
                <a:cs typeface="Calibri" pitchFamily="34" charset="-120"/>
              </a:rPr>
              <a:t>Reads instruction files automatically from the repo.</a:t>
            </a:r>
            <a:endParaRPr lang="en-US" sz="1300" dirty="0"/>
          </a:p>
        </p:txBody>
      </p:sp>
      <p:sp>
        <p:nvSpPr>
          <p:cNvPr id="9" name="Shape 6"/>
          <p:cNvSpPr/>
          <p:nvPr/>
        </p:nvSpPr>
        <p:spPr>
          <a:xfrm>
            <a:off x="4754880" y="1097280"/>
            <a:ext cx="3931920" cy="338328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10" name="Shape 7"/>
          <p:cNvSpPr/>
          <p:nvPr/>
        </p:nvSpPr>
        <p:spPr>
          <a:xfrm>
            <a:off x="4754880" y="1097280"/>
            <a:ext cx="73152" cy="3383280"/>
          </a:xfrm>
          <a:prstGeom prst="rect">
            <a:avLst/>
          </a:prstGeom>
          <a:solidFill>
            <a:srgbClr val="4A90D9"/>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74920" y="1234440"/>
            <a:ext cx="365760" cy="365760"/>
          </a:xfrm>
          <a:prstGeom prst="rect">
            <a:avLst/>
          </a:prstGeom>
        </p:spPr>
      </p:pic>
      <p:sp>
        <p:nvSpPr>
          <p:cNvPr id="12" name="Text 8"/>
          <p:cNvSpPr/>
          <p:nvPr/>
        </p:nvSpPr>
        <p:spPr>
          <a:xfrm>
            <a:off x="5532120" y="1234440"/>
            <a:ext cx="3017520" cy="365760"/>
          </a:xfrm>
          <a:prstGeom prst="rect">
            <a:avLst/>
          </a:prstGeom>
          <a:noFill/>
          <a:ln/>
        </p:spPr>
        <p:txBody>
          <a:bodyPr wrap="square" lIns="0" tIns="0" rIns="0" bIns="0" rtlCol="0" anchor="ctr"/>
          <a:lstStyle/>
          <a:p>
            <a:pPr marL="0" indent="0">
              <a:buNone/>
            </a:pPr>
            <a:r>
              <a:rPr lang="en-US" sz="1700" b="1" dirty="0">
                <a:solidFill>
                  <a:srgbClr val="1A1F36"/>
                </a:solidFill>
                <a:latin typeface="Georgia" pitchFamily="34" charset="0"/>
                <a:ea typeface="Georgia" pitchFamily="34" charset="-122"/>
                <a:cs typeface="Georgia" pitchFamily="34" charset="-120"/>
              </a:rPr>
              <a:t>Instruction File Hierarchy</a:t>
            </a:r>
            <a:endParaRPr lang="en-US" sz="1700" dirty="0"/>
          </a:p>
        </p:txBody>
      </p:sp>
      <p:sp>
        <p:nvSpPr>
          <p:cNvPr id="13" name="Text 9"/>
          <p:cNvSpPr/>
          <p:nvPr/>
        </p:nvSpPr>
        <p:spPr>
          <a:xfrm>
            <a:off x="5074920" y="1783080"/>
            <a:ext cx="274320" cy="320040"/>
          </a:xfrm>
          <a:prstGeom prst="rect">
            <a:avLst/>
          </a:prstGeom>
          <a:noFill/>
          <a:ln/>
        </p:spPr>
        <p:txBody>
          <a:bodyPr wrap="square" rtlCol="0" anchor="ctr"/>
          <a:lstStyle/>
          <a:p>
            <a:pPr marL="0" indent="0" algn="ctr">
              <a:buNone/>
            </a:pPr>
            <a:r>
              <a:rPr lang="en-US" sz="1300" b="1" dirty="0">
                <a:solidFill>
                  <a:srgbClr val="4A90D9"/>
                </a:solidFill>
                <a:latin typeface="Georgia" pitchFamily="34" charset="0"/>
                <a:ea typeface="Georgia" pitchFamily="34" charset="-122"/>
                <a:cs typeface="Georgia" pitchFamily="34" charset="-120"/>
              </a:rPr>
              <a:t>1.</a:t>
            </a:r>
            <a:endParaRPr lang="en-US" sz="1300" dirty="0"/>
          </a:p>
        </p:txBody>
      </p:sp>
      <p:sp>
        <p:nvSpPr>
          <p:cNvPr id="14" name="Text 10"/>
          <p:cNvSpPr/>
          <p:nvPr/>
        </p:nvSpPr>
        <p:spPr>
          <a:xfrm>
            <a:off x="5349240" y="1783080"/>
            <a:ext cx="3200400" cy="320040"/>
          </a:xfrm>
          <a:prstGeom prst="rect">
            <a:avLst/>
          </a:prstGeom>
          <a:noFill/>
          <a:ln/>
        </p:spPr>
        <p:txBody>
          <a:bodyPr wrap="square" rtlCol="0" anchor="ctr"/>
          <a:lstStyle/>
          <a:p>
            <a:pPr marL="0" indent="0">
              <a:buNone/>
            </a:pPr>
            <a:r>
              <a:rPr lang="en-US" sz="1100" dirty="0">
                <a:solidFill>
                  <a:srgbClr val="1A1F36"/>
                </a:solidFill>
                <a:latin typeface="Consolas" pitchFamily="34" charset="0"/>
                <a:ea typeface="Consolas" pitchFamily="34" charset="-122"/>
                <a:cs typeface="Consolas" pitchFamily="34" charset="-120"/>
              </a:rPr>
              <a:t>CLAUDE.md / AGENTS.md (git root)</a:t>
            </a:r>
            <a:endParaRPr lang="en-US" sz="1100" dirty="0"/>
          </a:p>
        </p:txBody>
      </p:sp>
      <p:sp>
        <p:nvSpPr>
          <p:cNvPr id="15" name="Text 11"/>
          <p:cNvSpPr/>
          <p:nvPr/>
        </p:nvSpPr>
        <p:spPr>
          <a:xfrm>
            <a:off x="5074920" y="2286000"/>
            <a:ext cx="274320" cy="320040"/>
          </a:xfrm>
          <a:prstGeom prst="rect">
            <a:avLst/>
          </a:prstGeom>
          <a:noFill/>
          <a:ln/>
        </p:spPr>
        <p:txBody>
          <a:bodyPr wrap="square" rtlCol="0" anchor="ctr"/>
          <a:lstStyle/>
          <a:p>
            <a:pPr marL="0" indent="0" algn="ctr">
              <a:buNone/>
            </a:pPr>
            <a:r>
              <a:rPr lang="en-US" sz="1300" b="1" dirty="0">
                <a:solidFill>
                  <a:srgbClr val="4A90D9"/>
                </a:solidFill>
                <a:latin typeface="Georgia" pitchFamily="34" charset="0"/>
                <a:ea typeface="Georgia" pitchFamily="34" charset="-122"/>
                <a:cs typeface="Georgia" pitchFamily="34" charset="-120"/>
              </a:rPr>
              <a:t>2.</a:t>
            </a:r>
            <a:endParaRPr lang="en-US" sz="1300" dirty="0"/>
          </a:p>
        </p:txBody>
      </p:sp>
      <p:sp>
        <p:nvSpPr>
          <p:cNvPr id="16" name="Text 12"/>
          <p:cNvSpPr/>
          <p:nvPr/>
        </p:nvSpPr>
        <p:spPr>
          <a:xfrm>
            <a:off x="5349240" y="2286000"/>
            <a:ext cx="3200400" cy="320040"/>
          </a:xfrm>
          <a:prstGeom prst="rect">
            <a:avLst/>
          </a:prstGeom>
          <a:noFill/>
          <a:ln/>
        </p:spPr>
        <p:txBody>
          <a:bodyPr wrap="square" rtlCol="0" anchor="ctr"/>
          <a:lstStyle/>
          <a:p>
            <a:pPr marL="0" indent="0">
              <a:buNone/>
            </a:pPr>
            <a:r>
              <a:rPr lang="en-US" sz="1100" dirty="0">
                <a:solidFill>
                  <a:srgbClr val="1A1F36"/>
                </a:solidFill>
                <a:latin typeface="Consolas" pitchFamily="34" charset="0"/>
                <a:ea typeface="Consolas" pitchFamily="34" charset="-122"/>
                <a:cs typeface="Consolas" pitchFamily="34" charset="-120"/>
              </a:rPr>
              <a:t>.github/instructions/**/*.instructions.md</a:t>
            </a:r>
            <a:endParaRPr lang="en-US" sz="1100" dirty="0"/>
          </a:p>
        </p:txBody>
      </p:sp>
      <p:sp>
        <p:nvSpPr>
          <p:cNvPr id="17" name="Text 13"/>
          <p:cNvSpPr/>
          <p:nvPr/>
        </p:nvSpPr>
        <p:spPr>
          <a:xfrm>
            <a:off x="5074920" y="2788920"/>
            <a:ext cx="274320" cy="320040"/>
          </a:xfrm>
          <a:prstGeom prst="rect">
            <a:avLst/>
          </a:prstGeom>
          <a:noFill/>
          <a:ln/>
        </p:spPr>
        <p:txBody>
          <a:bodyPr wrap="square" rtlCol="0" anchor="ctr"/>
          <a:lstStyle/>
          <a:p>
            <a:pPr marL="0" indent="0" algn="ctr">
              <a:buNone/>
            </a:pPr>
            <a:r>
              <a:rPr lang="en-US" sz="1300" b="1" dirty="0">
                <a:solidFill>
                  <a:srgbClr val="4A90D9"/>
                </a:solidFill>
                <a:latin typeface="Georgia" pitchFamily="34" charset="0"/>
                <a:ea typeface="Georgia" pitchFamily="34" charset="-122"/>
                <a:cs typeface="Georgia" pitchFamily="34" charset="-120"/>
              </a:rPr>
              <a:t>3.</a:t>
            </a:r>
            <a:endParaRPr lang="en-US" sz="1300" dirty="0"/>
          </a:p>
        </p:txBody>
      </p:sp>
      <p:sp>
        <p:nvSpPr>
          <p:cNvPr id="18" name="Text 14"/>
          <p:cNvSpPr/>
          <p:nvPr/>
        </p:nvSpPr>
        <p:spPr>
          <a:xfrm>
            <a:off x="5349240" y="2788920"/>
            <a:ext cx="3200400" cy="320040"/>
          </a:xfrm>
          <a:prstGeom prst="rect">
            <a:avLst/>
          </a:prstGeom>
          <a:noFill/>
          <a:ln/>
        </p:spPr>
        <p:txBody>
          <a:bodyPr wrap="square" rtlCol="0" anchor="ctr"/>
          <a:lstStyle/>
          <a:p>
            <a:pPr marL="0" indent="0">
              <a:buNone/>
            </a:pPr>
            <a:r>
              <a:rPr lang="en-US" sz="1100" dirty="0">
                <a:solidFill>
                  <a:srgbClr val="1A1F36"/>
                </a:solidFill>
                <a:latin typeface="Consolas" pitchFamily="34" charset="0"/>
                <a:ea typeface="Consolas" pitchFamily="34" charset="-122"/>
                <a:cs typeface="Consolas" pitchFamily="34" charset="-120"/>
              </a:rPr>
              <a:t>.github/copilot-instructions.md</a:t>
            </a:r>
            <a:endParaRPr lang="en-US" sz="1100" dirty="0"/>
          </a:p>
        </p:txBody>
      </p:sp>
      <p:sp>
        <p:nvSpPr>
          <p:cNvPr id="19" name="Text 15"/>
          <p:cNvSpPr/>
          <p:nvPr/>
        </p:nvSpPr>
        <p:spPr>
          <a:xfrm>
            <a:off x="5074920" y="3291840"/>
            <a:ext cx="274320" cy="320040"/>
          </a:xfrm>
          <a:prstGeom prst="rect">
            <a:avLst/>
          </a:prstGeom>
          <a:noFill/>
          <a:ln/>
        </p:spPr>
        <p:txBody>
          <a:bodyPr wrap="square" rtlCol="0" anchor="ctr"/>
          <a:lstStyle/>
          <a:p>
            <a:pPr marL="0" indent="0" algn="ctr">
              <a:buNone/>
            </a:pPr>
            <a:r>
              <a:rPr lang="en-US" sz="1300" b="1" dirty="0">
                <a:solidFill>
                  <a:srgbClr val="4A90D9"/>
                </a:solidFill>
                <a:latin typeface="Georgia" pitchFamily="34" charset="0"/>
                <a:ea typeface="Georgia" pitchFamily="34" charset="-122"/>
                <a:cs typeface="Georgia" pitchFamily="34" charset="-120"/>
              </a:rPr>
              <a:t>4.</a:t>
            </a:r>
            <a:endParaRPr lang="en-US" sz="1300" dirty="0"/>
          </a:p>
        </p:txBody>
      </p:sp>
      <p:sp>
        <p:nvSpPr>
          <p:cNvPr id="20" name="Text 16"/>
          <p:cNvSpPr/>
          <p:nvPr/>
        </p:nvSpPr>
        <p:spPr>
          <a:xfrm>
            <a:off x="5349240" y="3291840"/>
            <a:ext cx="3200400" cy="320040"/>
          </a:xfrm>
          <a:prstGeom prst="rect">
            <a:avLst/>
          </a:prstGeom>
          <a:noFill/>
          <a:ln/>
        </p:spPr>
        <p:txBody>
          <a:bodyPr wrap="square" rtlCol="0" anchor="ctr"/>
          <a:lstStyle/>
          <a:p>
            <a:pPr marL="0" indent="0">
              <a:buNone/>
            </a:pPr>
            <a:r>
              <a:rPr lang="en-US" sz="1100" dirty="0">
                <a:solidFill>
                  <a:srgbClr val="1A1F36"/>
                </a:solidFill>
                <a:latin typeface="Consolas" pitchFamily="34" charset="0"/>
                <a:ea typeface="Consolas" pitchFamily="34" charset="-122"/>
                <a:cs typeface="Consolas" pitchFamily="34" charset="-120"/>
              </a:rPr>
              <a:t>$HOME/.copilot/copilot-instructions.md</a:t>
            </a:r>
            <a:endParaRPr lang="en-US" sz="1100" dirty="0"/>
          </a:p>
        </p:txBody>
      </p:sp>
      <p:sp>
        <p:nvSpPr>
          <p:cNvPr id="21" name="Text 17"/>
          <p:cNvSpPr/>
          <p:nvPr/>
        </p:nvSpPr>
        <p:spPr>
          <a:xfrm>
            <a:off x="5074920" y="3794760"/>
            <a:ext cx="274320" cy="320040"/>
          </a:xfrm>
          <a:prstGeom prst="rect">
            <a:avLst/>
          </a:prstGeom>
          <a:noFill/>
          <a:ln/>
        </p:spPr>
        <p:txBody>
          <a:bodyPr wrap="square" rtlCol="0" anchor="ctr"/>
          <a:lstStyle/>
          <a:p>
            <a:pPr marL="0" indent="0" algn="ctr">
              <a:buNone/>
            </a:pPr>
            <a:r>
              <a:rPr lang="en-US" sz="1300" b="1" dirty="0">
                <a:solidFill>
                  <a:srgbClr val="4A90D9"/>
                </a:solidFill>
                <a:latin typeface="Georgia" pitchFamily="34" charset="0"/>
                <a:ea typeface="Georgia" pitchFamily="34" charset="-122"/>
                <a:cs typeface="Georgia" pitchFamily="34" charset="-120"/>
              </a:rPr>
              <a:t>5.</a:t>
            </a:r>
            <a:endParaRPr lang="en-US" sz="1300" dirty="0"/>
          </a:p>
        </p:txBody>
      </p:sp>
      <p:sp>
        <p:nvSpPr>
          <p:cNvPr id="22" name="Text 18"/>
          <p:cNvSpPr/>
          <p:nvPr/>
        </p:nvSpPr>
        <p:spPr>
          <a:xfrm>
            <a:off x="5349240" y="3794760"/>
            <a:ext cx="3200400" cy="320040"/>
          </a:xfrm>
          <a:prstGeom prst="rect">
            <a:avLst/>
          </a:prstGeom>
          <a:noFill/>
          <a:ln/>
        </p:spPr>
        <p:txBody>
          <a:bodyPr wrap="square" rtlCol="0" anchor="ctr"/>
          <a:lstStyle/>
          <a:p>
            <a:pPr marL="0" indent="0">
              <a:buNone/>
            </a:pPr>
            <a:r>
              <a:rPr lang="en-US" sz="1100" dirty="0">
                <a:solidFill>
                  <a:srgbClr val="1A1F36"/>
                </a:solidFill>
                <a:latin typeface="Consolas" pitchFamily="34" charset="0"/>
                <a:ea typeface="Consolas" pitchFamily="34" charset="-122"/>
                <a:cs typeface="Consolas" pitchFamily="34" charset="-120"/>
              </a:rPr>
              <a:t>COPILOT_CUSTOM_INSTRUCTIONS_DIRS</a:t>
            </a:r>
            <a:endParaRPr lang="en-US" sz="1100" dirty="0"/>
          </a:p>
        </p:txBody>
      </p:sp>
      <p:sp>
        <p:nvSpPr>
          <p:cNvPr id="23" name="Text 19"/>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The .github Folder: Your AI Config</a:t>
            </a:r>
            <a:endParaRPr lang="en-US" sz="3400" dirty="0"/>
          </a:p>
        </p:txBody>
      </p:sp>
      <p:sp>
        <p:nvSpPr>
          <p:cNvPr id="3" name="Shape 1"/>
          <p:cNvSpPr/>
          <p:nvPr/>
        </p:nvSpPr>
        <p:spPr>
          <a:xfrm>
            <a:off x="457200" y="1097280"/>
            <a:ext cx="3931920" cy="338328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731520" y="1234440"/>
            <a:ext cx="365760" cy="365760"/>
          </a:xfrm>
          <a:prstGeom prst="rect">
            <a:avLst/>
          </a:prstGeom>
        </p:spPr>
      </p:pic>
      <p:sp>
        <p:nvSpPr>
          <p:cNvPr id="5" name="Text 2"/>
          <p:cNvSpPr/>
          <p:nvPr/>
        </p:nvSpPr>
        <p:spPr>
          <a:xfrm>
            <a:off x="1188720" y="1234440"/>
            <a:ext cx="2926080" cy="36576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Folder Structure</a:t>
            </a:r>
            <a:endParaRPr lang="en-US" sz="1700" dirty="0"/>
          </a:p>
        </p:txBody>
      </p:sp>
      <p:sp>
        <p:nvSpPr>
          <p:cNvPr id="6" name="Text 3"/>
          <p:cNvSpPr/>
          <p:nvPr/>
        </p:nvSpPr>
        <p:spPr>
          <a:xfrm>
            <a:off x="731520" y="1783080"/>
            <a:ext cx="3474720" cy="2743200"/>
          </a:xfrm>
          <a:prstGeom prst="rect">
            <a:avLst/>
          </a:prstGeom>
          <a:noFill/>
          <a:ln/>
        </p:spPr>
        <p:txBody>
          <a:bodyPr wrap="square" rtlCol="0" anchor="t"/>
          <a:lstStyle/>
          <a:p>
            <a:pPr marL="0" indent="0">
              <a:spcAft>
                <a:spcPts val="200"/>
              </a:spcAft>
              <a:buNone/>
            </a:pPr>
            <a:r>
              <a:rPr lang="en-US" sz="1200" dirty="0">
                <a:solidFill>
                  <a:srgbClr val="CADCFC"/>
                </a:solidFill>
                <a:latin typeface="Consolas" pitchFamily="34" charset="0"/>
                <a:ea typeface="Consolas" pitchFamily="34" charset="-122"/>
                <a:cs typeface="Consolas" pitchFamily="34" charset="-120"/>
              </a:rPr>
              <a:t>.github/</a:t>
            </a:r>
            <a:endParaRPr lang="en-US" sz="1200" dirty="0"/>
          </a:p>
          <a:p>
            <a:pPr marL="0" indent="0">
              <a:spcAft>
                <a:spcPts val="200"/>
              </a:spcAft>
              <a:buNone/>
            </a:pPr>
            <a:r>
              <a:rPr lang="en-US" sz="1200" dirty="0">
                <a:solidFill>
                  <a:srgbClr val="CADCFC"/>
                </a:solidFill>
                <a:latin typeface="Consolas" pitchFamily="34" charset="0"/>
                <a:ea typeface="Consolas" pitchFamily="34" charset="-122"/>
                <a:cs typeface="Consolas" pitchFamily="34" charset="-120"/>
              </a:rPr>
              <a:t xml:space="preserve">  agents/              # Specialized subagents</a:t>
            </a:r>
            <a:endParaRPr lang="en-US" sz="1200" dirty="0"/>
          </a:p>
          <a:p>
            <a:pPr marL="0" indent="0">
              <a:spcAft>
                <a:spcPts val="200"/>
              </a:spcAft>
              <a:buNone/>
            </a:pPr>
            <a:r>
              <a:rPr lang="en-US" sz="1200" dirty="0">
                <a:solidFill>
                  <a:srgbClr val="CADCFC"/>
                </a:solidFill>
                <a:latin typeface="Consolas" pitchFamily="34" charset="0"/>
                <a:ea typeface="Consolas" pitchFamily="34" charset="-122"/>
                <a:cs typeface="Consolas" pitchFamily="34" charset="-120"/>
              </a:rPr>
              <a:t xml:space="preserve">  commands/            # Slash commands  </a:t>
            </a:r>
            <a:endParaRPr lang="en-US" sz="1200" dirty="0"/>
          </a:p>
          <a:p>
            <a:pPr marL="0" indent="0">
              <a:spcAft>
                <a:spcPts val="200"/>
              </a:spcAft>
              <a:buNone/>
            </a:pPr>
            <a:r>
              <a:rPr lang="en-US" sz="1200" dirty="0">
                <a:solidFill>
                  <a:srgbClr val="CADCFC"/>
                </a:solidFill>
                <a:latin typeface="Consolas" pitchFamily="34" charset="0"/>
                <a:ea typeface="Consolas" pitchFamily="34" charset="-122"/>
                <a:cs typeface="Consolas" pitchFamily="34" charset="-120"/>
              </a:rPr>
              <a:t xml:space="preserve">  prompts/             # Reusable templates</a:t>
            </a:r>
            <a:endParaRPr lang="en-US" sz="1200" dirty="0"/>
          </a:p>
          <a:p>
            <a:pPr marL="0" indent="0">
              <a:spcAft>
                <a:spcPts val="200"/>
              </a:spcAft>
              <a:buNone/>
            </a:pPr>
            <a:r>
              <a:rPr lang="en-US" sz="1200" dirty="0">
                <a:solidFill>
                  <a:srgbClr val="CADCFC"/>
                </a:solidFill>
                <a:latin typeface="Consolas" pitchFamily="34" charset="0"/>
                <a:ea typeface="Consolas" pitchFamily="34" charset="-122"/>
                <a:cs typeface="Consolas" pitchFamily="34" charset="-120"/>
              </a:rPr>
              <a:t xml:space="preserve">  skills/              # Extended capabilities</a:t>
            </a:r>
            <a:endParaRPr lang="en-US" sz="1200" dirty="0"/>
          </a:p>
          <a:p>
            <a:pPr marL="0" indent="0">
              <a:spcAft>
                <a:spcPts val="200"/>
              </a:spcAft>
              <a:buNone/>
            </a:pPr>
            <a:r>
              <a:rPr lang="en-US" sz="1200" dirty="0">
                <a:solidFill>
                  <a:srgbClr val="CADCFC"/>
                </a:solidFill>
                <a:latin typeface="Consolas" pitchFamily="34" charset="0"/>
                <a:ea typeface="Consolas" pitchFamily="34" charset="-122"/>
                <a:cs typeface="Consolas" pitchFamily="34" charset="-120"/>
              </a:rPr>
              <a:t xml:space="preserve">  copilot-instructions.md</a:t>
            </a:r>
            <a:endParaRPr lang="en-US" sz="1200" dirty="0"/>
          </a:p>
        </p:txBody>
      </p:sp>
      <p:sp>
        <p:nvSpPr>
          <p:cNvPr id="7" name="Shape 4"/>
          <p:cNvSpPr/>
          <p:nvPr/>
        </p:nvSpPr>
        <p:spPr>
          <a:xfrm>
            <a:off x="4754880" y="1097280"/>
            <a:ext cx="3931920" cy="338328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sp>
        <p:nvSpPr>
          <p:cNvPr id="8" name="Text 5"/>
          <p:cNvSpPr/>
          <p:nvPr/>
        </p:nvSpPr>
        <p:spPr>
          <a:xfrm>
            <a:off x="5029200" y="1234440"/>
            <a:ext cx="3474720" cy="274320"/>
          </a:xfrm>
          <a:prstGeom prst="rect">
            <a:avLst/>
          </a:prstGeom>
          <a:noFill/>
          <a:ln/>
        </p:spPr>
        <p:txBody>
          <a:bodyPr wrap="square" rtlCol="0" anchor="ctr"/>
          <a:lstStyle/>
          <a:p>
            <a:pPr marL="0" indent="0">
              <a:buNone/>
            </a:pPr>
            <a:r>
              <a:rPr lang="en-US" sz="1300" b="1" dirty="0">
                <a:solidFill>
                  <a:srgbClr val="5BA3F5"/>
                </a:solidFill>
                <a:latin typeface="Consolas" pitchFamily="34" charset="0"/>
                <a:ea typeface="Consolas" pitchFamily="34" charset="-122"/>
                <a:cs typeface="Consolas" pitchFamily="34" charset="-120"/>
              </a:rPr>
              <a:t>agents/</a:t>
            </a:r>
            <a:endParaRPr lang="en-US" sz="1300" dirty="0"/>
          </a:p>
        </p:txBody>
      </p:sp>
      <p:sp>
        <p:nvSpPr>
          <p:cNvPr id="9" name="Text 6"/>
          <p:cNvSpPr/>
          <p:nvPr/>
        </p:nvSpPr>
        <p:spPr>
          <a:xfrm>
            <a:off x="5029200" y="1508760"/>
            <a:ext cx="3474720" cy="32004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Specialized helpers for research, analysis, pattern-finding</a:t>
            </a:r>
            <a:endParaRPr lang="en-US" sz="1100" dirty="0"/>
          </a:p>
        </p:txBody>
      </p:sp>
      <p:sp>
        <p:nvSpPr>
          <p:cNvPr id="10" name="Text 7"/>
          <p:cNvSpPr/>
          <p:nvPr/>
        </p:nvSpPr>
        <p:spPr>
          <a:xfrm>
            <a:off x="5029200" y="1920240"/>
            <a:ext cx="3474720" cy="274320"/>
          </a:xfrm>
          <a:prstGeom prst="rect">
            <a:avLst/>
          </a:prstGeom>
          <a:noFill/>
          <a:ln/>
        </p:spPr>
        <p:txBody>
          <a:bodyPr wrap="square" rtlCol="0" anchor="ctr"/>
          <a:lstStyle/>
          <a:p>
            <a:pPr marL="0" indent="0">
              <a:buNone/>
            </a:pPr>
            <a:r>
              <a:rPr lang="en-US" sz="1300" b="1" dirty="0">
                <a:solidFill>
                  <a:srgbClr val="5BA3F5"/>
                </a:solidFill>
                <a:latin typeface="Consolas" pitchFamily="34" charset="0"/>
                <a:ea typeface="Consolas" pitchFamily="34" charset="-122"/>
                <a:cs typeface="Consolas" pitchFamily="34" charset="-120"/>
              </a:rPr>
              <a:t>commands/</a:t>
            </a:r>
            <a:endParaRPr lang="en-US" sz="1300" dirty="0"/>
          </a:p>
        </p:txBody>
      </p:sp>
      <p:sp>
        <p:nvSpPr>
          <p:cNvPr id="11" name="Text 8"/>
          <p:cNvSpPr/>
          <p:nvPr/>
        </p:nvSpPr>
        <p:spPr>
          <a:xfrm>
            <a:off x="5029200" y="2194560"/>
            <a:ext cx="3474720" cy="32004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Interactive /slash workflows: /create_plan, /commit</a:t>
            </a:r>
            <a:endParaRPr lang="en-US" sz="1100" dirty="0"/>
          </a:p>
        </p:txBody>
      </p:sp>
      <p:sp>
        <p:nvSpPr>
          <p:cNvPr id="12" name="Text 9"/>
          <p:cNvSpPr/>
          <p:nvPr/>
        </p:nvSpPr>
        <p:spPr>
          <a:xfrm>
            <a:off x="5029200" y="2606040"/>
            <a:ext cx="3474720" cy="274320"/>
          </a:xfrm>
          <a:prstGeom prst="rect">
            <a:avLst/>
          </a:prstGeom>
          <a:noFill/>
          <a:ln/>
        </p:spPr>
        <p:txBody>
          <a:bodyPr wrap="square" rtlCol="0" anchor="ctr"/>
          <a:lstStyle/>
          <a:p>
            <a:pPr marL="0" indent="0">
              <a:buNone/>
            </a:pPr>
            <a:r>
              <a:rPr lang="en-US" sz="1300" b="1" dirty="0">
                <a:solidFill>
                  <a:srgbClr val="5BA3F5"/>
                </a:solidFill>
                <a:latin typeface="Consolas" pitchFamily="34" charset="0"/>
                <a:ea typeface="Consolas" pitchFamily="34" charset="-122"/>
                <a:cs typeface="Consolas" pitchFamily="34" charset="-120"/>
              </a:rPr>
              <a:t>prompts/</a:t>
            </a:r>
            <a:endParaRPr lang="en-US" sz="1300" dirty="0"/>
          </a:p>
        </p:txBody>
      </p:sp>
      <p:sp>
        <p:nvSpPr>
          <p:cNvPr id="13" name="Text 10"/>
          <p:cNvSpPr/>
          <p:nvPr/>
        </p:nvSpPr>
        <p:spPr>
          <a:xfrm>
            <a:off x="5029200" y="2880360"/>
            <a:ext cx="3474720" cy="32004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Reusable templates for research, planning, handoffs</a:t>
            </a:r>
            <a:endParaRPr lang="en-US" sz="1100" dirty="0"/>
          </a:p>
        </p:txBody>
      </p:sp>
      <p:sp>
        <p:nvSpPr>
          <p:cNvPr id="14" name="Text 11"/>
          <p:cNvSpPr/>
          <p:nvPr/>
        </p:nvSpPr>
        <p:spPr>
          <a:xfrm>
            <a:off x="5029200" y="3291840"/>
            <a:ext cx="3474720" cy="274320"/>
          </a:xfrm>
          <a:prstGeom prst="rect">
            <a:avLst/>
          </a:prstGeom>
          <a:noFill/>
          <a:ln/>
        </p:spPr>
        <p:txBody>
          <a:bodyPr wrap="square" rtlCol="0" anchor="ctr"/>
          <a:lstStyle/>
          <a:p>
            <a:pPr marL="0" indent="0">
              <a:buNone/>
            </a:pPr>
            <a:r>
              <a:rPr lang="en-US" sz="1300" b="1" dirty="0">
                <a:solidFill>
                  <a:srgbClr val="5BA3F5"/>
                </a:solidFill>
                <a:latin typeface="Consolas" pitchFamily="34" charset="0"/>
                <a:ea typeface="Consolas" pitchFamily="34" charset="-122"/>
                <a:cs typeface="Consolas" pitchFamily="34" charset="-120"/>
              </a:rPr>
              <a:t>skills/</a:t>
            </a:r>
            <a:endParaRPr lang="en-US" sz="1300" dirty="0"/>
          </a:p>
        </p:txBody>
      </p:sp>
      <p:sp>
        <p:nvSpPr>
          <p:cNvPr id="15" name="Text 12"/>
          <p:cNvSpPr/>
          <p:nvPr/>
        </p:nvSpPr>
        <p:spPr>
          <a:xfrm>
            <a:off x="5029200" y="3566160"/>
            <a:ext cx="3474720" cy="32004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Extended capabilities: docx, pdf, xlsx, pptx</a:t>
            </a:r>
            <a:endParaRPr lang="en-US" sz="1100" dirty="0"/>
          </a:p>
        </p:txBody>
      </p:sp>
      <p:sp>
        <p:nvSpPr>
          <p:cNvPr id="16" name="Text 13"/>
          <p:cNvSpPr/>
          <p:nvPr/>
        </p:nvSpPr>
        <p:spPr>
          <a:xfrm>
            <a:off x="5029200" y="3977640"/>
            <a:ext cx="3474720" cy="274320"/>
          </a:xfrm>
          <a:prstGeom prst="rect">
            <a:avLst/>
          </a:prstGeom>
          <a:noFill/>
          <a:ln/>
        </p:spPr>
        <p:txBody>
          <a:bodyPr wrap="square" rtlCol="0" anchor="ctr"/>
          <a:lstStyle/>
          <a:p>
            <a:pPr marL="0" indent="0">
              <a:buNone/>
            </a:pPr>
            <a:r>
              <a:rPr lang="en-US" sz="1300" b="1" dirty="0">
                <a:solidFill>
                  <a:srgbClr val="5BA3F5"/>
                </a:solidFill>
                <a:latin typeface="Consolas" pitchFamily="34" charset="0"/>
                <a:ea typeface="Consolas" pitchFamily="34" charset="-122"/>
                <a:cs typeface="Consolas" pitchFamily="34" charset="-120"/>
              </a:rPr>
              <a:t>copilot-instructions.md</a:t>
            </a:r>
            <a:endParaRPr lang="en-US" sz="1300" dirty="0"/>
          </a:p>
        </p:txBody>
      </p:sp>
      <p:sp>
        <p:nvSpPr>
          <p:cNvPr id="17" name="Text 14"/>
          <p:cNvSpPr/>
          <p:nvPr/>
        </p:nvSpPr>
        <p:spPr>
          <a:xfrm>
            <a:off x="5029200" y="4251960"/>
            <a:ext cx="3474720" cy="32004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Global context: what the project is, core principles</a:t>
            </a:r>
            <a:endParaRPr lang="en-US" sz="1100" dirty="0"/>
          </a:p>
        </p:txBody>
      </p:sp>
      <p:sp>
        <p:nvSpPr>
          <p:cNvPr id="18" name="Text 15"/>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lIns="0" tIns="0" rIns="0" bIns="0" rtlCol="0" anchor="ctr"/>
          <a:lstStyle/>
          <a:p>
            <a:pPr marL="0" indent="0">
              <a:buNone/>
            </a:pPr>
            <a:r>
              <a:rPr lang="en-US" sz="3600" b="1" dirty="0">
                <a:solidFill>
                  <a:srgbClr val="1A1F36"/>
                </a:solidFill>
                <a:latin typeface="Georgia" pitchFamily="34" charset="0"/>
                <a:ea typeface="Georgia" pitchFamily="34" charset="-122"/>
                <a:cs typeface="Georgia" pitchFamily="34" charset="-120"/>
              </a:rPr>
              <a:t>Real-World Results</a:t>
            </a:r>
            <a:endParaRPr lang="en-US" sz="3600" dirty="0"/>
          </a:p>
        </p:txBody>
      </p:sp>
      <p:sp>
        <p:nvSpPr>
          <p:cNvPr id="4" name="Text 2"/>
          <p:cNvSpPr/>
          <p:nvPr/>
        </p:nvSpPr>
        <p:spPr>
          <a:xfrm>
            <a:off x="548640" y="960120"/>
            <a:ext cx="8046720" cy="365760"/>
          </a:xfrm>
          <a:prstGeom prst="rect">
            <a:avLst/>
          </a:prstGeom>
          <a:noFill/>
          <a:ln/>
        </p:spPr>
        <p:txBody>
          <a:bodyPr wrap="square" rtlCol="0" anchor="ctr"/>
          <a:lstStyle/>
          <a:p>
            <a:pPr marL="0" indent="0">
              <a:buNone/>
            </a:pPr>
            <a:r>
              <a:rPr lang="en-US" sz="1400" dirty="0">
                <a:solidFill>
                  <a:srgbClr val="8899BB"/>
                </a:solidFill>
                <a:latin typeface="Calibri" pitchFamily="34" charset="0"/>
                <a:ea typeface="Calibri" pitchFamily="34" charset="-122"/>
                <a:cs typeface="Calibri" pitchFamily="34" charset="-120"/>
              </a:rPr>
              <a:t>Evidence from teams applying context engineering</a:t>
            </a:r>
            <a:endParaRPr lang="en-US" sz="1400" dirty="0"/>
          </a:p>
        </p:txBody>
      </p:sp>
      <p:sp>
        <p:nvSpPr>
          <p:cNvPr id="5" name="Shape 3"/>
          <p:cNvSpPr/>
          <p:nvPr/>
        </p:nvSpPr>
        <p:spPr>
          <a:xfrm>
            <a:off x="548640" y="1463040"/>
            <a:ext cx="2560320" cy="310896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548640" y="1463040"/>
            <a:ext cx="2560320" cy="54864"/>
          </a:xfrm>
          <a:prstGeom prst="rect">
            <a:avLst/>
          </a:prstGeom>
          <a:solidFill>
            <a:srgbClr val="4A90D9"/>
          </a:solidFill>
          <a:ln/>
        </p:spPr>
        <p:txBody>
          <a:bodyPr/>
          <a:lstStyle/>
          <a:p>
            <a:endParaRPr lang="en-US"/>
          </a:p>
        </p:txBody>
      </p:sp>
      <p:sp>
        <p:nvSpPr>
          <p:cNvPr id="7" name="Text 5"/>
          <p:cNvSpPr/>
          <p:nvPr/>
        </p:nvSpPr>
        <p:spPr>
          <a:xfrm>
            <a:off x="548640" y="1828800"/>
            <a:ext cx="2560320" cy="731520"/>
          </a:xfrm>
          <a:prstGeom prst="rect">
            <a:avLst/>
          </a:prstGeom>
          <a:noFill/>
          <a:ln/>
        </p:spPr>
        <p:txBody>
          <a:bodyPr wrap="square" lIns="0" tIns="0" rIns="0" bIns="0" rtlCol="0" anchor="ctr"/>
          <a:lstStyle/>
          <a:p>
            <a:pPr marL="0" indent="0" algn="ctr">
              <a:buNone/>
            </a:pPr>
            <a:r>
              <a:rPr lang="en-US" sz="5200" b="1" dirty="0">
                <a:solidFill>
                  <a:srgbClr val="4A90D9"/>
                </a:solidFill>
                <a:latin typeface="Georgia" pitchFamily="34" charset="0"/>
                <a:ea typeface="Georgia" pitchFamily="34" charset="-122"/>
                <a:cs typeface="Georgia" pitchFamily="34" charset="-120"/>
              </a:rPr>
              <a:t>35k</a:t>
            </a:r>
            <a:endParaRPr lang="en-US" sz="5200" dirty="0"/>
          </a:p>
        </p:txBody>
      </p:sp>
      <p:sp>
        <p:nvSpPr>
          <p:cNvPr id="8" name="Text 6"/>
          <p:cNvSpPr/>
          <p:nvPr/>
        </p:nvSpPr>
        <p:spPr>
          <a:xfrm>
            <a:off x="548640" y="2606040"/>
            <a:ext cx="2560320" cy="365760"/>
          </a:xfrm>
          <a:prstGeom prst="rect">
            <a:avLst/>
          </a:prstGeom>
          <a:noFill/>
          <a:ln/>
        </p:spPr>
        <p:txBody>
          <a:bodyPr wrap="square" rtlCol="0" anchor="ctr"/>
          <a:lstStyle/>
          <a:p>
            <a:pPr marL="0" indent="0" algn="ctr">
              <a:buNone/>
            </a:pPr>
            <a:r>
              <a:rPr lang="en-US" sz="1600" b="1" dirty="0">
                <a:solidFill>
                  <a:srgbClr val="1A1F36"/>
                </a:solidFill>
                <a:latin typeface="Calibri" pitchFamily="34" charset="0"/>
                <a:ea typeface="Calibri" pitchFamily="34" charset="-122"/>
                <a:cs typeface="Calibri" pitchFamily="34" charset="-120"/>
              </a:rPr>
              <a:t>LOC</a:t>
            </a:r>
            <a:endParaRPr lang="en-US" sz="1600" dirty="0"/>
          </a:p>
        </p:txBody>
      </p:sp>
      <p:sp>
        <p:nvSpPr>
          <p:cNvPr id="9" name="Text 7"/>
          <p:cNvSpPr/>
          <p:nvPr/>
        </p:nvSpPr>
        <p:spPr>
          <a:xfrm>
            <a:off x="731520" y="3017520"/>
            <a:ext cx="2194560" cy="1280160"/>
          </a:xfrm>
          <a:prstGeom prst="rect">
            <a:avLst/>
          </a:prstGeom>
          <a:noFill/>
          <a:ln/>
        </p:spPr>
        <p:txBody>
          <a:bodyPr wrap="square" rtlCol="0" anchor="t"/>
          <a:lstStyle/>
          <a:p>
            <a:pPr marL="0" indent="0" algn="ctr">
              <a:buNone/>
            </a:pPr>
            <a:r>
              <a:rPr lang="en-US" sz="1200" dirty="0">
                <a:solidFill>
                  <a:srgbClr val="1A1F36"/>
                </a:solidFill>
                <a:latin typeface="Calibri" pitchFamily="34" charset="0"/>
                <a:ea typeface="Calibri" pitchFamily="34" charset="-122"/>
                <a:cs typeface="Calibri" pitchFamily="34" charset="-120"/>
              </a:rPr>
              <a:t>shipped in 7 hours on a 300k LOC Rust codebase (BAML)</a:t>
            </a:r>
            <a:endParaRPr lang="en-US" sz="1200" dirty="0"/>
          </a:p>
        </p:txBody>
      </p:sp>
      <p:sp>
        <p:nvSpPr>
          <p:cNvPr id="10" name="Shape 8"/>
          <p:cNvSpPr/>
          <p:nvPr/>
        </p:nvSpPr>
        <p:spPr>
          <a:xfrm>
            <a:off x="3291840" y="1463040"/>
            <a:ext cx="2560320" cy="310896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3291840" y="1463040"/>
            <a:ext cx="2560320" cy="54864"/>
          </a:xfrm>
          <a:prstGeom prst="rect">
            <a:avLst/>
          </a:prstGeom>
          <a:solidFill>
            <a:srgbClr val="34D399"/>
          </a:solidFill>
          <a:ln/>
        </p:spPr>
        <p:txBody>
          <a:bodyPr/>
          <a:lstStyle/>
          <a:p>
            <a:endParaRPr lang="en-US"/>
          </a:p>
        </p:txBody>
      </p:sp>
      <p:sp>
        <p:nvSpPr>
          <p:cNvPr id="12" name="Text 10"/>
          <p:cNvSpPr/>
          <p:nvPr/>
        </p:nvSpPr>
        <p:spPr>
          <a:xfrm>
            <a:off x="3291840" y="1828800"/>
            <a:ext cx="2560320" cy="731520"/>
          </a:xfrm>
          <a:prstGeom prst="rect">
            <a:avLst/>
          </a:prstGeom>
          <a:noFill/>
          <a:ln/>
        </p:spPr>
        <p:txBody>
          <a:bodyPr wrap="square" lIns="0" tIns="0" rIns="0" bIns="0" rtlCol="0" anchor="ctr"/>
          <a:lstStyle/>
          <a:p>
            <a:pPr marL="0" indent="0" algn="ctr">
              <a:buNone/>
            </a:pPr>
            <a:r>
              <a:rPr lang="en-US" sz="5200" b="1" dirty="0">
                <a:solidFill>
                  <a:srgbClr val="34D399"/>
                </a:solidFill>
                <a:latin typeface="Georgia" pitchFamily="34" charset="0"/>
                <a:ea typeface="Georgia" pitchFamily="34" charset="-122"/>
                <a:cs typeface="Georgia" pitchFamily="34" charset="-120"/>
              </a:rPr>
              <a:t>6</a:t>
            </a:r>
            <a:endParaRPr lang="en-US" sz="5200" dirty="0"/>
          </a:p>
        </p:txBody>
      </p:sp>
      <p:sp>
        <p:nvSpPr>
          <p:cNvPr id="13" name="Text 11"/>
          <p:cNvSpPr/>
          <p:nvPr/>
        </p:nvSpPr>
        <p:spPr>
          <a:xfrm>
            <a:off x="3291840" y="2606040"/>
            <a:ext cx="2560320" cy="365760"/>
          </a:xfrm>
          <a:prstGeom prst="rect">
            <a:avLst/>
          </a:prstGeom>
          <a:noFill/>
          <a:ln/>
        </p:spPr>
        <p:txBody>
          <a:bodyPr wrap="square" rtlCol="0" anchor="ctr"/>
          <a:lstStyle/>
          <a:p>
            <a:pPr marL="0" indent="0" algn="ctr">
              <a:buNone/>
            </a:pPr>
            <a:r>
              <a:rPr lang="en-US" sz="1600" b="1" dirty="0">
                <a:solidFill>
                  <a:srgbClr val="1A1F36"/>
                </a:solidFill>
                <a:latin typeface="Calibri" pitchFamily="34" charset="0"/>
                <a:ea typeface="Calibri" pitchFamily="34" charset="-122"/>
                <a:cs typeface="Calibri" pitchFamily="34" charset="-120"/>
              </a:rPr>
              <a:t>PRs / day</a:t>
            </a:r>
            <a:endParaRPr lang="en-US" sz="1600" dirty="0"/>
          </a:p>
        </p:txBody>
      </p:sp>
      <p:sp>
        <p:nvSpPr>
          <p:cNvPr id="14" name="Text 12"/>
          <p:cNvSpPr/>
          <p:nvPr/>
        </p:nvSpPr>
        <p:spPr>
          <a:xfrm>
            <a:off x="3474720" y="3017520"/>
            <a:ext cx="2194560" cy="1280160"/>
          </a:xfrm>
          <a:prstGeom prst="rect">
            <a:avLst/>
          </a:prstGeom>
          <a:noFill/>
          <a:ln/>
        </p:spPr>
        <p:txBody>
          <a:bodyPr wrap="square" rtlCol="0" anchor="t"/>
          <a:lstStyle/>
          <a:p>
            <a:pPr marL="0" indent="0" algn="ctr">
              <a:buNone/>
            </a:pPr>
            <a:r>
              <a:rPr lang="en-US" sz="1200" dirty="0">
                <a:solidFill>
                  <a:srgbClr val="1A1F36"/>
                </a:solidFill>
                <a:latin typeface="Calibri" pitchFamily="34" charset="0"/>
                <a:ea typeface="Calibri" pitchFamily="34" charset="-122"/>
                <a:cs typeface="Calibri" pitchFamily="34" charset="-120"/>
              </a:rPr>
              <a:t>sustained output per developer with research/plan/implement</a:t>
            </a:r>
            <a:endParaRPr lang="en-US" sz="1200" dirty="0"/>
          </a:p>
        </p:txBody>
      </p:sp>
      <p:sp>
        <p:nvSpPr>
          <p:cNvPr id="15" name="Shape 13"/>
          <p:cNvSpPr/>
          <p:nvPr/>
        </p:nvSpPr>
        <p:spPr>
          <a:xfrm>
            <a:off x="6035040" y="1463040"/>
            <a:ext cx="2560320" cy="310896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6035040" y="1463040"/>
            <a:ext cx="2560320" cy="54864"/>
          </a:xfrm>
          <a:prstGeom prst="rect">
            <a:avLst/>
          </a:prstGeom>
          <a:solidFill>
            <a:srgbClr val="5BA3F5"/>
          </a:solidFill>
          <a:ln/>
        </p:spPr>
        <p:txBody>
          <a:bodyPr/>
          <a:lstStyle/>
          <a:p>
            <a:endParaRPr lang="en-US"/>
          </a:p>
        </p:txBody>
      </p:sp>
      <p:sp>
        <p:nvSpPr>
          <p:cNvPr id="17" name="Text 15"/>
          <p:cNvSpPr/>
          <p:nvPr/>
        </p:nvSpPr>
        <p:spPr>
          <a:xfrm>
            <a:off x="6035040" y="1828800"/>
            <a:ext cx="2560320" cy="731520"/>
          </a:xfrm>
          <a:prstGeom prst="rect">
            <a:avLst/>
          </a:prstGeom>
          <a:noFill/>
          <a:ln/>
        </p:spPr>
        <p:txBody>
          <a:bodyPr wrap="square" lIns="0" tIns="0" rIns="0" bIns="0" rtlCol="0" anchor="ctr"/>
          <a:lstStyle/>
          <a:p>
            <a:pPr marL="0" indent="0" algn="ctr">
              <a:buNone/>
            </a:pPr>
            <a:r>
              <a:rPr lang="en-US" sz="5200" b="1" dirty="0">
                <a:solidFill>
                  <a:srgbClr val="5BA3F5"/>
                </a:solidFill>
                <a:latin typeface="Georgia" pitchFamily="34" charset="0"/>
                <a:ea typeface="Georgia" pitchFamily="34" charset="-122"/>
                <a:cs typeface="Georgia" pitchFamily="34" charset="-120"/>
              </a:rPr>
              <a:t>10</a:t>
            </a:r>
            <a:endParaRPr lang="en-US" sz="5200" dirty="0"/>
          </a:p>
        </p:txBody>
      </p:sp>
      <p:sp>
        <p:nvSpPr>
          <p:cNvPr id="18" name="Text 16"/>
          <p:cNvSpPr/>
          <p:nvPr/>
        </p:nvSpPr>
        <p:spPr>
          <a:xfrm>
            <a:off x="6035040" y="2606040"/>
            <a:ext cx="2560320" cy="365760"/>
          </a:xfrm>
          <a:prstGeom prst="rect">
            <a:avLst/>
          </a:prstGeom>
          <a:noFill/>
          <a:ln/>
        </p:spPr>
        <p:txBody>
          <a:bodyPr wrap="square" rtlCol="0" anchor="ctr"/>
          <a:lstStyle/>
          <a:p>
            <a:pPr marL="0" indent="0" algn="ctr">
              <a:buNone/>
            </a:pPr>
            <a:r>
              <a:rPr lang="en-US" sz="1600" b="1" dirty="0">
                <a:solidFill>
                  <a:srgbClr val="1A1F36"/>
                </a:solidFill>
                <a:latin typeface="Calibri" pitchFamily="34" charset="0"/>
                <a:ea typeface="Calibri" pitchFamily="34" charset="-122"/>
                <a:cs typeface="Calibri" pitchFamily="34" charset="-120"/>
              </a:rPr>
              <a:t>PRs in 8 days</a:t>
            </a:r>
            <a:endParaRPr lang="en-US" sz="1600" dirty="0"/>
          </a:p>
        </p:txBody>
      </p:sp>
      <p:sp>
        <p:nvSpPr>
          <p:cNvPr id="19" name="Text 17"/>
          <p:cNvSpPr/>
          <p:nvPr/>
        </p:nvSpPr>
        <p:spPr>
          <a:xfrm>
            <a:off x="6217920" y="3017520"/>
            <a:ext cx="2194560" cy="1280160"/>
          </a:xfrm>
          <a:prstGeom prst="rect">
            <a:avLst/>
          </a:prstGeom>
          <a:noFill/>
          <a:ln/>
        </p:spPr>
        <p:txBody>
          <a:bodyPr wrap="square" rtlCol="0" anchor="t"/>
          <a:lstStyle/>
          <a:p>
            <a:pPr marL="0" indent="0" algn="ctr">
              <a:buNone/>
            </a:pPr>
            <a:r>
              <a:rPr lang="en-US" sz="1200" dirty="0">
                <a:solidFill>
                  <a:srgbClr val="1A1F36"/>
                </a:solidFill>
                <a:latin typeface="Calibri" pitchFamily="34" charset="0"/>
                <a:ea typeface="Calibri" pitchFamily="34" charset="-122"/>
                <a:cs typeface="Calibri" pitchFamily="34" charset="-120"/>
              </a:rPr>
              <a:t>by an intern on their first week using this workflow</a:t>
            </a:r>
            <a:endParaRPr lang="en-US" sz="1200" dirty="0"/>
          </a:p>
        </p:txBody>
      </p:sp>
      <p:sp>
        <p:nvSpPr>
          <p:cNvPr id="20" name="Text 18"/>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txBody>
          <a:bodyPr/>
          <a:lstStyle/>
          <a:p>
            <a:endParaRPr lang="en-US"/>
          </a:p>
        </p:txBody>
      </p:sp>
      <p:sp>
        <p:nvSpPr>
          <p:cNvPr id="3" name="Text 1"/>
          <p:cNvSpPr/>
          <p:nvPr/>
        </p:nvSpPr>
        <p:spPr>
          <a:xfrm>
            <a:off x="548640" y="274320"/>
            <a:ext cx="8046720" cy="640080"/>
          </a:xfrm>
          <a:prstGeom prst="rect">
            <a:avLst/>
          </a:prstGeom>
          <a:noFill/>
          <a:ln/>
        </p:spPr>
        <p:txBody>
          <a:bodyPr wrap="square" lIns="0" tIns="0" rIns="0" bIns="0" rtlCol="0" anchor="ctr"/>
          <a:lstStyle/>
          <a:p>
            <a:pPr marL="0" indent="0">
              <a:buNone/>
            </a:pPr>
            <a:r>
              <a:rPr lang="en-US" sz="3400" b="1" dirty="0">
                <a:solidFill>
                  <a:srgbClr val="1A1F36"/>
                </a:solidFill>
                <a:latin typeface="Georgia" pitchFamily="34" charset="0"/>
                <a:ea typeface="Georgia" pitchFamily="34" charset="-122"/>
                <a:cs typeface="Georgia" pitchFamily="34" charset="-120"/>
              </a:rPr>
              <a:t>Honest Assessment: This Is Not Magic</a:t>
            </a:r>
            <a:endParaRPr lang="en-US" sz="3400" dirty="0"/>
          </a:p>
        </p:txBody>
      </p:sp>
      <p:sp>
        <p:nvSpPr>
          <p:cNvPr id="4" name="Shape 2"/>
          <p:cNvSpPr/>
          <p:nvPr/>
        </p:nvSpPr>
        <p:spPr>
          <a:xfrm>
            <a:off x="457200" y="1097280"/>
            <a:ext cx="3931920" cy="347472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457200" y="1097280"/>
            <a:ext cx="73152" cy="3474720"/>
          </a:xfrm>
          <a:prstGeom prst="rect">
            <a:avLst/>
          </a:prstGeom>
          <a:solidFill>
            <a:srgbClr val="34D399"/>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77240" y="1234440"/>
            <a:ext cx="365760" cy="365760"/>
          </a:xfrm>
          <a:prstGeom prst="rect">
            <a:avLst/>
          </a:prstGeom>
        </p:spPr>
      </p:pic>
      <p:sp>
        <p:nvSpPr>
          <p:cNvPr id="7" name="Text 4"/>
          <p:cNvSpPr/>
          <p:nvPr/>
        </p:nvSpPr>
        <p:spPr>
          <a:xfrm>
            <a:off x="1234440" y="1234440"/>
            <a:ext cx="2926080" cy="365760"/>
          </a:xfrm>
          <a:prstGeom prst="rect">
            <a:avLst/>
          </a:prstGeom>
          <a:noFill/>
          <a:ln/>
        </p:spPr>
        <p:txBody>
          <a:bodyPr wrap="square" lIns="0" tIns="0" rIns="0" bIns="0" rtlCol="0" anchor="ctr"/>
          <a:lstStyle/>
          <a:p>
            <a:pPr marL="0" indent="0">
              <a:buNone/>
            </a:pPr>
            <a:r>
              <a:rPr lang="en-US" sz="1700" b="1" dirty="0">
                <a:solidFill>
                  <a:srgbClr val="1A1F36"/>
                </a:solidFill>
                <a:latin typeface="Georgia" pitchFamily="34" charset="0"/>
                <a:ea typeface="Georgia" pitchFamily="34" charset="-122"/>
                <a:cs typeface="Georgia" pitchFamily="34" charset="-120"/>
              </a:rPr>
              <a:t>What Works</a:t>
            </a:r>
            <a:endParaRPr lang="en-US" sz="1700" dirty="0"/>
          </a:p>
        </p:txBody>
      </p:sp>
      <p:sp>
        <p:nvSpPr>
          <p:cNvPr id="8" name="Text 5"/>
          <p:cNvSpPr/>
          <p:nvPr/>
        </p:nvSpPr>
        <p:spPr>
          <a:xfrm>
            <a:off x="777240" y="178308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Works in brownfield codebases</a:t>
            </a:r>
            <a:endParaRPr lang="en-US" sz="1300" dirty="0"/>
          </a:p>
        </p:txBody>
      </p:sp>
      <p:sp>
        <p:nvSpPr>
          <p:cNvPr id="9" name="Text 6"/>
          <p:cNvSpPr/>
          <p:nvPr/>
        </p:nvSpPr>
        <p:spPr>
          <a:xfrm>
            <a:off x="777240" y="224028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Solves complex problems</a:t>
            </a:r>
            <a:endParaRPr lang="en-US" sz="1300" dirty="0"/>
          </a:p>
        </p:txBody>
      </p:sp>
      <p:sp>
        <p:nvSpPr>
          <p:cNvPr id="10" name="Text 7"/>
          <p:cNvSpPr/>
          <p:nvPr/>
        </p:nvSpPr>
        <p:spPr>
          <a:xfrm>
            <a:off x="777240" y="269748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Produces merge-worthy code (no slop)</a:t>
            </a:r>
            <a:endParaRPr lang="en-US" sz="1300" dirty="0"/>
          </a:p>
        </p:txBody>
      </p:sp>
      <p:sp>
        <p:nvSpPr>
          <p:cNvPr id="11" name="Text 8"/>
          <p:cNvSpPr/>
          <p:nvPr/>
        </p:nvSpPr>
        <p:spPr>
          <a:xfrm>
            <a:off x="777240" y="315468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Maintains team mental alignment</a:t>
            </a:r>
            <a:endParaRPr lang="en-US" sz="1300" dirty="0"/>
          </a:p>
        </p:txBody>
      </p:sp>
      <p:sp>
        <p:nvSpPr>
          <p:cNvPr id="12" name="Text 9"/>
          <p:cNvSpPr/>
          <p:nvPr/>
        </p:nvSpPr>
        <p:spPr>
          <a:xfrm>
            <a:off x="777240" y="361188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Specs become shared documentation</a:t>
            </a:r>
            <a:endParaRPr lang="en-US" sz="1300" dirty="0"/>
          </a:p>
        </p:txBody>
      </p:sp>
      <p:sp>
        <p:nvSpPr>
          <p:cNvPr id="13" name="Shape 10"/>
          <p:cNvSpPr/>
          <p:nvPr/>
        </p:nvSpPr>
        <p:spPr>
          <a:xfrm>
            <a:off x="4754880" y="1097280"/>
            <a:ext cx="3931920" cy="3474720"/>
          </a:xfrm>
          <a:prstGeom prst="rect">
            <a:avLst/>
          </a:prstGeom>
          <a:solidFill>
            <a:srgbClr val="F4F7FC"/>
          </a:solidFill>
          <a:ln/>
          <a:effectLst>
            <a:outerShdw blurRad="101600" dist="38100" dir="8100000" algn="bl" rotWithShape="0">
              <a:srgbClr val="000000">
                <a:alpha val="18000"/>
              </a:srgbClr>
            </a:outerShdw>
          </a:effectLst>
        </p:spPr>
        <p:txBody>
          <a:bodyPr/>
          <a:lstStyle/>
          <a:p>
            <a:endParaRPr lang="en-US"/>
          </a:p>
        </p:txBody>
      </p:sp>
      <p:sp>
        <p:nvSpPr>
          <p:cNvPr id="14" name="Shape 11"/>
          <p:cNvSpPr/>
          <p:nvPr/>
        </p:nvSpPr>
        <p:spPr>
          <a:xfrm>
            <a:off x="4754880" y="1097280"/>
            <a:ext cx="73152" cy="3474720"/>
          </a:xfrm>
          <a:prstGeom prst="rect">
            <a:avLst/>
          </a:prstGeom>
          <a:solidFill>
            <a:srgbClr val="FBBF24"/>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5074920" y="1234440"/>
            <a:ext cx="365760" cy="365760"/>
          </a:xfrm>
          <a:prstGeom prst="rect">
            <a:avLst/>
          </a:prstGeom>
        </p:spPr>
      </p:pic>
      <p:sp>
        <p:nvSpPr>
          <p:cNvPr id="16" name="Text 12"/>
          <p:cNvSpPr/>
          <p:nvPr/>
        </p:nvSpPr>
        <p:spPr>
          <a:xfrm>
            <a:off x="5532120" y="1234440"/>
            <a:ext cx="2926080" cy="365760"/>
          </a:xfrm>
          <a:prstGeom prst="rect">
            <a:avLst/>
          </a:prstGeom>
          <a:noFill/>
          <a:ln/>
        </p:spPr>
        <p:txBody>
          <a:bodyPr wrap="square" lIns="0" tIns="0" rIns="0" bIns="0" rtlCol="0" anchor="ctr"/>
          <a:lstStyle/>
          <a:p>
            <a:pPr marL="0" indent="0">
              <a:buNone/>
            </a:pPr>
            <a:r>
              <a:rPr lang="en-US" sz="1700" b="1" dirty="0">
                <a:solidFill>
                  <a:srgbClr val="1A1F36"/>
                </a:solidFill>
                <a:latin typeface="Georgia" pitchFamily="34" charset="0"/>
                <a:ea typeface="Georgia" pitchFamily="34" charset="-122"/>
                <a:cs typeface="Georgia" pitchFamily="34" charset="-120"/>
              </a:rPr>
              <a:t>Watch Out For</a:t>
            </a:r>
            <a:endParaRPr lang="en-US" sz="1700" dirty="0"/>
          </a:p>
        </p:txBody>
      </p:sp>
      <p:sp>
        <p:nvSpPr>
          <p:cNvPr id="17" name="Text 13"/>
          <p:cNvSpPr/>
          <p:nvPr/>
        </p:nvSpPr>
        <p:spPr>
          <a:xfrm>
            <a:off x="5074920" y="178308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You must engage deeply — no autopilot</a:t>
            </a:r>
            <a:endParaRPr lang="en-US" sz="1300" dirty="0"/>
          </a:p>
        </p:txBody>
      </p:sp>
      <p:sp>
        <p:nvSpPr>
          <p:cNvPr id="18" name="Text 14"/>
          <p:cNvSpPr/>
          <p:nvPr/>
        </p:nvSpPr>
        <p:spPr>
          <a:xfrm>
            <a:off x="5074920" y="224028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Research can be wrong — always verify</a:t>
            </a:r>
            <a:endParaRPr lang="en-US" sz="1300" dirty="0"/>
          </a:p>
        </p:txBody>
      </p:sp>
      <p:sp>
        <p:nvSpPr>
          <p:cNvPr id="19" name="Text 15"/>
          <p:cNvSpPr/>
          <p:nvPr/>
        </p:nvSpPr>
        <p:spPr>
          <a:xfrm>
            <a:off x="5074920" y="269748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Complex dependency trees can mislead</a:t>
            </a:r>
            <a:endParaRPr lang="en-US" sz="1300" dirty="0"/>
          </a:p>
        </p:txBody>
      </p:sp>
      <p:sp>
        <p:nvSpPr>
          <p:cNvPr id="20" name="Text 16"/>
          <p:cNvSpPr/>
          <p:nvPr/>
        </p:nvSpPr>
        <p:spPr>
          <a:xfrm>
            <a:off x="5074920" y="315468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Need at least one domain expert</a:t>
            </a:r>
            <a:endParaRPr lang="en-US" sz="1300" dirty="0"/>
          </a:p>
        </p:txBody>
      </p:sp>
      <p:sp>
        <p:nvSpPr>
          <p:cNvPr id="21" name="Text 17"/>
          <p:cNvSpPr/>
          <p:nvPr/>
        </p:nvSpPr>
        <p:spPr>
          <a:xfrm>
            <a:off x="5074920" y="3611880"/>
            <a:ext cx="3383280" cy="365760"/>
          </a:xfrm>
          <a:prstGeom prst="rect">
            <a:avLst/>
          </a:prstGeom>
          <a:noFill/>
          <a:ln/>
        </p:spPr>
        <p:txBody>
          <a:bodyPr wrap="square" rtlCol="0" anchor="ctr"/>
          <a:lstStyle/>
          <a:p>
            <a:pPr marL="342900" indent="-342900">
              <a:buSzPct val="100000"/>
              <a:buChar char="•"/>
            </a:pPr>
            <a:r>
              <a:rPr lang="en-US" sz="1300" dirty="0">
                <a:solidFill>
                  <a:srgbClr val="1A1F36"/>
                </a:solidFill>
                <a:latin typeface="Calibri" pitchFamily="34" charset="0"/>
                <a:ea typeface="Calibri" pitchFamily="34" charset="-122"/>
                <a:cs typeface="Calibri" pitchFamily="34" charset="-120"/>
              </a:rPr>
              <a:t>Some problems are just hard</a:t>
            </a:r>
            <a:endParaRPr lang="en-US" sz="1300" dirty="0"/>
          </a:p>
        </p:txBody>
      </p:sp>
      <p:sp>
        <p:nvSpPr>
          <p:cNvPr id="22" name="Text 18"/>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90D9"/>
          </a:solidFill>
          <a:ln/>
        </p:spPr>
        <p:txBody>
          <a:bodyPr/>
          <a:lstStyle/>
          <a:p>
            <a:endParaRPr lang="en-US"/>
          </a:p>
        </p:txBody>
      </p:sp>
      <p:sp>
        <p:nvSpPr>
          <p:cNvPr id="3" name="Shape 1"/>
          <p:cNvSpPr/>
          <p:nvPr/>
        </p:nvSpPr>
        <p:spPr>
          <a:xfrm>
            <a:off x="0" y="5070348"/>
            <a:ext cx="9144000" cy="73152"/>
          </a:xfrm>
          <a:prstGeom prst="rect">
            <a:avLst/>
          </a:prstGeom>
          <a:solidFill>
            <a:srgbClr val="4A90D9"/>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4114800" y="457200"/>
            <a:ext cx="914400" cy="914400"/>
          </a:xfrm>
          <a:prstGeom prst="rect">
            <a:avLst/>
          </a:prstGeom>
        </p:spPr>
      </p:pic>
      <p:sp>
        <p:nvSpPr>
          <p:cNvPr id="5" name="Text 2"/>
          <p:cNvSpPr/>
          <p:nvPr/>
        </p:nvSpPr>
        <p:spPr>
          <a:xfrm>
            <a:off x="457200" y="1554480"/>
            <a:ext cx="822960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Next Steps for Our Team</a:t>
            </a:r>
            <a:endParaRPr lang="en-US" sz="3600" dirty="0"/>
          </a:p>
        </p:txBody>
      </p:sp>
      <p:sp>
        <p:nvSpPr>
          <p:cNvPr id="6" name="Shape 3"/>
          <p:cNvSpPr/>
          <p:nvPr/>
        </p:nvSpPr>
        <p:spPr>
          <a:xfrm>
            <a:off x="548640" y="2468880"/>
            <a:ext cx="2560320" cy="210312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sp>
        <p:nvSpPr>
          <p:cNvPr id="7" name="Shape 4"/>
          <p:cNvSpPr/>
          <p:nvPr/>
        </p:nvSpPr>
        <p:spPr>
          <a:xfrm>
            <a:off x="548640" y="2468880"/>
            <a:ext cx="2560320" cy="54864"/>
          </a:xfrm>
          <a:prstGeom prst="rect">
            <a:avLst/>
          </a:prstGeom>
          <a:solidFill>
            <a:srgbClr val="4A90D9"/>
          </a:solidFill>
          <a:ln/>
        </p:spPr>
        <p:txBody>
          <a:bodyPr/>
          <a:lstStyle/>
          <a:p>
            <a:endParaRPr lang="en-US"/>
          </a:p>
        </p:txBody>
      </p:sp>
      <p:sp>
        <p:nvSpPr>
          <p:cNvPr id="8" name="Text 5"/>
          <p:cNvSpPr/>
          <p:nvPr/>
        </p:nvSpPr>
        <p:spPr>
          <a:xfrm>
            <a:off x="548640" y="2606040"/>
            <a:ext cx="2560320" cy="411480"/>
          </a:xfrm>
          <a:prstGeom prst="rect">
            <a:avLst/>
          </a:prstGeom>
          <a:noFill/>
          <a:ln/>
        </p:spPr>
        <p:txBody>
          <a:bodyPr wrap="square" rtlCol="0" anchor="ctr"/>
          <a:lstStyle/>
          <a:p>
            <a:pPr marL="0" indent="0" algn="ctr">
              <a:buNone/>
            </a:pPr>
            <a:r>
              <a:rPr lang="en-US" sz="2800" b="1" dirty="0">
                <a:solidFill>
                  <a:srgbClr val="4A90D9"/>
                </a:solidFill>
                <a:latin typeface="Georgia" pitchFamily="34" charset="0"/>
                <a:ea typeface="Georgia" pitchFamily="34" charset="-122"/>
                <a:cs typeface="Georgia" pitchFamily="34" charset="-120"/>
              </a:rPr>
              <a:t>1</a:t>
            </a:r>
            <a:endParaRPr lang="en-US" sz="2800" dirty="0"/>
          </a:p>
        </p:txBody>
      </p:sp>
      <p:sp>
        <p:nvSpPr>
          <p:cNvPr id="9" name="Text 6"/>
          <p:cNvSpPr/>
          <p:nvPr/>
        </p:nvSpPr>
        <p:spPr>
          <a:xfrm>
            <a:off x="731520" y="3017520"/>
            <a:ext cx="21945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Setup Instructions</a:t>
            </a:r>
            <a:endParaRPr lang="en-US" sz="1500" dirty="0"/>
          </a:p>
        </p:txBody>
      </p:sp>
      <p:sp>
        <p:nvSpPr>
          <p:cNvPr id="10" name="Text 7"/>
          <p:cNvSpPr/>
          <p:nvPr/>
        </p:nvSpPr>
        <p:spPr>
          <a:xfrm>
            <a:off x="731520" y="3429000"/>
            <a:ext cx="2194560" cy="9144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Add copilot-instructions.md and CLAUDE.md to our key repos with project context</a:t>
            </a:r>
            <a:endParaRPr lang="en-US" sz="1200" dirty="0"/>
          </a:p>
        </p:txBody>
      </p:sp>
      <p:sp>
        <p:nvSpPr>
          <p:cNvPr id="11" name="Shape 8"/>
          <p:cNvSpPr/>
          <p:nvPr/>
        </p:nvSpPr>
        <p:spPr>
          <a:xfrm>
            <a:off x="3291840" y="2468880"/>
            <a:ext cx="2560320" cy="210312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sp>
        <p:nvSpPr>
          <p:cNvPr id="12" name="Shape 9"/>
          <p:cNvSpPr/>
          <p:nvPr/>
        </p:nvSpPr>
        <p:spPr>
          <a:xfrm>
            <a:off x="3291840" y="2468880"/>
            <a:ext cx="2560320" cy="54864"/>
          </a:xfrm>
          <a:prstGeom prst="rect">
            <a:avLst/>
          </a:prstGeom>
          <a:solidFill>
            <a:srgbClr val="4A90D9"/>
          </a:solidFill>
          <a:ln/>
        </p:spPr>
        <p:txBody>
          <a:bodyPr/>
          <a:lstStyle/>
          <a:p>
            <a:endParaRPr lang="en-US"/>
          </a:p>
        </p:txBody>
      </p:sp>
      <p:sp>
        <p:nvSpPr>
          <p:cNvPr id="13" name="Text 10"/>
          <p:cNvSpPr/>
          <p:nvPr/>
        </p:nvSpPr>
        <p:spPr>
          <a:xfrm>
            <a:off x="3291840" y="2606040"/>
            <a:ext cx="2560320" cy="411480"/>
          </a:xfrm>
          <a:prstGeom prst="rect">
            <a:avLst/>
          </a:prstGeom>
          <a:noFill/>
          <a:ln/>
        </p:spPr>
        <p:txBody>
          <a:bodyPr wrap="square" rtlCol="0" anchor="ctr"/>
          <a:lstStyle/>
          <a:p>
            <a:pPr marL="0" indent="0" algn="ctr">
              <a:buNone/>
            </a:pPr>
            <a:r>
              <a:rPr lang="en-US" sz="2800" b="1" dirty="0">
                <a:solidFill>
                  <a:srgbClr val="4A90D9"/>
                </a:solidFill>
                <a:latin typeface="Georgia" pitchFamily="34" charset="0"/>
                <a:ea typeface="Georgia" pitchFamily="34" charset="-122"/>
                <a:cs typeface="Georgia" pitchFamily="34" charset="-120"/>
              </a:rPr>
              <a:t>2</a:t>
            </a:r>
            <a:endParaRPr lang="en-US" sz="2800" dirty="0"/>
          </a:p>
        </p:txBody>
      </p:sp>
      <p:sp>
        <p:nvSpPr>
          <p:cNvPr id="14" name="Text 11"/>
          <p:cNvSpPr/>
          <p:nvPr/>
        </p:nvSpPr>
        <p:spPr>
          <a:xfrm>
            <a:off x="3474720" y="3017520"/>
            <a:ext cx="21945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Build Custom Agents</a:t>
            </a:r>
            <a:endParaRPr lang="en-US" sz="1500" dirty="0"/>
          </a:p>
        </p:txBody>
      </p:sp>
      <p:sp>
        <p:nvSpPr>
          <p:cNvPr id="15" name="Text 12"/>
          <p:cNvSpPr/>
          <p:nvPr/>
        </p:nvSpPr>
        <p:spPr>
          <a:xfrm>
            <a:off x="3474720" y="3429000"/>
            <a:ext cx="2194560" cy="9144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Create specialized subagents for our services, database, and integration patterns</a:t>
            </a:r>
            <a:endParaRPr lang="en-US" sz="1200" dirty="0"/>
          </a:p>
        </p:txBody>
      </p:sp>
      <p:sp>
        <p:nvSpPr>
          <p:cNvPr id="16" name="Shape 13"/>
          <p:cNvSpPr/>
          <p:nvPr/>
        </p:nvSpPr>
        <p:spPr>
          <a:xfrm>
            <a:off x="6035040" y="2468880"/>
            <a:ext cx="2560320" cy="2103120"/>
          </a:xfrm>
          <a:prstGeom prst="rect">
            <a:avLst/>
          </a:prstGeom>
          <a:solidFill>
            <a:srgbClr val="2A3575"/>
          </a:solidFill>
          <a:ln/>
          <a:effectLst>
            <a:outerShdw blurRad="101600" dist="38100" dir="8100000" algn="bl" rotWithShape="0">
              <a:srgbClr val="000000">
                <a:alpha val="18000"/>
              </a:srgbClr>
            </a:outerShdw>
          </a:effectLst>
        </p:spPr>
        <p:txBody>
          <a:bodyPr/>
          <a:lstStyle/>
          <a:p>
            <a:endParaRPr lang="en-US"/>
          </a:p>
        </p:txBody>
      </p:sp>
      <p:sp>
        <p:nvSpPr>
          <p:cNvPr id="17" name="Shape 14"/>
          <p:cNvSpPr/>
          <p:nvPr/>
        </p:nvSpPr>
        <p:spPr>
          <a:xfrm>
            <a:off x="6035040" y="2468880"/>
            <a:ext cx="2560320" cy="54864"/>
          </a:xfrm>
          <a:prstGeom prst="rect">
            <a:avLst/>
          </a:prstGeom>
          <a:solidFill>
            <a:srgbClr val="4A90D9"/>
          </a:solidFill>
          <a:ln/>
        </p:spPr>
        <p:txBody>
          <a:bodyPr/>
          <a:lstStyle/>
          <a:p>
            <a:endParaRPr lang="en-US"/>
          </a:p>
        </p:txBody>
      </p:sp>
      <p:sp>
        <p:nvSpPr>
          <p:cNvPr id="18" name="Text 15"/>
          <p:cNvSpPr/>
          <p:nvPr/>
        </p:nvSpPr>
        <p:spPr>
          <a:xfrm>
            <a:off x="6035040" y="2606040"/>
            <a:ext cx="2560320" cy="411480"/>
          </a:xfrm>
          <a:prstGeom prst="rect">
            <a:avLst/>
          </a:prstGeom>
          <a:noFill/>
          <a:ln/>
        </p:spPr>
        <p:txBody>
          <a:bodyPr wrap="square" rtlCol="0" anchor="ctr"/>
          <a:lstStyle/>
          <a:p>
            <a:pPr marL="0" indent="0" algn="ctr">
              <a:buNone/>
            </a:pPr>
            <a:r>
              <a:rPr lang="en-US" sz="2800" b="1" dirty="0">
                <a:solidFill>
                  <a:srgbClr val="4A90D9"/>
                </a:solidFill>
                <a:latin typeface="Georgia" pitchFamily="34" charset="0"/>
                <a:ea typeface="Georgia" pitchFamily="34" charset="-122"/>
                <a:cs typeface="Georgia" pitchFamily="34" charset="-120"/>
              </a:rPr>
              <a:t>3</a:t>
            </a:r>
            <a:endParaRPr lang="en-US" sz="2800" dirty="0"/>
          </a:p>
        </p:txBody>
      </p:sp>
      <p:sp>
        <p:nvSpPr>
          <p:cNvPr id="19" name="Text 16"/>
          <p:cNvSpPr/>
          <p:nvPr/>
        </p:nvSpPr>
        <p:spPr>
          <a:xfrm>
            <a:off x="6217920" y="3017520"/>
            <a:ext cx="21945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Adopt the Workflow</a:t>
            </a:r>
            <a:endParaRPr lang="en-US" sz="1500" dirty="0"/>
          </a:p>
        </p:txBody>
      </p:sp>
      <p:sp>
        <p:nvSpPr>
          <p:cNvPr id="20" name="Text 17"/>
          <p:cNvSpPr/>
          <p:nvPr/>
        </p:nvSpPr>
        <p:spPr>
          <a:xfrm>
            <a:off x="6217920" y="3429000"/>
            <a:ext cx="2194560" cy="9144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Start with Research → Plan → Implement on the next complex ticket as a pilot</a:t>
            </a:r>
            <a:endParaRPr lang="en-US" sz="1200" dirty="0"/>
          </a:p>
        </p:txBody>
      </p:sp>
      <p:sp>
        <p:nvSpPr>
          <p:cNvPr id="21" name="Text 18"/>
          <p:cNvSpPr/>
          <p:nvPr/>
        </p:nvSpPr>
        <p:spPr>
          <a:xfrm>
            <a:off x="7863840" y="4709160"/>
            <a:ext cx="914400" cy="274320"/>
          </a:xfrm>
          <a:prstGeom prst="rect">
            <a:avLst/>
          </a:prstGeom>
          <a:noFill/>
          <a:ln/>
        </p:spPr>
        <p:txBody>
          <a:bodyPr wrap="square" rtlCol="0" anchor="ctr"/>
          <a:lstStyle/>
          <a:p>
            <a:pPr marL="0" indent="0" algn="r">
              <a:buNone/>
            </a:pPr>
            <a:r>
              <a:rPr lang="en-US" sz="900" dirty="0">
                <a:solidFill>
                  <a:srgbClr val="8899BB"/>
                </a:solidFill>
                <a:latin typeface="Calibri" pitchFamily="34" charset="0"/>
                <a:ea typeface="Calibri" pitchFamily="34" charset="-122"/>
                <a:cs typeface="Calibri"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1065</Words>
  <Application>Microsoft Macintosh PowerPoint</Application>
  <PresentationFormat>On-screen Show (16:9)</PresentationFormat>
  <Paragraphs>203</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 Engineering for AI Coding Agents</dc:title>
  <dc:subject>PptxGenJS Presentation</dc:subject>
  <dc:creator>Jacob</dc:creator>
  <cp:lastModifiedBy>Jacob Garcia</cp:lastModifiedBy>
  <cp:revision>3</cp:revision>
  <dcterms:created xsi:type="dcterms:W3CDTF">2026-02-05T23:47:05Z</dcterms:created>
  <dcterms:modified xsi:type="dcterms:W3CDTF">2026-02-05T23:55:32Z</dcterms:modified>
</cp:coreProperties>
</file>